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0" r:id="rId5"/>
    <p:sldId id="267" r:id="rId6"/>
    <p:sldId id="261" r:id="rId7"/>
    <p:sldId id="259" r:id="rId8"/>
    <p:sldId id="262" r:id="rId9"/>
    <p:sldId id="263" r:id="rId10"/>
    <p:sldId id="264" r:id="rId11"/>
    <p:sldId id="274" r:id="rId12"/>
    <p:sldId id="273" r:id="rId13"/>
    <p:sldId id="276" r:id="rId14"/>
    <p:sldId id="277" r:id="rId15"/>
    <p:sldId id="278" r:id="rId16"/>
    <p:sldId id="275" r:id="rId17"/>
    <p:sldId id="271" r:id="rId18"/>
    <p:sldId id="268" r:id="rId19"/>
    <p:sldId id="269" r:id="rId20"/>
    <p:sldId id="270" r:id="rId21"/>
    <p:sldId id="272"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3" autoAdjust="0"/>
    <p:restoredTop sz="95033" autoAdjust="0"/>
  </p:normalViewPr>
  <p:slideViewPr>
    <p:cSldViewPr snapToGrid="0" snapToObjects="1">
      <p:cViewPr>
        <p:scale>
          <a:sx n="62" d="100"/>
          <a:sy n="62" d="100"/>
        </p:scale>
        <p:origin x="1853"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2B5C"/>
                </a:solidFill>
                <a:latin typeface="Arial"/>
              </a:defRPr>
            </a:pPr>
            <a:r>
              <a:rPr lang="en-US" sz="1100" b="0" i="0" u="none" strike="noStrike">
                <a:solidFill>
                  <a:srgbClr val="0D2B5C"/>
                </a:solidFill>
                <a:latin typeface="Arial"/>
              </a:rPr>
              <a:t>Count of Medicines Below Reorder Level</a:t>
            </a:r>
          </a:p>
        </c:rich>
      </c:tx>
      <c:overlay val="0"/>
    </c:title>
    <c:autoTitleDeleted val="0"/>
    <c:plotArea>
      <c:layout/>
      <c:barChart>
        <c:barDir val="col"/>
        <c:grouping val="clustered"/>
        <c:varyColors val="0"/>
        <c:ser>
          <c:idx val="0"/>
          <c:order val="0"/>
          <c:tx>
            <c:strRef>
              <c:f>Sheet1!$B$1</c:f>
              <c:strCache>
                <c:ptCount val="1"/>
                <c:pt idx="0">
                  <c:v>Below Reorder Count</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86DB-41E0-8FF1-A972642D0B62}"/>
              </c:ext>
            </c:extLst>
          </c:dPt>
          <c:dPt>
            <c:idx val="1"/>
            <c:invertIfNegative val="0"/>
            <c:bubble3D val="0"/>
            <c:spPr>
              <a:solidFill>
                <a:srgbClr val="F39C12"/>
              </a:solidFill>
              <a:effectLst/>
            </c:spPr>
            <c:extLst>
              <c:ext xmlns:c16="http://schemas.microsoft.com/office/drawing/2014/chart" uri="{C3380CC4-5D6E-409C-BE32-E72D297353CC}">
                <c16:uniqueId val="{00000003-86DB-41E0-8FF1-A972642D0B62}"/>
              </c:ext>
            </c:extLst>
          </c:dPt>
          <c:dPt>
            <c:idx val="2"/>
            <c:invertIfNegative val="0"/>
            <c:bubble3D val="0"/>
            <c:spPr>
              <a:solidFill>
                <a:srgbClr val="0E7C86"/>
              </a:solidFill>
              <a:effectLst/>
            </c:spPr>
            <c:extLst>
              <c:ext xmlns:c16="http://schemas.microsoft.com/office/drawing/2014/chart" uri="{C3380CC4-5D6E-409C-BE32-E72D297353CC}">
                <c16:uniqueId val="{00000005-86DB-41E0-8FF1-A972642D0B62}"/>
              </c:ext>
            </c:extLst>
          </c:dPt>
          <c:dPt>
            <c:idx val="3"/>
            <c:invertIfNegative val="0"/>
            <c:bubble3D val="0"/>
            <c:spPr>
              <a:solidFill>
                <a:srgbClr val="64748B"/>
              </a:solidFill>
              <a:effectLst/>
            </c:spPr>
            <c:extLst>
              <c:ext xmlns:c16="http://schemas.microsoft.com/office/drawing/2014/chart" uri="{C3380CC4-5D6E-409C-BE32-E72D297353CC}">
                <c16:uniqueId val="{00000007-86DB-41E0-8FF1-A972642D0B62}"/>
              </c:ext>
            </c:extLst>
          </c:dPt>
          <c:dLbls>
            <c:numFmt formatCode="#,##0" sourceLinked="0"/>
            <c:spPr>
              <a:noFill/>
              <a:ln>
                <a:noFill/>
              </a:ln>
              <a:effectLst/>
            </c:spPr>
            <c:txPr>
              <a:bodyPr/>
              <a:lstStyle/>
              <a:p>
                <a:pPr>
                  <a:defRPr sz="1200" b="1"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Other</c:v>
                </c:pt>
                <c:pt idx="1">
                  <c:v>Parenteral</c:v>
                </c:pt>
                <c:pt idx="2">
                  <c:v>Oral</c:v>
                </c:pt>
                <c:pt idx="3">
                  <c:v>Bulk/Raw</c:v>
                </c:pt>
              </c:strCache>
            </c:strRef>
          </c:cat>
          <c:val>
            <c:numRef>
              <c:f>Sheet1!$B$2:$B$5</c:f>
              <c:numCache>
                <c:formatCode>General</c:formatCode>
                <c:ptCount val="4"/>
                <c:pt idx="0">
                  <c:v>14</c:v>
                </c:pt>
                <c:pt idx="1">
                  <c:v>8</c:v>
                </c:pt>
                <c:pt idx="2">
                  <c:v>4</c:v>
                </c:pt>
                <c:pt idx="3">
                  <c:v>1</c:v>
                </c:pt>
              </c:numCache>
            </c:numRef>
          </c:val>
          <c:extLst>
            <c:ext xmlns:c16="http://schemas.microsoft.com/office/drawing/2014/chart" uri="{C3380CC4-5D6E-409C-BE32-E72D297353CC}">
              <c16:uniqueId val="{00000008-86DB-41E0-8FF1-A972642D0B6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Stockout Count</c:v>
                </c:pt>
              </c:strCache>
            </c:strRef>
          </c:tx>
          <c:spPr>
            <a:solidFill>
              <a:srgbClr val="C0392B"/>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Other</c:v>
                </c:pt>
                <c:pt idx="1">
                  <c:v>Parenteral</c:v>
                </c:pt>
                <c:pt idx="2">
                  <c:v>Oral</c:v>
                </c:pt>
                <c:pt idx="3">
                  <c:v>Bulk/Raw</c:v>
                </c:pt>
              </c:strCache>
            </c:strRef>
          </c:cat>
          <c:val>
            <c:numRef>
              <c:f>Sheet1!$B$2:$B$5</c:f>
              <c:numCache>
                <c:formatCode>General</c:formatCode>
                <c:ptCount val="4"/>
                <c:pt idx="0">
                  <c:v>14</c:v>
                </c:pt>
                <c:pt idx="1">
                  <c:v>8</c:v>
                </c:pt>
                <c:pt idx="2">
                  <c:v>4</c:v>
                </c:pt>
                <c:pt idx="3">
                  <c:v>1</c:v>
                </c:pt>
              </c:numCache>
            </c:numRef>
          </c:val>
          <c:extLst>
            <c:ext xmlns:c16="http://schemas.microsoft.com/office/drawing/2014/chart" uri="{C3380CC4-5D6E-409C-BE32-E72D297353CC}">
              <c16:uniqueId val="{00000000-09F5-4EE4-A7AC-6ABC7CF2AA3D}"/>
            </c:ext>
          </c:extLst>
        </c:ser>
        <c:ser>
          <c:idx val="1"/>
          <c:order val="1"/>
          <c:tx>
            <c:strRef>
              <c:f>Sheet1!$C$1</c:f>
              <c:strCache>
                <c:ptCount val="1"/>
                <c:pt idx="0">
                  <c:v>Overstock Count</c:v>
                </c:pt>
              </c:strCache>
            </c:strRef>
          </c:tx>
          <c:spPr>
            <a:solidFill>
              <a:srgbClr val="F39C12"/>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Other</c:v>
                </c:pt>
                <c:pt idx="1">
                  <c:v>Parenteral</c:v>
                </c:pt>
                <c:pt idx="2">
                  <c:v>Oral</c:v>
                </c:pt>
                <c:pt idx="3">
                  <c:v>Bulk/Raw</c:v>
                </c:pt>
              </c:strCache>
            </c:strRef>
          </c:cat>
          <c:val>
            <c:numRef>
              <c:f>Sheet1!$C$2:$C$5</c:f>
              <c:numCache>
                <c:formatCode>General</c:formatCode>
                <c:ptCount val="4"/>
                <c:pt idx="0">
                  <c:v>89</c:v>
                </c:pt>
                <c:pt idx="1">
                  <c:v>50</c:v>
                </c:pt>
                <c:pt idx="2">
                  <c:v>31</c:v>
                </c:pt>
                <c:pt idx="3">
                  <c:v>6</c:v>
                </c:pt>
              </c:numCache>
            </c:numRef>
          </c:val>
          <c:extLst>
            <c:ext xmlns:c16="http://schemas.microsoft.com/office/drawing/2014/chart" uri="{C3380CC4-5D6E-409C-BE32-E72D297353CC}">
              <c16:uniqueId val="{00000001-09F5-4EE4-A7AC-6ABC7CF2AA3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4F7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D2B5C"/>
                </a:solidFill>
                <a:latin typeface="Arial"/>
              </a:defRPr>
            </a:pPr>
            <a:r>
              <a:rPr lang="en-US" sz="1000" b="0" i="0" u="none" strike="noStrike">
                <a:solidFill>
                  <a:srgbClr val="0D2B5C"/>
                </a:solidFill>
                <a:latin typeface="Arial"/>
              </a:rPr>
              <a:t>Top 7 Regions: Wastage Units vs Out-of-Stock Days</a:t>
            </a:r>
          </a:p>
        </c:rich>
      </c:tx>
      <c:overlay val="0"/>
    </c:title>
    <c:autoTitleDeleted val="0"/>
    <c:plotArea>
      <c:layout/>
      <c:barChart>
        <c:barDir val="col"/>
        <c:grouping val="clustered"/>
        <c:varyColors val="0"/>
        <c:ser>
          <c:idx val="0"/>
          <c:order val="0"/>
          <c:tx>
            <c:strRef>
              <c:f>Sheet1!$B$1</c:f>
              <c:strCache>
                <c:ptCount val="1"/>
                <c:pt idx="0">
                  <c:v>Wastage Units</c:v>
                </c:pt>
              </c:strCache>
            </c:strRef>
          </c:tx>
          <c:spPr>
            <a:solidFill>
              <a:srgbClr val="C0392B"/>
            </a:solidFill>
            <a:effectLst/>
          </c:spPr>
          <c:invertIfNegative val="0"/>
          <c:cat>
            <c:strRef>
              <c:f>Sheet1!$A$2:$A$8</c:f>
              <c:strCache>
                <c:ptCount val="7"/>
                <c:pt idx="0">
                  <c:v>Mumbai</c:v>
                </c:pt>
                <c:pt idx="1">
                  <c:v>Delhi</c:v>
                </c:pt>
                <c:pt idx="2">
                  <c:v>Hyderabad</c:v>
                </c:pt>
                <c:pt idx="3">
                  <c:v>Chennai</c:v>
                </c:pt>
                <c:pt idx="4">
                  <c:v>Nagpur</c:v>
                </c:pt>
                <c:pt idx="5">
                  <c:v>Pune</c:v>
                </c:pt>
                <c:pt idx="6">
                  <c:v>Bangalore</c:v>
                </c:pt>
              </c:strCache>
            </c:strRef>
          </c:cat>
          <c:val>
            <c:numRef>
              <c:f>Sheet1!$B$2:$B$8</c:f>
              <c:numCache>
                <c:formatCode>General</c:formatCode>
                <c:ptCount val="7"/>
                <c:pt idx="0">
                  <c:v>533</c:v>
                </c:pt>
                <c:pt idx="1">
                  <c:v>368</c:v>
                </c:pt>
                <c:pt idx="2">
                  <c:v>332</c:v>
                </c:pt>
                <c:pt idx="3">
                  <c:v>293</c:v>
                </c:pt>
                <c:pt idx="4">
                  <c:v>264</c:v>
                </c:pt>
                <c:pt idx="5">
                  <c:v>262</c:v>
                </c:pt>
                <c:pt idx="6">
                  <c:v>258</c:v>
                </c:pt>
              </c:numCache>
            </c:numRef>
          </c:val>
          <c:extLst>
            <c:ext xmlns:c16="http://schemas.microsoft.com/office/drawing/2014/chart" uri="{C3380CC4-5D6E-409C-BE32-E72D297353CC}">
              <c16:uniqueId val="{00000000-85B6-4E38-8A5D-73D671FD3B98}"/>
            </c:ext>
          </c:extLst>
        </c:ser>
        <c:ser>
          <c:idx val="1"/>
          <c:order val="1"/>
          <c:tx>
            <c:strRef>
              <c:f>Sheet1!$C$1</c:f>
              <c:strCache>
                <c:ptCount val="1"/>
                <c:pt idx="0">
                  <c:v>Out-of-Stock Days</c:v>
                </c:pt>
              </c:strCache>
            </c:strRef>
          </c:tx>
          <c:spPr>
            <a:solidFill>
              <a:srgbClr val="0E7C86"/>
            </a:solidFill>
            <a:effectLst/>
          </c:spPr>
          <c:invertIfNegative val="0"/>
          <c:cat>
            <c:strRef>
              <c:f>Sheet1!$A$2:$A$8</c:f>
              <c:strCache>
                <c:ptCount val="7"/>
                <c:pt idx="0">
                  <c:v>Mumbai</c:v>
                </c:pt>
                <c:pt idx="1">
                  <c:v>Delhi</c:v>
                </c:pt>
                <c:pt idx="2">
                  <c:v>Hyderabad</c:v>
                </c:pt>
                <c:pt idx="3">
                  <c:v>Chennai</c:v>
                </c:pt>
                <c:pt idx="4">
                  <c:v>Nagpur</c:v>
                </c:pt>
                <c:pt idx="5">
                  <c:v>Pune</c:v>
                </c:pt>
                <c:pt idx="6">
                  <c:v>Bangalore</c:v>
                </c:pt>
              </c:strCache>
            </c:strRef>
          </c:cat>
          <c:val>
            <c:numRef>
              <c:f>Sheet1!$C$2:$C$8</c:f>
              <c:numCache>
                <c:formatCode>General</c:formatCode>
                <c:ptCount val="7"/>
                <c:pt idx="0">
                  <c:v>80</c:v>
                </c:pt>
                <c:pt idx="1">
                  <c:v>37</c:v>
                </c:pt>
                <c:pt idx="2">
                  <c:v>48</c:v>
                </c:pt>
                <c:pt idx="3">
                  <c:v>35</c:v>
                </c:pt>
                <c:pt idx="4">
                  <c:v>43</c:v>
                </c:pt>
                <c:pt idx="5">
                  <c:v>39</c:v>
                </c:pt>
                <c:pt idx="6">
                  <c:v>26</c:v>
                </c:pt>
              </c:numCache>
            </c:numRef>
          </c:val>
          <c:extLst>
            <c:ext xmlns:c16="http://schemas.microsoft.com/office/drawing/2014/chart" uri="{C3380CC4-5D6E-409C-BE32-E72D297353CC}">
              <c16:uniqueId val="{00000001-85B6-4E38-8A5D-73D671FD3B9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4F7F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2B5C"/>
                </a:solidFill>
                <a:latin typeface="Arial"/>
              </a:defRPr>
            </a:pPr>
            <a:r>
              <a:rPr lang="en-US" sz="1100" b="0" i="0" u="none" strike="noStrike">
                <a:solidFill>
                  <a:srgbClr val="0D2B5C"/>
                </a:solidFill>
                <a:latin typeface="Arial"/>
              </a:rPr>
              <a:t>Inventory Risk (N=366 flagged items)</a:t>
            </a:r>
          </a:p>
        </c:rich>
      </c:tx>
      <c:overlay val="0"/>
    </c:title>
    <c:autoTitleDeleted val="0"/>
    <c:plotArea>
      <c:layout/>
      <c:doughnutChart>
        <c:varyColors val="1"/>
        <c:ser>
          <c:idx val="0"/>
          <c:order val="0"/>
          <c:tx>
            <c:strRef>
              <c:f>Sheet1!$B$1</c:f>
              <c:strCache>
                <c:ptCount val="1"/>
                <c:pt idx="0">
                  <c:v>Risk Share</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extLst>
              <c:ext xmlns:c16="http://schemas.microsoft.com/office/drawing/2014/chart" uri="{C3380CC4-5D6E-409C-BE32-E72D297353CC}">
                <c16:uniqueId val="{00000001-6472-448B-9D6E-B567FEED1B96}"/>
              </c:ext>
            </c:extLst>
          </c:dPt>
          <c:dPt>
            <c:idx val="1"/>
            <c:bubble3D val="0"/>
            <c:spPr>
              <a:solidFill>
                <a:srgbClr val="F39C12"/>
              </a:solidFill>
              <a:effectLst/>
            </c:spPr>
            <c:extLst>
              <c:ext xmlns:c16="http://schemas.microsoft.com/office/drawing/2014/chart" uri="{C3380CC4-5D6E-409C-BE32-E72D297353CC}">
                <c16:uniqueId val="{00000003-6472-448B-9D6E-B567FEED1B96}"/>
              </c:ext>
            </c:extLst>
          </c:dPt>
          <c:dPt>
            <c:idx val="2"/>
            <c:bubble3D val="0"/>
            <c:spPr>
              <a:solidFill>
                <a:srgbClr val="C0392B"/>
              </a:solidFill>
              <a:effectLst/>
            </c:spPr>
            <c:extLst>
              <c:ext xmlns:c16="http://schemas.microsoft.com/office/drawing/2014/chart" uri="{C3380CC4-5D6E-409C-BE32-E72D297353CC}">
                <c16:uniqueId val="{00000005-6472-448B-9D6E-B567FEED1B96}"/>
              </c:ext>
            </c:extLst>
          </c:dPt>
          <c:dLbls>
            <c:dLbl>
              <c:idx val="0"/>
              <c:numFmt formatCode="0%" sourceLinked="0"/>
              <c:spPr/>
              <c:txPr>
                <a:bodyPr/>
                <a:lstStyle/>
                <a:p>
                  <a:pPr>
                    <a:defRPr sz="10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472-448B-9D6E-B567FEED1B96}"/>
                </c:ext>
              </c:extLst>
            </c:dLbl>
            <c:dLbl>
              <c:idx val="1"/>
              <c:numFmt formatCode="0%" sourceLinked="0"/>
              <c:spPr/>
              <c:txPr>
                <a:bodyPr/>
                <a:lstStyle/>
                <a:p>
                  <a:pPr>
                    <a:defRPr sz="10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472-448B-9D6E-B567FEED1B96}"/>
                </c:ext>
              </c:extLst>
            </c:dLbl>
            <c:dLbl>
              <c:idx val="2"/>
              <c:numFmt formatCode="0%" sourceLinked="0"/>
              <c:spPr/>
              <c:txPr>
                <a:bodyPr/>
                <a:lstStyle/>
                <a:p>
                  <a:pPr>
                    <a:defRPr sz="10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472-448B-9D6E-B567FEED1B96}"/>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Overstock (48.1%)</c:v>
                </c:pt>
                <c:pt idx="1">
                  <c:v>Expiry Risk (45.9%)</c:v>
                </c:pt>
                <c:pt idx="2">
                  <c:v>Stockout Risk (6.0%)</c:v>
                </c:pt>
              </c:strCache>
            </c:strRef>
          </c:cat>
          <c:val>
            <c:numRef>
              <c:f>Sheet1!$B$2:$B$4</c:f>
              <c:numCache>
                <c:formatCode>General</c:formatCode>
                <c:ptCount val="3"/>
                <c:pt idx="0">
                  <c:v>176</c:v>
                </c:pt>
                <c:pt idx="1">
                  <c:v>168</c:v>
                </c:pt>
                <c:pt idx="2">
                  <c:v>22</c:v>
                </c:pt>
              </c:numCache>
            </c:numRef>
          </c:val>
          <c:extLst>
            <c:ext xmlns:c16="http://schemas.microsoft.com/office/drawing/2014/chart" uri="{C3380CC4-5D6E-409C-BE32-E72D297353CC}">
              <c16:uniqueId val="{00000006-6472-448B-9D6E-B567FEED1B96}"/>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legend>
    <c:plotVisOnly val="1"/>
    <c:dispBlanksAs val="span"/>
    <c:showDLblsOverMax val="1"/>
  </c:chart>
  <c:spPr>
    <a:solidFill>
      <a:srgbClr val="F4F7F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D2B5C"/>
                </a:solidFill>
                <a:latin typeface="Arial"/>
              </a:defRPr>
            </a:pPr>
            <a:r>
              <a:rPr lang="en-US" sz="1000" b="0" i="0" u="none" strike="noStrike">
                <a:solidFill>
                  <a:srgbClr val="0D2B5C"/>
                </a:solidFill>
                <a:latin typeface="Arial"/>
              </a:rPr>
              <a:t>P(Poor Performance) by Supplier Region</a:t>
            </a:r>
          </a:p>
        </c:rich>
      </c:tx>
      <c:overlay val="0"/>
    </c:title>
    <c:autoTitleDeleted val="0"/>
    <c:plotArea>
      <c:layout/>
      <c:barChart>
        <c:barDir val="col"/>
        <c:grouping val="clustered"/>
        <c:varyColors val="0"/>
        <c:ser>
          <c:idx val="0"/>
          <c:order val="0"/>
          <c:tx>
            <c:strRef>
              <c:f>Sheet1!$B$1</c:f>
              <c:strCache>
                <c:ptCount val="1"/>
                <c:pt idx="0">
                  <c:v>P(Poor Performance)</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2A70-47FD-8204-74D1F8508745}"/>
              </c:ext>
            </c:extLst>
          </c:dPt>
          <c:dPt>
            <c:idx val="1"/>
            <c:invertIfNegative val="0"/>
            <c:bubble3D val="0"/>
            <c:extLst>
              <c:ext xmlns:c16="http://schemas.microsoft.com/office/drawing/2014/chart" uri="{C3380CC4-5D6E-409C-BE32-E72D297353CC}">
                <c16:uniqueId val="{00000003-2A70-47FD-8204-74D1F8508745}"/>
              </c:ext>
            </c:extLst>
          </c:dPt>
          <c:dPt>
            <c:idx val="2"/>
            <c:invertIfNegative val="0"/>
            <c:bubble3D val="0"/>
            <c:extLst>
              <c:ext xmlns:c16="http://schemas.microsoft.com/office/drawing/2014/chart" uri="{C3380CC4-5D6E-409C-BE32-E72D297353CC}">
                <c16:uniqueId val="{00000005-2A70-47FD-8204-74D1F8508745}"/>
              </c:ext>
            </c:extLst>
          </c:dPt>
          <c:dPt>
            <c:idx val="3"/>
            <c:invertIfNegative val="0"/>
            <c:bubble3D val="0"/>
            <c:spPr>
              <a:solidFill>
                <a:srgbClr val="F39C12"/>
              </a:solidFill>
              <a:effectLst/>
            </c:spPr>
            <c:extLst>
              <c:ext xmlns:c16="http://schemas.microsoft.com/office/drawing/2014/chart" uri="{C3380CC4-5D6E-409C-BE32-E72D297353CC}">
                <c16:uniqueId val="{00000007-2A70-47FD-8204-74D1F8508745}"/>
              </c:ext>
            </c:extLst>
          </c:dPt>
          <c:dPt>
            <c:idx val="4"/>
            <c:invertIfNegative val="0"/>
            <c:bubble3D val="0"/>
            <c:spPr>
              <a:solidFill>
                <a:srgbClr val="F39C12"/>
              </a:solidFill>
              <a:effectLst/>
            </c:spPr>
            <c:extLst>
              <c:ext xmlns:c16="http://schemas.microsoft.com/office/drawing/2014/chart" uri="{C3380CC4-5D6E-409C-BE32-E72D297353CC}">
                <c16:uniqueId val="{00000009-2A70-47FD-8204-74D1F8508745}"/>
              </c:ext>
            </c:extLst>
          </c:dPt>
          <c:dPt>
            <c:idx val="5"/>
            <c:invertIfNegative val="0"/>
            <c:bubble3D val="0"/>
            <c:spPr>
              <a:solidFill>
                <a:srgbClr val="0E7C86"/>
              </a:solidFill>
              <a:effectLst/>
            </c:spPr>
            <c:extLst>
              <c:ext xmlns:c16="http://schemas.microsoft.com/office/drawing/2014/chart" uri="{C3380CC4-5D6E-409C-BE32-E72D297353CC}">
                <c16:uniqueId val="{0000000B-2A70-47FD-8204-74D1F8508745}"/>
              </c:ext>
            </c:extLst>
          </c:dPt>
          <c:dPt>
            <c:idx val="6"/>
            <c:invertIfNegative val="0"/>
            <c:bubble3D val="0"/>
            <c:spPr>
              <a:solidFill>
                <a:srgbClr val="0E7C86"/>
              </a:solidFill>
              <a:effectLst/>
            </c:spPr>
            <c:extLst>
              <c:ext xmlns:c16="http://schemas.microsoft.com/office/drawing/2014/chart" uri="{C3380CC4-5D6E-409C-BE32-E72D297353CC}">
                <c16:uniqueId val="{0000000D-2A70-47FD-8204-74D1F8508745}"/>
              </c:ext>
            </c:extLst>
          </c:dPt>
          <c:dPt>
            <c:idx val="7"/>
            <c:invertIfNegative val="0"/>
            <c:bubble3D val="0"/>
            <c:spPr>
              <a:solidFill>
                <a:srgbClr val="1E8449"/>
              </a:solidFill>
              <a:effectLst/>
            </c:spPr>
            <c:extLst>
              <c:ext xmlns:c16="http://schemas.microsoft.com/office/drawing/2014/chart" uri="{C3380CC4-5D6E-409C-BE32-E72D297353CC}">
                <c16:uniqueId val="{0000000F-2A70-47FD-8204-74D1F8508745}"/>
              </c:ext>
            </c:extLst>
          </c:dPt>
          <c:dLbls>
            <c:delete val="1"/>
          </c:dLbls>
          <c:cat>
            <c:strRef>
              <c:f>Sheet1!$A$2:$A$9</c:f>
              <c:strCache>
                <c:ptCount val="8"/>
                <c:pt idx="0">
                  <c:v>Chennai</c:v>
                </c:pt>
                <c:pt idx="1">
                  <c:v>Delhi</c:v>
                </c:pt>
                <c:pt idx="2">
                  <c:v>Mumbai</c:v>
                </c:pt>
                <c:pt idx="3">
                  <c:v>Pune</c:v>
                </c:pt>
                <c:pt idx="4">
                  <c:v>Hyderabad</c:v>
                </c:pt>
                <c:pt idx="5">
                  <c:v>Bangalore</c:v>
                </c:pt>
                <c:pt idx="6">
                  <c:v>Kolkata</c:v>
                </c:pt>
                <c:pt idx="7">
                  <c:v>Lucknow</c:v>
                </c:pt>
              </c:strCache>
            </c:strRef>
          </c:cat>
          <c:val>
            <c:numRef>
              <c:f>Sheet1!$B$2:$B$9</c:f>
              <c:numCache>
                <c:formatCode>General</c:formatCode>
                <c:ptCount val="8"/>
                <c:pt idx="0">
                  <c:v>0.24199999999999999</c:v>
                </c:pt>
                <c:pt idx="1">
                  <c:v>0.23599999999999999</c:v>
                </c:pt>
                <c:pt idx="2">
                  <c:v>0.22800000000000001</c:v>
                </c:pt>
                <c:pt idx="3">
                  <c:v>0.20899999999999999</c:v>
                </c:pt>
                <c:pt idx="4">
                  <c:v>0.20300000000000001</c:v>
                </c:pt>
                <c:pt idx="5">
                  <c:v>0.19400000000000001</c:v>
                </c:pt>
                <c:pt idx="6">
                  <c:v>0.16400000000000001</c:v>
                </c:pt>
                <c:pt idx="7">
                  <c:v>0.125</c:v>
                </c:pt>
              </c:numCache>
            </c:numRef>
          </c:val>
          <c:extLst>
            <c:ext xmlns:c16="http://schemas.microsoft.com/office/drawing/2014/chart" uri="{C3380CC4-5D6E-409C-BE32-E72D297353CC}">
              <c16:uniqueId val="{00000010-2A70-47FD-8204-74D1F850874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A"/>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2B5C"/>
                </a:solidFill>
                <a:latin typeface="Arial"/>
              </a:defRPr>
            </a:pPr>
            <a:r>
              <a:rPr lang="en-US" sz="1100" b="0" i="0" u="none" strike="noStrike">
                <a:solidFill>
                  <a:srgbClr val="0D2B5C"/>
                </a:solidFill>
                <a:latin typeface="Arial"/>
              </a:rPr>
              <a:t>Monthly Demand (Order Quantity) — 2024</a:t>
            </a:r>
          </a:p>
        </c:rich>
      </c:tx>
      <c:overlay val="0"/>
    </c:title>
    <c:autoTitleDeleted val="0"/>
    <c:plotArea>
      <c:layout/>
      <c:lineChart>
        <c:grouping val="standard"/>
        <c:varyColors val="0"/>
        <c:ser>
          <c:idx val="0"/>
          <c:order val="0"/>
          <c:tx>
            <c:strRef>
              <c:f>Sheet1!$B$1</c:f>
              <c:strCache>
                <c:ptCount val="1"/>
                <c:pt idx="0">
                  <c:v>Monthly Order Quantity</c:v>
                </c:pt>
              </c:strCache>
            </c:strRef>
          </c:tx>
          <c:spPr>
            <a:ln w="38100" cap="flat">
              <a:solidFill>
                <a:srgbClr val="0E7C86"/>
              </a:solidFill>
              <a:prstDash val="solid"/>
              <a:round/>
            </a:ln>
            <a:effectLst/>
          </c:spPr>
          <c:marker>
            <c:symbol val="circle"/>
            <c:size val="6"/>
            <c:spPr>
              <a:solidFill>
                <a:srgbClr val="0E7C86"/>
              </a:solidFill>
              <a:ln w="9525" cap="flat">
                <a:solidFill>
                  <a:srgbClr val="0E7C8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1931</c:v>
                </c:pt>
                <c:pt idx="1">
                  <c:v>1995</c:v>
                </c:pt>
                <c:pt idx="2">
                  <c:v>704.5</c:v>
                </c:pt>
                <c:pt idx="3">
                  <c:v>756</c:v>
                </c:pt>
                <c:pt idx="4">
                  <c:v>1980.5</c:v>
                </c:pt>
                <c:pt idx="5">
                  <c:v>1907.5</c:v>
                </c:pt>
                <c:pt idx="6">
                  <c:v>2898</c:v>
                </c:pt>
                <c:pt idx="7">
                  <c:v>2726.5</c:v>
                </c:pt>
                <c:pt idx="8">
                  <c:v>2713.5</c:v>
                </c:pt>
                <c:pt idx="9">
                  <c:v>713.5</c:v>
                </c:pt>
                <c:pt idx="10">
                  <c:v>1385.5</c:v>
                </c:pt>
                <c:pt idx="11">
                  <c:v>2161.5</c:v>
                </c:pt>
              </c:numCache>
            </c:numRef>
          </c:val>
          <c:smooth val="1"/>
          <c:extLst>
            <c:ext xmlns:c16="http://schemas.microsoft.com/office/drawing/2014/chart" uri="{C3380CC4-5D6E-409C-BE32-E72D297353CC}">
              <c16:uniqueId val="{00000000-38A0-42E8-8AAB-BA760519359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A"/>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0D2B5C"/>
                </a:solidFill>
                <a:latin typeface="Arial"/>
              </a:defRPr>
            </a:pPr>
            <a:r>
              <a:rPr lang="en-US" sz="1000" b="0" i="0" u="none" strike="noStrike">
                <a:solidFill>
                  <a:srgbClr val="0D2B5C"/>
                </a:solidFill>
                <a:latin typeface="Arial"/>
              </a:rPr>
              <a:t>Avg Profit Loss by Return Quantity (₹)</a:t>
            </a:r>
          </a:p>
        </c:rich>
      </c:tx>
      <c:overlay val="0"/>
    </c:title>
    <c:autoTitleDeleted val="0"/>
    <c:plotArea>
      <c:layout/>
      <c:lineChart>
        <c:grouping val="standard"/>
        <c:varyColors val="0"/>
        <c:ser>
          <c:idx val="0"/>
          <c:order val="0"/>
          <c:tx>
            <c:strRef>
              <c:f>Sheet1!$B$1</c:f>
              <c:strCache>
                <c:ptCount val="1"/>
                <c:pt idx="0">
                  <c:v>Avg Profit Loss per Return (₹)</c:v>
                </c:pt>
              </c:strCache>
            </c:strRef>
          </c:tx>
          <c:spPr>
            <a:ln w="38100" cap="flat">
              <a:solidFill>
                <a:srgbClr val="C0392B"/>
              </a:solidFill>
              <a:prstDash val="solid"/>
              <a:round/>
            </a:ln>
            <a:effectLst/>
          </c:spPr>
          <c:marker>
            <c:symbol val="circle"/>
            <c:size val="6"/>
            <c:spPr>
              <a:solidFill>
                <a:srgbClr val="C0392B"/>
              </a:solidFill>
              <a:ln w="9525" cap="flat">
                <a:solidFill>
                  <a:srgbClr val="C0392B"/>
                </a:solidFill>
                <a:prstDash val="solid"/>
                <a:round/>
              </a:ln>
              <a:effectLst/>
            </c:spPr>
          </c:marker>
          <c:dLbls>
            <c:numFmt formatCode="#,##0" sourceLinked="0"/>
            <c:spPr>
              <a:noFill/>
              <a:ln>
                <a:noFill/>
              </a:ln>
              <a:effectLst/>
            </c:spPr>
            <c:txPr>
              <a:bodyPr/>
              <a:lstStyle/>
              <a:p>
                <a:pPr>
                  <a:defRPr sz="900" b="0"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unit</c:v>
                </c:pt>
                <c:pt idx="1">
                  <c:v>2 units</c:v>
                </c:pt>
                <c:pt idx="2">
                  <c:v>3-5 units</c:v>
                </c:pt>
                <c:pt idx="3">
                  <c:v>6-10 units</c:v>
                </c:pt>
                <c:pt idx="4">
                  <c:v>10-50 units</c:v>
                </c:pt>
              </c:strCache>
            </c:strRef>
          </c:cat>
          <c:val>
            <c:numRef>
              <c:f>Sheet1!$B$2:$B$6</c:f>
              <c:numCache>
                <c:formatCode>General</c:formatCode>
                <c:ptCount val="5"/>
                <c:pt idx="0">
                  <c:v>-96.02</c:v>
                </c:pt>
                <c:pt idx="1">
                  <c:v>-147.59</c:v>
                </c:pt>
                <c:pt idx="2">
                  <c:v>-126.4</c:v>
                </c:pt>
                <c:pt idx="3">
                  <c:v>-114.66</c:v>
                </c:pt>
                <c:pt idx="4">
                  <c:v>-85.04</c:v>
                </c:pt>
              </c:numCache>
            </c:numRef>
          </c:val>
          <c:smooth val="0"/>
          <c:extLst>
            <c:ext xmlns:c16="http://schemas.microsoft.com/office/drawing/2014/chart" uri="{C3380CC4-5D6E-409C-BE32-E72D297353CC}">
              <c16:uniqueId val="{00000000-D794-4DE9-B521-34731FA6948A}"/>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60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Probability — P(Below Reorder Level) by Category</a:t>
            </a:r>
          </a:p>
          <a:p>
            <a:r>
              <a:rPr lang="en-US" b="1" dirty="0"/>
              <a:t>Parenteral (0.044)</a:t>
            </a:r>
            <a:r>
              <a:rPr lang="en-US" dirty="0"/>
              <a:t> highest — 1 in 23 injectable medicines is below reorder at any given time, direct ICU risk.</a:t>
            </a:r>
          </a:p>
          <a:p>
            <a:r>
              <a:rPr lang="en-US" b="1" dirty="0"/>
              <a:t>Other (0.031)</a:t>
            </a:r>
            <a:r>
              <a:rPr lang="en-US" dirty="0"/>
              <a:t> second — misclassified critical drugs hidden under generic label making detection slower.</a:t>
            </a:r>
          </a:p>
          <a:p>
            <a:r>
              <a:rPr lang="en-US" b="1" dirty="0"/>
              <a:t>Oral (0.022)</a:t>
            </a:r>
            <a:r>
              <a:rPr lang="en-US" dirty="0"/>
              <a:t> third — manageable but needs monitoring.</a:t>
            </a:r>
          </a:p>
          <a:p>
            <a:r>
              <a:rPr lang="en-US" b="1" dirty="0"/>
              <a:t>Bulk/Raw (0.038)</a:t>
            </a:r>
            <a:r>
              <a:rPr lang="en-US" dirty="0"/>
              <a:t> close to Parenteral — small category so even 1 item has high proportional impact.</a:t>
            </a:r>
          </a:p>
          <a:p>
            <a:r>
              <a:rPr lang="en-US" b="1" dirty="0"/>
              <a:t>Oral Liquid (0.000)</a:t>
            </a:r>
            <a:r>
              <a:rPr lang="en-US" dirty="0"/>
              <a:t> best managed — no medicines below reorder.</a:t>
            </a:r>
          </a:p>
          <a:p>
            <a:r>
              <a:rPr lang="en-US" b="1" dirty="0"/>
              <a:t>Avg P(Below Reorder) = 0.032</a:t>
            </a:r>
            <a:r>
              <a:rPr lang="en-US" dirty="0"/>
              <a:t> — 3.2% of all 841 medicines are below reorder level at any time.</a:t>
            </a:r>
          </a:p>
          <a:p>
            <a:endParaRPr lang="en-US" dirty="0"/>
          </a:p>
          <a:p>
            <a:r>
              <a:rPr lang="en-US" dirty="0"/>
              <a:t>Chi-Square Statistic : 1.6637 </a:t>
            </a:r>
          </a:p>
          <a:p>
            <a:r>
              <a:rPr lang="en-US" dirty="0"/>
              <a:t>P-Value: 0.7973     </a:t>
            </a:r>
          </a:p>
          <a:p>
            <a:r>
              <a:rPr lang="en-US" dirty="0"/>
              <a:t>Degrees of Freedom: 4</a:t>
            </a:r>
          </a:p>
          <a:p>
            <a:r>
              <a:rPr lang="en-US" dirty="0"/>
              <a:t>Significance Level: 0.05</a:t>
            </a:r>
          </a:p>
          <a:p>
            <a:r>
              <a:rPr lang="en-US" dirty="0"/>
              <a:t>Result: FAIL TO REJECT H0</a:t>
            </a:r>
          </a:p>
          <a:p>
            <a:r>
              <a:rPr lang="en-US" dirty="0"/>
              <a:t>Medicines falling below reorder level is independent of category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P(Stockout | Wastage=1) = 0.935 </a:t>
            </a:r>
          </a:p>
          <a:p>
            <a:r>
              <a:rPr lang="en-US" dirty="0"/>
              <a:t>P(Wastage) = 0.144 P(Stockout) = 0.028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Avg P(Wastage) = 0.144</a:t>
            </a:r>
            <a:r>
              <a:rPr lang="en-US" sz="1200" b="0" kern="1200" dirty="0">
                <a:solidFill>
                  <a:schemeClr val="tx1"/>
                </a:solidFill>
                <a:effectLst/>
                <a:latin typeface="+mn-lt"/>
                <a:ea typeface="+mn-ea"/>
                <a:cs typeface="+mn-cs"/>
              </a:rPr>
              <a:t> 5x higher than stockout probability (0.028)</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Avg P(Stockout) = </a:t>
            </a:r>
            <a:r>
              <a:rPr lang="en-US" sz="1200" b="1" kern="1200">
                <a:solidFill>
                  <a:schemeClr val="tx1"/>
                </a:solidFill>
                <a:effectLst/>
                <a:latin typeface="+mn-lt"/>
                <a:ea typeface="+mn-ea"/>
                <a:cs typeface="+mn-cs"/>
              </a:rPr>
              <a:t>0.028</a:t>
            </a:r>
            <a:r>
              <a:rPr lang="en-US" sz="1200" b="0" kern="1200">
                <a:solidFill>
                  <a:schemeClr val="tx1"/>
                </a:solidFill>
                <a:effectLst/>
                <a:latin typeface="+mn-lt"/>
                <a:ea typeface="+mn-ea"/>
                <a:cs typeface="+mn-cs"/>
              </a:rPr>
              <a:t> 3</a:t>
            </a:r>
            <a:r>
              <a:rPr lang="en-US" sz="1200" b="0" kern="1200" dirty="0">
                <a:solidFill>
                  <a:schemeClr val="tx1"/>
                </a:solidFill>
                <a:effectLst/>
                <a:latin typeface="+mn-lt"/>
                <a:ea typeface="+mn-ea"/>
                <a:cs typeface="+mn-cs"/>
              </a:rPr>
              <a:t>% of all medicine records face stockout risk.</a:t>
            </a:r>
          </a:p>
          <a:p>
            <a:endParaRPr lang="en-US" dirty="0"/>
          </a:p>
          <a:p>
            <a:r>
              <a:rPr lang="en-US" dirty="0"/>
              <a:t>Chi-Square: Region vs </a:t>
            </a:r>
            <a:r>
              <a:rPr lang="en-US" dirty="0" err="1"/>
              <a:t>Stockout_Flag</a:t>
            </a:r>
            <a:r>
              <a:rPr lang="en-US" dirty="0"/>
              <a:t> </a:t>
            </a:r>
          </a:p>
          <a:p>
            <a:r>
              <a:rPr lang="el-GR" dirty="0"/>
              <a:t>χ² = 20.11, </a:t>
            </a:r>
            <a:endParaRPr lang="en-US" dirty="0"/>
          </a:p>
          <a:p>
            <a:r>
              <a:rPr lang="en-US" dirty="0"/>
              <a:t>p = 0.3265, </a:t>
            </a:r>
          </a:p>
          <a:p>
            <a:r>
              <a:rPr lang="en-US" dirty="0"/>
              <a:t>DOF = 18 → FAIL TO REJECT H0 </a:t>
            </a:r>
          </a:p>
          <a:p>
            <a:r>
              <a:rPr lang="en-US" dirty="0"/>
              <a:t>Stockout is independent of region </a:t>
            </a:r>
          </a:p>
          <a:p>
            <a:endParaRPr lang="en-US" dirty="0"/>
          </a:p>
          <a:p>
            <a:r>
              <a:rPr lang="en-US" dirty="0"/>
              <a:t>Chi-Square: </a:t>
            </a:r>
            <a:r>
              <a:rPr lang="en-US" dirty="0" err="1"/>
              <a:t>Wastage_Flag</a:t>
            </a:r>
            <a:r>
              <a:rPr lang="en-US" dirty="0"/>
              <a:t> vs </a:t>
            </a:r>
            <a:r>
              <a:rPr lang="en-US" dirty="0" err="1"/>
              <a:t>Stockout_Flag</a:t>
            </a:r>
            <a:r>
              <a:rPr lang="en-US" dirty="0"/>
              <a:t> </a:t>
            </a:r>
          </a:p>
          <a:p>
            <a:r>
              <a:rPr lang="el-GR" dirty="0"/>
              <a:t>χ² = 1941.85, </a:t>
            </a:r>
            <a:endParaRPr lang="en-US" dirty="0"/>
          </a:p>
          <a:p>
            <a:r>
              <a:rPr lang="en-US" dirty="0"/>
              <a:t>p ≈ 0.0000, </a:t>
            </a:r>
          </a:p>
          <a:p>
            <a:r>
              <a:rPr lang="en-US" dirty="0"/>
              <a:t>DOF = 1 → REJECT H0 </a:t>
            </a:r>
          </a:p>
          <a:p>
            <a:r>
              <a:rPr lang="en-US" dirty="0"/>
              <a:t>Wastage and stockout are strongly related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shown as proportion of all 841 inventory items. Flagged items may overlap.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Chennai (0.242)</a:t>
            </a:r>
            <a:r>
              <a:rPr lang="en-US" sz="1200" b="0" kern="1200" dirty="0">
                <a:solidFill>
                  <a:schemeClr val="tx1"/>
                </a:solidFill>
                <a:effectLst/>
                <a:latin typeface="+mn-lt"/>
                <a:ea typeface="+mn-ea"/>
                <a:cs typeface="+mn-cs"/>
              </a:rPr>
              <a:t> highest poor performance - 1 in 4 suppliers underperform.</a:t>
            </a:r>
          </a:p>
          <a:p>
            <a:r>
              <a:rPr lang="en-US" sz="1200" b="1" kern="1200" dirty="0">
                <a:solidFill>
                  <a:schemeClr val="tx1"/>
                </a:solidFill>
                <a:effectLst/>
                <a:latin typeface="+mn-lt"/>
                <a:ea typeface="+mn-ea"/>
                <a:cs typeface="+mn-cs"/>
              </a:rPr>
              <a:t>Delhi (0.236) &amp; Mumbai (0.228)</a:t>
            </a:r>
            <a:r>
              <a:rPr lang="en-US" sz="1200" b="0" kern="1200" dirty="0">
                <a:solidFill>
                  <a:schemeClr val="tx1"/>
                </a:solidFill>
                <a:effectLst/>
                <a:latin typeface="+mn-lt"/>
                <a:ea typeface="+mn-ea"/>
                <a:cs typeface="+mn-cs"/>
              </a:rPr>
              <a:t> follow - metro city suppliers surprisingly unreliable.</a:t>
            </a:r>
          </a:p>
          <a:p>
            <a:r>
              <a:rPr lang="en-US" sz="1200" b="1" kern="1200" dirty="0">
                <a:solidFill>
                  <a:schemeClr val="tx1"/>
                </a:solidFill>
                <a:effectLst/>
                <a:latin typeface="+mn-lt"/>
                <a:ea typeface="+mn-ea"/>
                <a:cs typeface="+mn-cs"/>
              </a:rPr>
              <a:t>Lucknow (0.125)</a:t>
            </a:r>
            <a:r>
              <a:rPr lang="en-US" sz="1200" b="0" kern="1200" dirty="0">
                <a:solidFill>
                  <a:schemeClr val="tx1"/>
                </a:solidFill>
                <a:effectLst/>
                <a:latin typeface="+mn-lt"/>
                <a:ea typeface="+mn-ea"/>
                <a:cs typeface="+mn-cs"/>
              </a:rPr>
              <a:t>best performing - lowest poor performance probability.</a:t>
            </a:r>
          </a:p>
          <a:p>
            <a:r>
              <a:rPr lang="en-US" sz="1200" b="1" kern="1200" dirty="0">
                <a:solidFill>
                  <a:schemeClr val="tx1"/>
                </a:solidFill>
                <a:effectLst/>
                <a:latin typeface="+mn-lt"/>
                <a:ea typeface="+mn-ea"/>
                <a:cs typeface="+mn-cs"/>
              </a:rPr>
              <a:t>Avg P(Poor Performance) = 0.200 - </a:t>
            </a:r>
            <a:r>
              <a:rPr lang="en-US" sz="1200" b="0" kern="1200" dirty="0">
                <a:solidFill>
                  <a:schemeClr val="tx1"/>
                </a:solidFill>
                <a:effectLst/>
                <a:latin typeface="+mn-lt"/>
                <a:ea typeface="+mn-ea"/>
                <a:cs typeface="+mn-cs"/>
              </a:rPr>
              <a:t>20% of all suppliers perform poorly.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2-unit returns cause the highest loss</a:t>
            </a:r>
            <a:r>
              <a:rPr lang="en-US" dirty="0"/>
              <a:t> The 2-unit return bin likely captures a specific set of high-value medicines (e.g., specialty injectables, branded drugs) where even 2 units returned = large revenue loss. Bulk returns (10–50 units) in contrast are likely cheaper generics or OTC drugs.</a:t>
            </a:r>
          </a:p>
          <a:p>
            <a:endParaRPr lang="en-US" dirty="0"/>
          </a:p>
          <a:p>
            <a:r>
              <a:rPr lang="en-US" dirty="0"/>
              <a:t>T-Statistic : -27.7046</a:t>
            </a:r>
          </a:p>
          <a:p>
            <a:r>
              <a:rPr lang="en-US" dirty="0"/>
              <a:t>P-Value     : 0.0000</a:t>
            </a:r>
          </a:p>
          <a:p>
            <a:r>
              <a:rPr lang="en-US" dirty="0"/>
              <a:t>Significance Level : 0.05</a:t>
            </a:r>
          </a:p>
          <a:p>
            <a:r>
              <a:rPr lang="en-US" dirty="0"/>
              <a:t>Result: REJECT H0</a:t>
            </a:r>
          </a:p>
          <a:p>
            <a:r>
              <a:rPr lang="en-US" dirty="0"/>
              <a:t>Returned orders have significantly lower profit than delivered orders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Test 1 — Region vs Stockout</a:t>
            </a:r>
          </a:p>
          <a:p>
            <a:r>
              <a:rPr lang="en-US" dirty="0"/>
              <a:t>H0: Stockout rate is equal across all regions</a:t>
            </a:r>
          </a:p>
          <a:p>
            <a:r>
              <a:rPr lang="en-US" dirty="0"/>
              <a:t>H1: Stockout rate differs significantly by region</a:t>
            </a:r>
          </a:p>
          <a:p>
            <a:endParaRPr lang="en-US" dirty="0"/>
          </a:p>
          <a:p>
            <a:r>
              <a:rPr lang="en-US" dirty="0"/>
              <a:t>Test 2 — Wastage vs Stockout</a:t>
            </a:r>
          </a:p>
          <a:p>
            <a:r>
              <a:rPr lang="en-US" dirty="0"/>
              <a:t>H0: Wastage has no relationship with Stockout</a:t>
            </a:r>
          </a:p>
          <a:p>
            <a:r>
              <a:rPr lang="en-US" dirty="0"/>
              <a:t>H1: Wastage and Stockout are significantly related</a:t>
            </a:r>
          </a:p>
          <a:p>
            <a:endParaRPr lang="en-US" dirty="0"/>
          </a:p>
          <a:p>
            <a:r>
              <a:rPr lang="en-US" dirty="0"/>
              <a:t>Test 3 — Consumption vs Stockout</a:t>
            </a:r>
          </a:p>
          <a:p>
            <a:r>
              <a:rPr lang="en-US" dirty="0"/>
              <a:t>H0: Daily consumption is equal for stockout vs non-stockout records</a:t>
            </a:r>
          </a:p>
          <a:p>
            <a:r>
              <a:rPr lang="en-US" dirty="0"/>
              <a:t>H1: Daily consumption differs significantly</a:t>
            </a:r>
          </a:p>
          <a:p>
            <a:endParaRPr lang="en-US" dirty="0"/>
          </a:p>
          <a:p>
            <a:r>
              <a:rPr lang="en-US" dirty="0"/>
              <a:t>Test 4 — Returned Orders vs Profit</a:t>
            </a:r>
          </a:p>
          <a:p>
            <a:r>
              <a:rPr lang="en-US" dirty="0"/>
              <a:t>H0: Profit is equal across returned and delivered orders</a:t>
            </a:r>
          </a:p>
          <a:p>
            <a:r>
              <a:rPr lang="en-US" dirty="0"/>
              <a:t>H1: Returned orders have significantly lower profit</a:t>
            </a:r>
          </a:p>
          <a:p>
            <a:endParaRPr lang="en-US" dirty="0"/>
          </a:p>
          <a:p>
            <a:r>
              <a:rPr lang="en-US" dirty="0"/>
              <a:t>Test 5 — Category vs Reorder Level</a:t>
            </a:r>
          </a:p>
          <a:p>
            <a:r>
              <a:rPr lang="en-US" dirty="0"/>
              <a:t>H0: Falling below reorder level is independent of category</a:t>
            </a:r>
          </a:p>
          <a:p>
            <a:r>
              <a:rPr lang="en-US" dirty="0"/>
              <a:t>H1: Medicines falling below reorder level differs significantly by category</a:t>
            </a:r>
          </a:p>
        </p:txBody>
      </p:sp>
    </p:spTree>
    <p:extLst>
      <p:ext uri="{BB962C8B-B14F-4D97-AF65-F5344CB8AC3E}">
        <p14:creationId xmlns:p14="http://schemas.microsoft.com/office/powerpoint/2010/main" val="1554637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C84BA-3973-5BB7-7D38-F9D8609FF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F4194-3A8E-C0AA-A43C-814C63369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8438E-85F6-CE3F-E1B9-F1A2C4ACA0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C5251-8D2E-8382-E234-757186FDD559}"/>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99877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C"/>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0E7C86"/>
          </a:solidFill>
          <a:ln w="12700">
            <a:solidFill>
              <a:srgbClr val="0E7C86"/>
            </a:solidFill>
            <a:prstDash val="solid"/>
          </a:ln>
        </p:spPr>
        <p:txBody>
          <a:bodyPr/>
          <a:lstStyle/>
          <a:p>
            <a:endParaRPr lang="en-US"/>
          </a:p>
        </p:txBody>
      </p:sp>
      <p:sp>
        <p:nvSpPr>
          <p:cNvPr id="3" name="Shape 1"/>
          <p:cNvSpPr/>
          <p:nvPr/>
        </p:nvSpPr>
        <p:spPr>
          <a:xfrm>
            <a:off x="502920" y="3200400"/>
            <a:ext cx="8641080" cy="36576"/>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685798" y="332789"/>
            <a:ext cx="8458202" cy="629002"/>
          </a:xfrm>
          <a:prstGeom prst="rect">
            <a:avLst/>
          </a:prstGeom>
          <a:noFill/>
          <a:ln/>
        </p:spPr>
        <p:txBody>
          <a:bodyPr wrap="square" lIns="0" tIns="0" rIns="0" bIns="0" rtlCol="0" anchor="ctr"/>
          <a:lstStyle/>
          <a:p>
            <a:pPr marL="0" indent="0" algn="ctr">
              <a:buNone/>
            </a:pPr>
            <a:r>
              <a:rPr lang="en-US" sz="2400" b="1" kern="0" spc="800" dirty="0">
                <a:solidFill>
                  <a:srgbClr val="1AB5C0"/>
                </a:solidFill>
                <a:latin typeface="Calibri" pitchFamily="34" charset="0"/>
                <a:ea typeface="Calibri" pitchFamily="34" charset="-122"/>
                <a:cs typeface="Calibri" pitchFamily="34" charset="-120"/>
              </a:rPr>
              <a:t>MEDTECH</a:t>
            </a:r>
            <a:endParaRPr lang="en-US" sz="2400" dirty="0"/>
          </a:p>
        </p:txBody>
      </p:sp>
      <p:sp>
        <p:nvSpPr>
          <p:cNvPr id="5" name="Text 3"/>
          <p:cNvSpPr/>
          <p:nvPr/>
        </p:nvSpPr>
        <p:spPr>
          <a:xfrm>
            <a:off x="685800" y="665578"/>
            <a:ext cx="8046720" cy="2498246"/>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Medicine Supply Chain Intelligence</a:t>
            </a:r>
          </a:p>
          <a:p>
            <a:pPr algn="ctr"/>
            <a:r>
              <a:rPr lang="en-US" sz="1600" dirty="0">
                <a:solidFill>
                  <a:schemeClr val="bg1"/>
                </a:solidFill>
              </a:rPr>
              <a:t>A Data-Led Healthcare Strategy</a:t>
            </a:r>
          </a:p>
        </p:txBody>
      </p:sp>
      <p:sp>
        <p:nvSpPr>
          <p:cNvPr id="9" name="Text 7"/>
          <p:cNvSpPr/>
          <p:nvPr/>
        </p:nvSpPr>
        <p:spPr>
          <a:xfrm>
            <a:off x="502920" y="3200400"/>
            <a:ext cx="8641080" cy="1731364"/>
          </a:xfrm>
          <a:prstGeom prst="rect">
            <a:avLst/>
          </a:prstGeom>
          <a:noFill/>
          <a:ln/>
        </p:spPr>
        <p:txBody>
          <a:bodyPr wrap="square" lIns="0" tIns="0" rIns="0" bIns="0" rtlCol="0" anchor="t"/>
          <a:lstStyle/>
          <a:p>
            <a:pPr marL="0" indent="0">
              <a:buNone/>
            </a:pPr>
            <a:endParaRPr lang="en-US" sz="1400" b="1" dirty="0">
              <a:solidFill>
                <a:srgbClr val="FFFFFF"/>
              </a:solidFill>
            </a:endParaRPr>
          </a:p>
          <a:p>
            <a:pPr marL="0" indent="0" algn="ctr">
              <a:buNone/>
            </a:pPr>
            <a:r>
              <a:rPr lang="en-US" sz="1400" b="1" dirty="0">
                <a:solidFill>
                  <a:srgbClr val="FFFFFF"/>
                </a:solidFill>
              </a:rPr>
              <a:t>GROUP : ARSHAD SELIYA &amp; ABHIRUP DASS</a:t>
            </a:r>
          </a:p>
          <a:p>
            <a:pPr marL="0" indent="0">
              <a:buNone/>
            </a:pPr>
            <a:endParaRPr lang="en-US" sz="1400" b="1" dirty="0">
              <a:solidFill>
                <a:srgbClr val="FFFFFF"/>
              </a:solidFill>
            </a:endParaRPr>
          </a:p>
          <a:p>
            <a:pPr marL="0" indent="0" algn="ctr">
              <a:buNone/>
            </a:pPr>
            <a:r>
              <a:rPr lang="en-US" sz="1400" b="1" dirty="0">
                <a:solidFill>
                  <a:srgbClr val="FFFFFF"/>
                </a:solidFill>
              </a:rPr>
              <a:t>PROJECT GUIDE: PRIYA SHANMUGAM</a:t>
            </a:r>
          </a:p>
          <a:p>
            <a:pPr marL="0" indent="0" algn="ctr">
              <a:buNone/>
            </a:pPr>
            <a:endParaRPr lang="en-US" sz="1400" b="1" dirty="0">
              <a:solidFill>
                <a:srgbClr val="FFFFFF"/>
              </a:solidFill>
            </a:endParaRPr>
          </a:p>
          <a:p>
            <a:pPr marL="0" indent="0" algn="ctr">
              <a:buNone/>
            </a:pPr>
            <a:r>
              <a:rPr lang="en-US" sz="1400" b="1" dirty="0">
                <a:solidFill>
                  <a:srgbClr val="FFFFFF"/>
                </a:solidFill>
              </a:rPr>
              <a:t>BATCH NO. DA644S64</a:t>
            </a:r>
          </a:p>
          <a:p>
            <a:pPr marL="0" indent="0">
              <a:buNone/>
            </a:pPr>
            <a:endParaRPr lang="en-US" sz="1400" b="1" dirty="0">
              <a:solidFill>
                <a:srgbClr val="FFFFFF"/>
              </a:solidFill>
            </a:endParaRPr>
          </a:p>
          <a:p>
            <a:pPr marL="0" indent="0" algn="ctr">
              <a:buNone/>
            </a:pPr>
            <a:r>
              <a:rPr lang="en-US" sz="1400" b="1" dirty="0">
                <a:solidFill>
                  <a:srgbClr val="FFFFFF"/>
                </a:solidFill>
              </a:rPr>
              <a:t>COURSE NAME: DATA SCIENCE &amp; ML WITH GEN AI</a:t>
            </a:r>
          </a:p>
          <a:p>
            <a:pPr marL="0" indent="0">
              <a:buNone/>
            </a:pPr>
            <a:endParaRPr lang="en-US" sz="14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C"/>
          </a:solidFill>
          <a:ln w="12700">
            <a:solidFill>
              <a:srgbClr val="0D2B5C"/>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Statement &amp; Objectives</a:t>
            </a:r>
            <a:endParaRPr lang="en-US" sz="2200" dirty="0"/>
          </a:p>
        </p:txBody>
      </p:sp>
      <p:sp>
        <p:nvSpPr>
          <p:cNvPr id="4" name="Shape 2"/>
          <p:cNvSpPr/>
          <p:nvPr/>
        </p:nvSpPr>
        <p:spPr>
          <a:xfrm>
            <a:off x="365760" y="914400"/>
            <a:ext cx="8412480" cy="685800"/>
          </a:xfrm>
          <a:prstGeom prst="rect">
            <a:avLst/>
          </a:prstGeom>
          <a:solidFill>
            <a:srgbClr val="0D2B5C">
              <a:alpha val="12000"/>
            </a:srgbClr>
          </a:solidFill>
          <a:ln w="12700">
            <a:solidFill>
              <a:srgbClr val="0E7C86"/>
            </a:solidFill>
            <a:prstDash val="solid"/>
          </a:ln>
        </p:spPr>
        <p:txBody>
          <a:bodyPr/>
          <a:lstStyle/>
          <a:p>
            <a:endParaRPr lang="en-US"/>
          </a:p>
        </p:txBody>
      </p:sp>
      <p:sp>
        <p:nvSpPr>
          <p:cNvPr id="5" name="Text 3"/>
          <p:cNvSpPr/>
          <p:nvPr/>
        </p:nvSpPr>
        <p:spPr>
          <a:xfrm>
            <a:off x="502920" y="914400"/>
            <a:ext cx="8229600" cy="685800"/>
          </a:xfrm>
          <a:prstGeom prst="rect">
            <a:avLst/>
          </a:prstGeom>
          <a:noFill/>
          <a:ln/>
        </p:spPr>
        <p:txBody>
          <a:bodyPr wrap="square" lIns="50800" tIns="50800" rIns="50800" bIns="5080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A leading healthcare provider experiences medicine unavailability, supply chain inefficiencies, and poor inventory management across 19 regions. The goal is to analyse demand, inventory, consumption, and supplier data to derive actionable insights.</a:t>
            </a:r>
            <a:endParaRPr lang="en-US" sz="1100" b="1" dirty="0"/>
          </a:p>
        </p:txBody>
      </p:sp>
      <p:sp>
        <p:nvSpPr>
          <p:cNvPr id="6" name="Shape 4"/>
          <p:cNvSpPr/>
          <p:nvPr/>
        </p:nvSpPr>
        <p:spPr>
          <a:xfrm>
            <a:off x="365760" y="1737360"/>
            <a:ext cx="3818782" cy="1325880"/>
          </a:xfrm>
          <a:prstGeom prst="rect">
            <a:avLst/>
          </a:prstGeom>
          <a:solidFill>
            <a:srgbClr val="FFFFFF"/>
          </a:solidFill>
          <a:ln w="12700">
            <a:solidFill>
              <a:srgbClr val="E2EAF2"/>
            </a:solidFill>
            <a:prstDash val="solid"/>
          </a:ln>
          <a:effectLst>
            <a:outerShdw blurRad="50800" dist="25400" dir="8100000" algn="bl" rotWithShape="0">
              <a:srgbClr val="000000">
                <a:alpha val="10000"/>
              </a:srgbClr>
            </a:outerShdw>
          </a:effectLst>
        </p:spPr>
        <p:txBody>
          <a:bodyPr/>
          <a:lstStyle/>
          <a:p>
            <a:endParaRPr lang="en-US"/>
          </a:p>
        </p:txBody>
      </p:sp>
      <p:sp>
        <p:nvSpPr>
          <p:cNvPr id="7" name="Shape 5"/>
          <p:cNvSpPr/>
          <p:nvPr/>
        </p:nvSpPr>
        <p:spPr>
          <a:xfrm>
            <a:off x="365760" y="1737360"/>
            <a:ext cx="502920" cy="1325880"/>
          </a:xfrm>
          <a:prstGeom prst="rect">
            <a:avLst/>
          </a:prstGeom>
          <a:solidFill>
            <a:srgbClr val="0E7C86"/>
          </a:solidFill>
          <a:ln w="12700">
            <a:solidFill>
              <a:srgbClr val="0E7C86"/>
            </a:solidFill>
            <a:prstDash val="solid"/>
          </a:ln>
        </p:spPr>
        <p:txBody>
          <a:bodyPr/>
          <a:lstStyle/>
          <a:p>
            <a:endParaRPr lang="en-US"/>
          </a:p>
        </p:txBody>
      </p:sp>
      <p:sp>
        <p:nvSpPr>
          <p:cNvPr id="8" name="Text 6"/>
          <p:cNvSpPr/>
          <p:nvPr/>
        </p:nvSpPr>
        <p:spPr>
          <a:xfrm>
            <a:off x="365760" y="2240280"/>
            <a:ext cx="502920" cy="320040"/>
          </a:xfrm>
          <a:prstGeom prst="rect">
            <a:avLst/>
          </a:prstGeom>
          <a:noFill/>
          <a:ln/>
        </p:spPr>
        <p:txBody>
          <a:bodyPr wrap="square" lIns="0" tIns="0" rIns="0" bIns="0" rtlCol="0" anchor="ctr"/>
          <a:lstStyle/>
          <a:p>
            <a:pPr marL="0" indent="0" algn="ctr">
              <a:buNone/>
            </a:pPr>
            <a:r>
              <a:rPr lang="en-US" sz="900" b="1" dirty="0">
                <a:solidFill>
                  <a:srgbClr val="FFFFFF"/>
                </a:solidFill>
              </a:rPr>
              <a:t>BO1</a:t>
            </a:r>
            <a:endParaRPr lang="en-US" sz="900" dirty="0"/>
          </a:p>
        </p:txBody>
      </p:sp>
      <p:sp>
        <p:nvSpPr>
          <p:cNvPr id="9" name="Text 7"/>
          <p:cNvSpPr/>
          <p:nvPr/>
        </p:nvSpPr>
        <p:spPr>
          <a:xfrm>
            <a:off x="1022891" y="1810512"/>
            <a:ext cx="2240280" cy="347472"/>
          </a:xfrm>
          <a:prstGeom prst="rect">
            <a:avLst/>
          </a:prstGeom>
          <a:noFill/>
          <a:ln/>
        </p:spPr>
        <p:txBody>
          <a:bodyPr wrap="square" lIns="0" tIns="0" rIns="0" bIns="0" rtlCol="0" anchor="ctr"/>
          <a:lstStyle/>
          <a:p>
            <a:pPr marL="0" indent="0">
              <a:buNone/>
            </a:pPr>
            <a:r>
              <a:rPr lang="en-US" sz="1100" b="1" dirty="0">
                <a:solidFill>
                  <a:srgbClr val="0D2B5C"/>
                </a:solidFill>
              </a:rPr>
              <a:t>Minimize Stockouts &amp; Wastage</a:t>
            </a:r>
            <a:endParaRPr lang="en-US" sz="1100" dirty="0"/>
          </a:p>
        </p:txBody>
      </p:sp>
      <p:sp>
        <p:nvSpPr>
          <p:cNvPr id="10" name="Text 8"/>
          <p:cNvSpPr/>
          <p:nvPr/>
        </p:nvSpPr>
        <p:spPr>
          <a:xfrm>
            <a:off x="1022891" y="2159534"/>
            <a:ext cx="3138410" cy="804672"/>
          </a:xfrm>
          <a:prstGeom prst="rect">
            <a:avLst/>
          </a:prstGeom>
          <a:noFill/>
          <a:ln/>
        </p:spPr>
        <p:txBody>
          <a:bodyPr wrap="square" lIns="0" tIns="0" rIns="0" bIns="0" rtlCol="0" anchor="ctr"/>
          <a:lstStyle/>
          <a:p>
            <a:r>
              <a:rPr lang="en-US" sz="1100" b="1" dirty="0">
                <a:solidFill>
                  <a:srgbClr val="64748B"/>
                </a:solidFill>
              </a:rPr>
              <a:t>Reduce medicine unavailability and expiry losses to ensure uninterrupted patient care across 19 regions.</a:t>
            </a:r>
            <a:endParaRPr lang="en-US" sz="1100" b="1" dirty="0"/>
          </a:p>
        </p:txBody>
      </p:sp>
      <p:sp>
        <p:nvSpPr>
          <p:cNvPr id="11" name="Shape 9"/>
          <p:cNvSpPr/>
          <p:nvPr/>
        </p:nvSpPr>
        <p:spPr>
          <a:xfrm>
            <a:off x="5735147" y="1746039"/>
            <a:ext cx="3026047" cy="1325880"/>
          </a:xfrm>
          <a:prstGeom prst="rect">
            <a:avLst/>
          </a:prstGeom>
          <a:solidFill>
            <a:srgbClr val="FFFFFF"/>
          </a:solidFill>
          <a:ln w="12700">
            <a:solidFill>
              <a:srgbClr val="E2EAF2"/>
            </a:solidFill>
            <a:prstDash val="solid"/>
          </a:ln>
          <a:effectLst>
            <a:outerShdw blurRad="50800" dist="25400" dir="8100000" algn="bl" rotWithShape="0">
              <a:srgbClr val="000000">
                <a:alpha val="10000"/>
              </a:srgbClr>
            </a:outerShdw>
          </a:effectLst>
        </p:spPr>
        <p:txBody>
          <a:bodyPr/>
          <a:lstStyle/>
          <a:p>
            <a:endParaRPr lang="en-US"/>
          </a:p>
        </p:txBody>
      </p:sp>
      <p:sp>
        <p:nvSpPr>
          <p:cNvPr id="12" name="Shape 10"/>
          <p:cNvSpPr/>
          <p:nvPr/>
        </p:nvSpPr>
        <p:spPr>
          <a:xfrm>
            <a:off x="5255475" y="1746039"/>
            <a:ext cx="502920" cy="1325880"/>
          </a:xfrm>
          <a:prstGeom prst="rect">
            <a:avLst/>
          </a:prstGeom>
          <a:solidFill>
            <a:srgbClr val="0E7C86"/>
          </a:solidFill>
          <a:ln w="12700">
            <a:solidFill>
              <a:srgbClr val="0E7C86"/>
            </a:solidFill>
            <a:prstDash val="solid"/>
          </a:ln>
        </p:spPr>
        <p:txBody>
          <a:bodyPr/>
          <a:lstStyle/>
          <a:p>
            <a:endParaRPr lang="en-US"/>
          </a:p>
        </p:txBody>
      </p:sp>
      <p:sp>
        <p:nvSpPr>
          <p:cNvPr id="13" name="Text 11"/>
          <p:cNvSpPr/>
          <p:nvPr/>
        </p:nvSpPr>
        <p:spPr>
          <a:xfrm>
            <a:off x="5232226" y="2213933"/>
            <a:ext cx="502920" cy="320040"/>
          </a:xfrm>
          <a:prstGeom prst="rect">
            <a:avLst/>
          </a:prstGeom>
          <a:noFill/>
          <a:ln/>
        </p:spPr>
        <p:txBody>
          <a:bodyPr wrap="square" lIns="0" tIns="0" rIns="0" bIns="0" rtlCol="0" anchor="ctr"/>
          <a:lstStyle/>
          <a:p>
            <a:pPr marL="0" indent="0" algn="ctr">
              <a:buNone/>
            </a:pPr>
            <a:r>
              <a:rPr lang="en-US" sz="900" b="1" dirty="0">
                <a:solidFill>
                  <a:srgbClr val="FFFFFF"/>
                </a:solidFill>
              </a:rPr>
              <a:t>BO2</a:t>
            </a:r>
            <a:endParaRPr lang="en-US" sz="900" dirty="0"/>
          </a:p>
        </p:txBody>
      </p:sp>
      <p:sp>
        <p:nvSpPr>
          <p:cNvPr id="14" name="Text 12"/>
          <p:cNvSpPr/>
          <p:nvPr/>
        </p:nvSpPr>
        <p:spPr>
          <a:xfrm>
            <a:off x="5905624" y="1787729"/>
            <a:ext cx="2240280" cy="347472"/>
          </a:xfrm>
          <a:prstGeom prst="rect">
            <a:avLst/>
          </a:prstGeom>
          <a:noFill/>
          <a:ln/>
        </p:spPr>
        <p:txBody>
          <a:bodyPr wrap="square" lIns="0" tIns="0" rIns="0" bIns="0" rtlCol="0" anchor="ctr"/>
          <a:lstStyle/>
          <a:p>
            <a:pPr marL="0" indent="0">
              <a:buNone/>
            </a:pPr>
            <a:r>
              <a:rPr lang="en-US" sz="1100" b="1" dirty="0">
                <a:solidFill>
                  <a:srgbClr val="0D2B5C"/>
                </a:solidFill>
              </a:rPr>
              <a:t>Enhance Supply Chain Reliability</a:t>
            </a:r>
            <a:endParaRPr lang="en-US" sz="1100" dirty="0"/>
          </a:p>
        </p:txBody>
      </p:sp>
      <p:sp>
        <p:nvSpPr>
          <p:cNvPr id="15" name="Text 13"/>
          <p:cNvSpPr/>
          <p:nvPr/>
        </p:nvSpPr>
        <p:spPr>
          <a:xfrm>
            <a:off x="5905624" y="2048566"/>
            <a:ext cx="2734680" cy="804672"/>
          </a:xfrm>
          <a:prstGeom prst="rect">
            <a:avLst/>
          </a:prstGeom>
          <a:noFill/>
          <a:ln/>
        </p:spPr>
        <p:txBody>
          <a:bodyPr wrap="square" lIns="0" tIns="0" rIns="0" bIns="0" rtlCol="0" anchor="ctr"/>
          <a:lstStyle/>
          <a:p>
            <a:r>
              <a:rPr lang="en-US" sz="1100" b="1" dirty="0">
                <a:solidFill>
                  <a:srgbClr val="64748B"/>
                </a:solidFill>
              </a:rPr>
              <a:t>Benchmark supplier lead times and delivery rates to reduce supply disruptions and procurement risks.</a:t>
            </a:r>
            <a:endParaRPr lang="en-US" sz="1100" b="1" dirty="0"/>
          </a:p>
        </p:txBody>
      </p:sp>
      <p:sp>
        <p:nvSpPr>
          <p:cNvPr id="16" name="Shape 14"/>
          <p:cNvSpPr/>
          <p:nvPr/>
        </p:nvSpPr>
        <p:spPr>
          <a:xfrm>
            <a:off x="5232226" y="3246120"/>
            <a:ext cx="3546013" cy="1325880"/>
          </a:xfrm>
          <a:prstGeom prst="rect">
            <a:avLst/>
          </a:prstGeom>
          <a:solidFill>
            <a:srgbClr val="FFFFFF"/>
          </a:solidFill>
          <a:ln w="12700">
            <a:solidFill>
              <a:srgbClr val="E2EAF2"/>
            </a:solidFill>
            <a:prstDash val="solid"/>
          </a:ln>
          <a:effectLst>
            <a:outerShdw blurRad="50800" dist="25400" dir="8100000" algn="bl" rotWithShape="0">
              <a:srgbClr val="000000">
                <a:alpha val="10000"/>
              </a:srgbClr>
            </a:outerShdw>
          </a:effectLst>
        </p:spPr>
        <p:txBody>
          <a:bodyPr/>
          <a:lstStyle/>
          <a:p>
            <a:endParaRPr lang="en-US"/>
          </a:p>
        </p:txBody>
      </p:sp>
      <p:sp>
        <p:nvSpPr>
          <p:cNvPr id="17" name="Shape 15"/>
          <p:cNvSpPr/>
          <p:nvPr/>
        </p:nvSpPr>
        <p:spPr>
          <a:xfrm>
            <a:off x="5232227" y="3246120"/>
            <a:ext cx="502920" cy="1325880"/>
          </a:xfrm>
          <a:prstGeom prst="rect">
            <a:avLst/>
          </a:prstGeom>
          <a:solidFill>
            <a:srgbClr val="0E7C86"/>
          </a:solidFill>
          <a:ln w="12700">
            <a:solidFill>
              <a:srgbClr val="0E7C86"/>
            </a:solidFill>
            <a:prstDash val="solid"/>
          </a:ln>
        </p:spPr>
        <p:txBody>
          <a:bodyPr/>
          <a:lstStyle/>
          <a:p>
            <a:endParaRPr lang="en-US"/>
          </a:p>
        </p:txBody>
      </p:sp>
      <p:sp>
        <p:nvSpPr>
          <p:cNvPr id="18" name="Text 16"/>
          <p:cNvSpPr/>
          <p:nvPr/>
        </p:nvSpPr>
        <p:spPr>
          <a:xfrm>
            <a:off x="5240750" y="3742066"/>
            <a:ext cx="502920" cy="320040"/>
          </a:xfrm>
          <a:prstGeom prst="rect">
            <a:avLst/>
          </a:prstGeom>
          <a:noFill/>
          <a:ln/>
        </p:spPr>
        <p:txBody>
          <a:bodyPr wrap="square" lIns="0" tIns="0" rIns="0" bIns="0" rtlCol="0" anchor="ctr"/>
          <a:lstStyle/>
          <a:p>
            <a:pPr marL="0" indent="0" algn="ctr">
              <a:buNone/>
            </a:pPr>
            <a:r>
              <a:rPr lang="en-US" sz="900" b="1" dirty="0">
                <a:solidFill>
                  <a:srgbClr val="FFFFFF"/>
                </a:solidFill>
              </a:rPr>
              <a:t>BO3</a:t>
            </a:r>
            <a:endParaRPr lang="en-US" sz="900" dirty="0"/>
          </a:p>
        </p:txBody>
      </p:sp>
      <p:sp>
        <p:nvSpPr>
          <p:cNvPr id="19" name="Text 17"/>
          <p:cNvSpPr/>
          <p:nvPr/>
        </p:nvSpPr>
        <p:spPr>
          <a:xfrm>
            <a:off x="5989320" y="3319272"/>
            <a:ext cx="2650984" cy="347472"/>
          </a:xfrm>
          <a:prstGeom prst="rect">
            <a:avLst/>
          </a:prstGeom>
          <a:noFill/>
          <a:ln/>
        </p:spPr>
        <p:txBody>
          <a:bodyPr wrap="square" lIns="0" tIns="0" rIns="0" bIns="0" rtlCol="0" anchor="ctr"/>
          <a:lstStyle/>
          <a:p>
            <a:pPr marL="0" indent="0">
              <a:buNone/>
            </a:pPr>
            <a:r>
              <a:rPr lang="en-US" sz="1100" b="1" dirty="0">
                <a:solidFill>
                  <a:srgbClr val="0D2B5C"/>
                </a:solidFill>
              </a:rPr>
              <a:t>Regional Demand Forecasting</a:t>
            </a:r>
            <a:endParaRPr lang="en-US" sz="1100" dirty="0"/>
          </a:p>
        </p:txBody>
      </p:sp>
      <p:sp>
        <p:nvSpPr>
          <p:cNvPr id="20" name="Text 18"/>
          <p:cNvSpPr/>
          <p:nvPr/>
        </p:nvSpPr>
        <p:spPr>
          <a:xfrm>
            <a:off x="5835109" y="3584603"/>
            <a:ext cx="2805195" cy="804672"/>
          </a:xfrm>
          <a:prstGeom prst="rect">
            <a:avLst/>
          </a:prstGeom>
          <a:noFill/>
          <a:ln/>
        </p:spPr>
        <p:txBody>
          <a:bodyPr wrap="square" lIns="0" tIns="0" rIns="0" bIns="0" rtlCol="0" anchor="ctr"/>
          <a:lstStyle/>
          <a:p>
            <a:r>
              <a:rPr lang="en-US" sz="1100" b="1" dirty="0">
                <a:solidFill>
                  <a:srgbClr val="64748B"/>
                </a:solidFill>
              </a:rPr>
              <a:t>Uncover regional consumption trends to enable proactive, data-driven procurement planning.</a:t>
            </a:r>
            <a:endParaRPr lang="en-US" sz="1100" b="1" dirty="0"/>
          </a:p>
        </p:txBody>
      </p:sp>
      <p:sp>
        <p:nvSpPr>
          <p:cNvPr id="21" name="Shape 19"/>
          <p:cNvSpPr/>
          <p:nvPr/>
        </p:nvSpPr>
        <p:spPr>
          <a:xfrm>
            <a:off x="365760" y="3246120"/>
            <a:ext cx="3818782" cy="1325880"/>
          </a:xfrm>
          <a:prstGeom prst="rect">
            <a:avLst/>
          </a:prstGeom>
          <a:solidFill>
            <a:srgbClr val="FFFFFF"/>
          </a:solidFill>
          <a:ln w="12700">
            <a:solidFill>
              <a:srgbClr val="E2EAF2"/>
            </a:solidFill>
            <a:prstDash val="solid"/>
          </a:ln>
          <a:effectLst>
            <a:outerShdw blurRad="50800" dist="25400" dir="8100000" algn="bl" rotWithShape="0">
              <a:srgbClr val="000000">
                <a:alpha val="10000"/>
              </a:srgbClr>
            </a:outerShdw>
          </a:effectLst>
        </p:spPr>
        <p:txBody>
          <a:bodyPr/>
          <a:lstStyle/>
          <a:p>
            <a:endParaRPr lang="en-US"/>
          </a:p>
        </p:txBody>
      </p:sp>
      <p:sp>
        <p:nvSpPr>
          <p:cNvPr id="22" name="Shape 20"/>
          <p:cNvSpPr/>
          <p:nvPr/>
        </p:nvSpPr>
        <p:spPr>
          <a:xfrm>
            <a:off x="365760" y="3246120"/>
            <a:ext cx="502920" cy="1325880"/>
          </a:xfrm>
          <a:prstGeom prst="rect">
            <a:avLst/>
          </a:prstGeom>
          <a:solidFill>
            <a:srgbClr val="0E7C86"/>
          </a:solidFill>
          <a:ln w="12700">
            <a:solidFill>
              <a:srgbClr val="0E7C86"/>
            </a:solidFill>
            <a:prstDash val="solid"/>
          </a:ln>
        </p:spPr>
        <p:txBody>
          <a:bodyPr/>
          <a:lstStyle/>
          <a:p>
            <a:endParaRPr lang="en-US"/>
          </a:p>
        </p:txBody>
      </p:sp>
      <p:sp>
        <p:nvSpPr>
          <p:cNvPr id="23" name="Text 21"/>
          <p:cNvSpPr/>
          <p:nvPr/>
        </p:nvSpPr>
        <p:spPr>
          <a:xfrm>
            <a:off x="365760" y="3749040"/>
            <a:ext cx="502920" cy="320040"/>
          </a:xfrm>
          <a:prstGeom prst="rect">
            <a:avLst/>
          </a:prstGeom>
          <a:noFill/>
          <a:ln/>
        </p:spPr>
        <p:txBody>
          <a:bodyPr wrap="square" lIns="0" tIns="0" rIns="0" bIns="0" rtlCol="0" anchor="ctr"/>
          <a:lstStyle/>
          <a:p>
            <a:pPr marL="0" indent="0" algn="ctr">
              <a:buNone/>
            </a:pPr>
            <a:r>
              <a:rPr lang="en-US" sz="900" b="1" dirty="0">
                <a:solidFill>
                  <a:srgbClr val="FFFFFF"/>
                </a:solidFill>
              </a:rPr>
              <a:t>BO4</a:t>
            </a:r>
            <a:endParaRPr lang="en-US" sz="900" dirty="0"/>
          </a:p>
        </p:txBody>
      </p:sp>
      <p:sp>
        <p:nvSpPr>
          <p:cNvPr id="24" name="Text 22"/>
          <p:cNvSpPr/>
          <p:nvPr/>
        </p:nvSpPr>
        <p:spPr>
          <a:xfrm>
            <a:off x="1014368" y="3319272"/>
            <a:ext cx="2240280" cy="347472"/>
          </a:xfrm>
          <a:prstGeom prst="rect">
            <a:avLst/>
          </a:prstGeom>
          <a:noFill/>
          <a:ln/>
        </p:spPr>
        <p:txBody>
          <a:bodyPr wrap="square" lIns="0" tIns="0" rIns="0" bIns="0" rtlCol="0" anchor="ctr"/>
          <a:lstStyle/>
          <a:p>
            <a:pPr marL="0" indent="0">
              <a:buNone/>
            </a:pPr>
            <a:r>
              <a:rPr lang="en-US" sz="1100" b="1" dirty="0">
                <a:solidFill>
                  <a:srgbClr val="0D2B5C"/>
                </a:solidFill>
              </a:rPr>
              <a:t>Procurement Cost Efficiency</a:t>
            </a:r>
            <a:endParaRPr lang="en-US" sz="1100" dirty="0"/>
          </a:p>
        </p:txBody>
      </p:sp>
      <p:sp>
        <p:nvSpPr>
          <p:cNvPr id="25" name="Text 23"/>
          <p:cNvSpPr/>
          <p:nvPr/>
        </p:nvSpPr>
        <p:spPr>
          <a:xfrm>
            <a:off x="1022891" y="3593747"/>
            <a:ext cx="3029919" cy="804672"/>
          </a:xfrm>
          <a:prstGeom prst="rect">
            <a:avLst/>
          </a:prstGeom>
          <a:noFill/>
          <a:ln/>
        </p:spPr>
        <p:txBody>
          <a:bodyPr wrap="square" lIns="0" tIns="0" rIns="0" bIns="0" rtlCol="0" anchor="ctr"/>
          <a:lstStyle/>
          <a:p>
            <a:r>
              <a:rPr lang="en-US" sz="1100" b="1" dirty="0">
                <a:solidFill>
                  <a:srgbClr val="64748B"/>
                </a:solidFill>
              </a:rPr>
              <a:t>Align unit costs with turnover rates to identify return losses and maximize profit margins.</a:t>
            </a:r>
            <a:endParaRPr lang="en-US" sz="11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7C86"/>
          </a:solidFill>
          <a:ln w="12700">
            <a:solidFill>
              <a:srgbClr val="0E7C86"/>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Overview</a:t>
            </a:r>
            <a:endParaRPr lang="en-US" sz="2200" dirty="0"/>
          </a:p>
        </p:txBody>
      </p:sp>
      <p:sp>
        <p:nvSpPr>
          <p:cNvPr id="4" name="Shape 2"/>
          <p:cNvSpPr/>
          <p:nvPr/>
        </p:nvSpPr>
        <p:spPr>
          <a:xfrm>
            <a:off x="274320" y="914400"/>
            <a:ext cx="2057400" cy="2758190"/>
          </a:xfrm>
          <a:prstGeom prst="rect">
            <a:avLst/>
          </a:prstGeom>
          <a:solidFill>
            <a:srgbClr val="FFFFFF"/>
          </a:solidFill>
          <a:ln w="12700">
            <a:solidFill>
              <a:srgbClr val="E2EAF2"/>
            </a:solidFill>
            <a:prstDash val="solid"/>
          </a:ln>
          <a:effectLst>
            <a:outerShdw blurRad="63500" dist="25400" dir="8100000" algn="bl" rotWithShape="0">
              <a:srgbClr val="000000">
                <a:alpha val="12000"/>
              </a:srgbClr>
            </a:outerShdw>
          </a:effectLst>
        </p:spPr>
        <p:txBody>
          <a:bodyPr/>
          <a:lstStyle/>
          <a:p>
            <a:endParaRPr lang="en-US" dirty="0"/>
          </a:p>
        </p:txBody>
      </p:sp>
      <p:sp>
        <p:nvSpPr>
          <p:cNvPr id="5" name="Shape 3"/>
          <p:cNvSpPr/>
          <p:nvPr/>
        </p:nvSpPr>
        <p:spPr>
          <a:xfrm>
            <a:off x="274320" y="914400"/>
            <a:ext cx="2057400" cy="685800"/>
          </a:xfrm>
          <a:prstGeom prst="rect">
            <a:avLst/>
          </a:prstGeom>
          <a:solidFill>
            <a:srgbClr val="0D2B5C"/>
          </a:solidFill>
          <a:ln w="12700">
            <a:solidFill>
              <a:srgbClr val="0D2B5C"/>
            </a:solidFill>
            <a:prstDash val="solid"/>
          </a:ln>
        </p:spPr>
        <p:txBody>
          <a:bodyPr/>
          <a:lstStyle/>
          <a:p>
            <a:pPr algn="ctr"/>
            <a:endParaRPr lang="en-US" dirty="0"/>
          </a:p>
        </p:txBody>
      </p:sp>
      <p:sp>
        <p:nvSpPr>
          <p:cNvPr id="6" name="Text 4"/>
          <p:cNvSpPr/>
          <p:nvPr/>
        </p:nvSpPr>
        <p:spPr>
          <a:xfrm>
            <a:off x="347472" y="914400"/>
            <a:ext cx="1920240" cy="685800"/>
          </a:xfrm>
          <a:prstGeom prst="rect">
            <a:avLst/>
          </a:prstGeom>
          <a:noFill/>
          <a:ln/>
        </p:spPr>
        <p:txBody>
          <a:bodyPr wrap="square" lIns="0" tIns="0" rIns="0" bIns="0" rtlCol="0" anchor="ctr"/>
          <a:lstStyle/>
          <a:p>
            <a:pPr marL="0" indent="0" algn="ctr">
              <a:buNone/>
            </a:pPr>
            <a:r>
              <a:rPr lang="en-US" sz="950" b="1" dirty="0">
                <a:solidFill>
                  <a:srgbClr val="FFFFFF"/>
                </a:solidFill>
              </a:rPr>
              <a:t>Consumption facility</a:t>
            </a:r>
            <a:endParaRPr lang="en-US" sz="950" dirty="0"/>
          </a:p>
        </p:txBody>
      </p:sp>
      <p:sp>
        <p:nvSpPr>
          <p:cNvPr id="7" name="Text 5"/>
          <p:cNvSpPr/>
          <p:nvPr/>
        </p:nvSpPr>
        <p:spPr>
          <a:xfrm>
            <a:off x="274320" y="1627632"/>
            <a:ext cx="2057400" cy="411480"/>
          </a:xfrm>
          <a:prstGeom prst="rect">
            <a:avLst/>
          </a:prstGeom>
          <a:noFill/>
          <a:ln/>
        </p:spPr>
        <p:txBody>
          <a:bodyPr wrap="square" lIns="0" tIns="0" rIns="0" bIns="0" rtlCol="0" anchor="ctr"/>
          <a:lstStyle/>
          <a:p>
            <a:pPr marL="0" indent="0" algn="ctr">
              <a:buNone/>
            </a:pPr>
            <a:r>
              <a:rPr lang="en-US" sz="2200" b="1" dirty="0">
                <a:solidFill>
                  <a:srgbClr val="0D2B5C"/>
                </a:solidFill>
              </a:rPr>
              <a:t>11,111</a:t>
            </a:r>
            <a:endParaRPr lang="en-US" sz="2200" dirty="0"/>
          </a:p>
        </p:txBody>
      </p:sp>
      <p:sp>
        <p:nvSpPr>
          <p:cNvPr id="8" name="Text 6"/>
          <p:cNvSpPr/>
          <p:nvPr/>
        </p:nvSpPr>
        <p:spPr>
          <a:xfrm>
            <a:off x="274320" y="2011680"/>
            <a:ext cx="2057400" cy="228600"/>
          </a:xfrm>
          <a:prstGeom prst="rect">
            <a:avLst/>
          </a:prstGeom>
          <a:noFill/>
          <a:ln/>
        </p:spPr>
        <p:txBody>
          <a:bodyPr wrap="square" lIns="0" tIns="0" rIns="0" bIns="0" rtlCol="0" anchor="ctr"/>
          <a:lstStyle/>
          <a:p>
            <a:pPr marL="0" indent="0" algn="ctr">
              <a:buNone/>
            </a:pPr>
            <a:r>
              <a:rPr lang="en-US" sz="900" dirty="0">
                <a:solidFill>
                  <a:srgbClr val="64748B"/>
                </a:solidFill>
              </a:rPr>
              <a:t>records</a:t>
            </a:r>
            <a:endParaRPr lang="en-US" sz="900" dirty="0"/>
          </a:p>
        </p:txBody>
      </p:sp>
      <p:sp>
        <p:nvSpPr>
          <p:cNvPr id="9" name="Text 7"/>
          <p:cNvSpPr/>
          <p:nvPr/>
        </p:nvSpPr>
        <p:spPr>
          <a:xfrm>
            <a:off x="274320" y="2240280"/>
            <a:ext cx="2057400" cy="228600"/>
          </a:xfrm>
          <a:prstGeom prst="rect">
            <a:avLst/>
          </a:prstGeom>
          <a:noFill/>
          <a:ln/>
        </p:spPr>
        <p:txBody>
          <a:bodyPr wrap="square" lIns="0" tIns="0" rIns="0" bIns="0" rtlCol="0" anchor="ctr"/>
          <a:lstStyle/>
          <a:p>
            <a:pPr marL="0" indent="0" algn="ctr">
              <a:buNone/>
            </a:pPr>
            <a:r>
              <a:rPr lang="en-US" sz="900" i="1" dirty="0">
                <a:solidFill>
                  <a:srgbClr val="64748B"/>
                </a:solidFill>
              </a:rPr>
              <a:t>13 columns</a:t>
            </a:r>
            <a:endParaRPr lang="en-US" sz="900" dirty="0"/>
          </a:p>
        </p:txBody>
      </p:sp>
      <p:sp>
        <p:nvSpPr>
          <p:cNvPr id="10" name="Shape 8"/>
          <p:cNvSpPr/>
          <p:nvPr/>
        </p:nvSpPr>
        <p:spPr>
          <a:xfrm>
            <a:off x="457200" y="2496312"/>
            <a:ext cx="1691640" cy="0"/>
          </a:xfrm>
          <a:prstGeom prst="line">
            <a:avLst/>
          </a:prstGeom>
          <a:noFill/>
          <a:ln w="12700">
            <a:solidFill>
              <a:srgbClr val="E2EAF2"/>
            </a:solidFill>
            <a:prstDash val="solid"/>
          </a:ln>
        </p:spPr>
        <p:txBody>
          <a:bodyPr/>
          <a:lstStyle/>
          <a:p>
            <a:endParaRPr lang="en-US"/>
          </a:p>
        </p:txBody>
      </p:sp>
      <p:sp>
        <p:nvSpPr>
          <p:cNvPr id="11" name="Text 9"/>
          <p:cNvSpPr/>
          <p:nvPr/>
        </p:nvSpPr>
        <p:spPr>
          <a:xfrm>
            <a:off x="384048" y="2560320"/>
            <a:ext cx="1874520" cy="1234440"/>
          </a:xfrm>
          <a:prstGeom prst="rect">
            <a:avLst/>
          </a:prstGeom>
          <a:noFill/>
          <a:ln/>
        </p:spPr>
        <p:txBody>
          <a:bodyPr wrap="square" rtlCol="0" anchor="t"/>
          <a:lstStyle/>
          <a:p>
            <a:pPr marL="0" indent="0">
              <a:buNone/>
            </a:pPr>
            <a:endParaRPr lang="en-US" sz="850" dirty="0"/>
          </a:p>
        </p:txBody>
      </p:sp>
      <p:sp>
        <p:nvSpPr>
          <p:cNvPr id="12" name="Shape 10"/>
          <p:cNvSpPr/>
          <p:nvPr/>
        </p:nvSpPr>
        <p:spPr>
          <a:xfrm>
            <a:off x="2450592" y="914400"/>
            <a:ext cx="2057400" cy="2758190"/>
          </a:xfrm>
          <a:prstGeom prst="rect">
            <a:avLst/>
          </a:prstGeom>
          <a:solidFill>
            <a:srgbClr val="FFFFFF"/>
          </a:solidFill>
          <a:ln w="12700">
            <a:solidFill>
              <a:srgbClr val="E2EAF2"/>
            </a:solidFill>
            <a:prstDash val="solid"/>
          </a:ln>
          <a:effectLst>
            <a:outerShdw blurRad="63500" dist="25400" dir="8100000" algn="bl" rotWithShape="0">
              <a:srgbClr val="000000">
                <a:alpha val="12000"/>
              </a:srgbClr>
            </a:outerShdw>
          </a:effectLst>
        </p:spPr>
        <p:txBody>
          <a:bodyPr/>
          <a:lstStyle/>
          <a:p>
            <a:endParaRPr lang="en-US" dirty="0"/>
          </a:p>
        </p:txBody>
      </p:sp>
      <p:sp>
        <p:nvSpPr>
          <p:cNvPr id="13" name="Shape 11"/>
          <p:cNvSpPr/>
          <p:nvPr/>
        </p:nvSpPr>
        <p:spPr>
          <a:xfrm>
            <a:off x="2450592" y="914400"/>
            <a:ext cx="2057400" cy="685800"/>
          </a:xfrm>
          <a:prstGeom prst="rect">
            <a:avLst/>
          </a:prstGeom>
          <a:solidFill>
            <a:srgbClr val="0E7C86"/>
          </a:solidFill>
          <a:ln w="12700">
            <a:solidFill>
              <a:srgbClr val="0E7C86"/>
            </a:solidFill>
            <a:prstDash val="solid"/>
          </a:ln>
        </p:spPr>
        <p:txBody>
          <a:bodyPr/>
          <a:lstStyle/>
          <a:p>
            <a:endParaRPr lang="en-US" dirty="0"/>
          </a:p>
        </p:txBody>
      </p:sp>
      <p:sp>
        <p:nvSpPr>
          <p:cNvPr id="14" name="Text 12"/>
          <p:cNvSpPr/>
          <p:nvPr/>
        </p:nvSpPr>
        <p:spPr>
          <a:xfrm>
            <a:off x="2523744" y="914400"/>
            <a:ext cx="1920240" cy="685800"/>
          </a:xfrm>
          <a:prstGeom prst="rect">
            <a:avLst/>
          </a:prstGeom>
          <a:noFill/>
          <a:ln/>
        </p:spPr>
        <p:txBody>
          <a:bodyPr wrap="square" lIns="0" tIns="0" rIns="0" bIns="0" rtlCol="0" anchor="ctr"/>
          <a:lstStyle/>
          <a:p>
            <a:pPr marL="0" indent="0" algn="ctr">
              <a:buNone/>
            </a:pPr>
            <a:r>
              <a:rPr lang="en-US" sz="950" b="1" dirty="0">
                <a:solidFill>
                  <a:srgbClr val="FFFFFF"/>
                </a:solidFill>
              </a:rPr>
              <a:t>Demand Sales</a:t>
            </a:r>
            <a:endParaRPr lang="en-US" sz="950" dirty="0"/>
          </a:p>
        </p:txBody>
      </p:sp>
      <p:sp>
        <p:nvSpPr>
          <p:cNvPr id="15" name="Text 13"/>
          <p:cNvSpPr/>
          <p:nvPr/>
        </p:nvSpPr>
        <p:spPr>
          <a:xfrm>
            <a:off x="2450592" y="1627632"/>
            <a:ext cx="2057400" cy="411480"/>
          </a:xfrm>
          <a:prstGeom prst="rect">
            <a:avLst/>
          </a:prstGeom>
          <a:noFill/>
          <a:ln/>
        </p:spPr>
        <p:txBody>
          <a:bodyPr wrap="square" lIns="0" tIns="0" rIns="0" bIns="0" rtlCol="0" anchor="ctr"/>
          <a:lstStyle/>
          <a:p>
            <a:pPr marL="0" indent="0" algn="ctr">
              <a:buNone/>
            </a:pPr>
            <a:r>
              <a:rPr lang="en-US" sz="2200" b="1" dirty="0">
                <a:solidFill>
                  <a:srgbClr val="0E7C86"/>
                </a:solidFill>
              </a:rPr>
              <a:t>14,218</a:t>
            </a:r>
            <a:endParaRPr lang="en-US" sz="2200" dirty="0"/>
          </a:p>
        </p:txBody>
      </p:sp>
      <p:sp>
        <p:nvSpPr>
          <p:cNvPr id="16" name="Text 14"/>
          <p:cNvSpPr/>
          <p:nvPr/>
        </p:nvSpPr>
        <p:spPr>
          <a:xfrm>
            <a:off x="2450592" y="2011680"/>
            <a:ext cx="2057400" cy="228600"/>
          </a:xfrm>
          <a:prstGeom prst="rect">
            <a:avLst/>
          </a:prstGeom>
          <a:noFill/>
          <a:ln/>
        </p:spPr>
        <p:txBody>
          <a:bodyPr wrap="square" lIns="0" tIns="0" rIns="0" bIns="0" rtlCol="0" anchor="ctr"/>
          <a:lstStyle/>
          <a:p>
            <a:pPr marL="0" indent="0" algn="ctr">
              <a:buNone/>
            </a:pPr>
            <a:r>
              <a:rPr lang="en-US" sz="900" dirty="0">
                <a:solidFill>
                  <a:srgbClr val="64748B"/>
                </a:solidFill>
              </a:rPr>
              <a:t>records</a:t>
            </a:r>
            <a:endParaRPr lang="en-US" sz="900" dirty="0"/>
          </a:p>
        </p:txBody>
      </p:sp>
      <p:sp>
        <p:nvSpPr>
          <p:cNvPr id="17" name="Text 15"/>
          <p:cNvSpPr/>
          <p:nvPr/>
        </p:nvSpPr>
        <p:spPr>
          <a:xfrm>
            <a:off x="2450592" y="2240280"/>
            <a:ext cx="2057400" cy="228600"/>
          </a:xfrm>
          <a:prstGeom prst="rect">
            <a:avLst/>
          </a:prstGeom>
          <a:noFill/>
          <a:ln/>
        </p:spPr>
        <p:txBody>
          <a:bodyPr wrap="square" lIns="0" tIns="0" rIns="0" bIns="0" rtlCol="0" anchor="ctr"/>
          <a:lstStyle/>
          <a:p>
            <a:pPr marL="0" indent="0" algn="ctr">
              <a:buNone/>
            </a:pPr>
            <a:r>
              <a:rPr lang="en-US" sz="900" i="1" dirty="0">
                <a:solidFill>
                  <a:srgbClr val="64748B"/>
                </a:solidFill>
              </a:rPr>
              <a:t>22 columns</a:t>
            </a:r>
            <a:endParaRPr lang="en-US" sz="900" dirty="0"/>
          </a:p>
        </p:txBody>
      </p:sp>
      <p:sp>
        <p:nvSpPr>
          <p:cNvPr id="18" name="Shape 16"/>
          <p:cNvSpPr/>
          <p:nvPr/>
        </p:nvSpPr>
        <p:spPr>
          <a:xfrm>
            <a:off x="2633472" y="2496312"/>
            <a:ext cx="1691640" cy="0"/>
          </a:xfrm>
          <a:prstGeom prst="line">
            <a:avLst/>
          </a:prstGeom>
          <a:noFill/>
          <a:ln w="12700">
            <a:solidFill>
              <a:srgbClr val="E2EAF2"/>
            </a:solidFill>
            <a:prstDash val="solid"/>
          </a:ln>
        </p:spPr>
        <p:txBody>
          <a:bodyPr/>
          <a:lstStyle/>
          <a:p>
            <a:endParaRPr lang="en-US"/>
          </a:p>
        </p:txBody>
      </p:sp>
      <p:sp>
        <p:nvSpPr>
          <p:cNvPr id="19" name="Text 17"/>
          <p:cNvSpPr/>
          <p:nvPr/>
        </p:nvSpPr>
        <p:spPr>
          <a:xfrm>
            <a:off x="2560320" y="2560320"/>
            <a:ext cx="1874520" cy="1234440"/>
          </a:xfrm>
          <a:prstGeom prst="rect">
            <a:avLst/>
          </a:prstGeom>
          <a:noFill/>
          <a:ln/>
        </p:spPr>
        <p:txBody>
          <a:bodyPr wrap="square" rtlCol="0" anchor="t"/>
          <a:lstStyle/>
          <a:p>
            <a:pPr marL="0" indent="0">
              <a:buNone/>
            </a:pPr>
            <a:endParaRPr lang="en-US" sz="850" dirty="0"/>
          </a:p>
        </p:txBody>
      </p:sp>
      <p:sp>
        <p:nvSpPr>
          <p:cNvPr id="20" name="Shape 18"/>
          <p:cNvSpPr/>
          <p:nvPr/>
        </p:nvSpPr>
        <p:spPr>
          <a:xfrm>
            <a:off x="4626864" y="914400"/>
            <a:ext cx="2057400" cy="2758190"/>
          </a:xfrm>
          <a:prstGeom prst="rect">
            <a:avLst/>
          </a:prstGeom>
          <a:solidFill>
            <a:srgbClr val="FFFFFF"/>
          </a:solidFill>
          <a:ln w="12700">
            <a:solidFill>
              <a:srgbClr val="E2EAF2"/>
            </a:solidFill>
            <a:prstDash val="solid"/>
          </a:ln>
          <a:effectLst>
            <a:outerShdw blurRad="63500" dist="25400" dir="8100000" algn="bl" rotWithShape="0">
              <a:srgbClr val="000000">
                <a:alpha val="12000"/>
              </a:srgbClr>
            </a:outerShdw>
          </a:effectLst>
        </p:spPr>
        <p:txBody>
          <a:bodyPr/>
          <a:lstStyle/>
          <a:p>
            <a:endParaRPr lang="en-US"/>
          </a:p>
        </p:txBody>
      </p:sp>
      <p:sp>
        <p:nvSpPr>
          <p:cNvPr id="21" name="Shape 19"/>
          <p:cNvSpPr/>
          <p:nvPr/>
        </p:nvSpPr>
        <p:spPr>
          <a:xfrm>
            <a:off x="4626864" y="914400"/>
            <a:ext cx="2057400" cy="685800"/>
          </a:xfrm>
          <a:prstGeom prst="rect">
            <a:avLst/>
          </a:prstGeom>
          <a:solidFill>
            <a:srgbClr val="2C3E50"/>
          </a:solidFill>
          <a:ln w="12700">
            <a:solidFill>
              <a:srgbClr val="2C3E50"/>
            </a:solidFill>
            <a:prstDash val="solid"/>
          </a:ln>
        </p:spPr>
        <p:txBody>
          <a:bodyPr/>
          <a:lstStyle/>
          <a:p>
            <a:endParaRPr lang="en-US"/>
          </a:p>
        </p:txBody>
      </p:sp>
      <p:sp>
        <p:nvSpPr>
          <p:cNvPr id="22" name="Text 20"/>
          <p:cNvSpPr/>
          <p:nvPr/>
        </p:nvSpPr>
        <p:spPr>
          <a:xfrm>
            <a:off x="4700016" y="914400"/>
            <a:ext cx="1920240" cy="685800"/>
          </a:xfrm>
          <a:prstGeom prst="rect">
            <a:avLst/>
          </a:prstGeom>
          <a:noFill/>
          <a:ln/>
        </p:spPr>
        <p:txBody>
          <a:bodyPr wrap="square" lIns="0" tIns="0" rIns="0" bIns="0" rtlCol="0" anchor="ctr"/>
          <a:lstStyle/>
          <a:p>
            <a:pPr marL="0" indent="0" algn="ctr">
              <a:buNone/>
            </a:pPr>
            <a:r>
              <a:rPr lang="en-US" sz="950" b="1" dirty="0">
                <a:solidFill>
                  <a:srgbClr val="FFFFFF"/>
                </a:solidFill>
              </a:rPr>
              <a:t>Inventory Stock</a:t>
            </a:r>
            <a:endParaRPr lang="en-US" sz="950" dirty="0"/>
          </a:p>
        </p:txBody>
      </p:sp>
      <p:sp>
        <p:nvSpPr>
          <p:cNvPr id="23" name="Text 21"/>
          <p:cNvSpPr/>
          <p:nvPr/>
        </p:nvSpPr>
        <p:spPr>
          <a:xfrm>
            <a:off x="4626864" y="1627632"/>
            <a:ext cx="2057400" cy="411480"/>
          </a:xfrm>
          <a:prstGeom prst="rect">
            <a:avLst/>
          </a:prstGeom>
          <a:noFill/>
          <a:ln/>
        </p:spPr>
        <p:txBody>
          <a:bodyPr wrap="square" lIns="0" tIns="0" rIns="0" bIns="0" rtlCol="0" anchor="ctr"/>
          <a:lstStyle/>
          <a:p>
            <a:pPr marL="0" indent="0" algn="ctr">
              <a:buNone/>
            </a:pPr>
            <a:r>
              <a:rPr lang="en-US" sz="2200" b="1" dirty="0">
                <a:solidFill>
                  <a:srgbClr val="2C3E50"/>
                </a:solidFill>
              </a:rPr>
              <a:t>841</a:t>
            </a:r>
            <a:endParaRPr lang="en-US" sz="2200" dirty="0"/>
          </a:p>
        </p:txBody>
      </p:sp>
      <p:sp>
        <p:nvSpPr>
          <p:cNvPr id="24" name="Text 22"/>
          <p:cNvSpPr/>
          <p:nvPr/>
        </p:nvSpPr>
        <p:spPr>
          <a:xfrm>
            <a:off x="4626864" y="2011680"/>
            <a:ext cx="2057400" cy="228600"/>
          </a:xfrm>
          <a:prstGeom prst="rect">
            <a:avLst/>
          </a:prstGeom>
          <a:noFill/>
          <a:ln/>
        </p:spPr>
        <p:txBody>
          <a:bodyPr wrap="square" lIns="0" tIns="0" rIns="0" bIns="0" rtlCol="0" anchor="ctr"/>
          <a:lstStyle/>
          <a:p>
            <a:pPr marL="0" indent="0" algn="ctr">
              <a:buNone/>
            </a:pPr>
            <a:r>
              <a:rPr lang="en-US" sz="900" dirty="0">
                <a:solidFill>
                  <a:srgbClr val="64748B"/>
                </a:solidFill>
              </a:rPr>
              <a:t>records</a:t>
            </a:r>
            <a:endParaRPr lang="en-US" sz="900" dirty="0"/>
          </a:p>
        </p:txBody>
      </p:sp>
      <p:sp>
        <p:nvSpPr>
          <p:cNvPr id="25" name="Text 23"/>
          <p:cNvSpPr/>
          <p:nvPr/>
        </p:nvSpPr>
        <p:spPr>
          <a:xfrm>
            <a:off x="4626864" y="2240280"/>
            <a:ext cx="2057400" cy="228600"/>
          </a:xfrm>
          <a:prstGeom prst="rect">
            <a:avLst/>
          </a:prstGeom>
          <a:noFill/>
          <a:ln/>
        </p:spPr>
        <p:txBody>
          <a:bodyPr wrap="square" lIns="0" tIns="0" rIns="0" bIns="0" rtlCol="0" anchor="ctr"/>
          <a:lstStyle/>
          <a:p>
            <a:pPr marL="0" indent="0" algn="ctr">
              <a:buNone/>
            </a:pPr>
            <a:r>
              <a:rPr lang="en-US" sz="900" i="1" dirty="0">
                <a:solidFill>
                  <a:srgbClr val="64748B"/>
                </a:solidFill>
              </a:rPr>
              <a:t>22 columns</a:t>
            </a:r>
            <a:endParaRPr lang="en-US" sz="900" dirty="0"/>
          </a:p>
        </p:txBody>
      </p:sp>
      <p:sp>
        <p:nvSpPr>
          <p:cNvPr id="26" name="Shape 24"/>
          <p:cNvSpPr/>
          <p:nvPr/>
        </p:nvSpPr>
        <p:spPr>
          <a:xfrm>
            <a:off x="4809744" y="2496312"/>
            <a:ext cx="1691640" cy="0"/>
          </a:xfrm>
          <a:prstGeom prst="line">
            <a:avLst/>
          </a:prstGeom>
          <a:noFill/>
          <a:ln w="12700">
            <a:solidFill>
              <a:srgbClr val="E2EAF2"/>
            </a:solidFill>
            <a:prstDash val="solid"/>
          </a:ln>
        </p:spPr>
        <p:txBody>
          <a:bodyPr/>
          <a:lstStyle/>
          <a:p>
            <a:endParaRPr lang="en-US"/>
          </a:p>
        </p:txBody>
      </p:sp>
      <p:sp>
        <p:nvSpPr>
          <p:cNvPr id="27" name="Text 25"/>
          <p:cNvSpPr/>
          <p:nvPr/>
        </p:nvSpPr>
        <p:spPr>
          <a:xfrm>
            <a:off x="4736592" y="2560320"/>
            <a:ext cx="1874520" cy="1234440"/>
          </a:xfrm>
          <a:prstGeom prst="rect">
            <a:avLst/>
          </a:prstGeom>
          <a:noFill/>
          <a:ln/>
        </p:spPr>
        <p:txBody>
          <a:bodyPr wrap="square" rtlCol="0" anchor="t"/>
          <a:lstStyle/>
          <a:p>
            <a:pPr marL="0" indent="0">
              <a:buNone/>
            </a:pPr>
            <a:endParaRPr lang="en-US" sz="850" dirty="0"/>
          </a:p>
        </p:txBody>
      </p:sp>
      <p:sp>
        <p:nvSpPr>
          <p:cNvPr id="28" name="Shape 26"/>
          <p:cNvSpPr/>
          <p:nvPr/>
        </p:nvSpPr>
        <p:spPr>
          <a:xfrm>
            <a:off x="6803136" y="914400"/>
            <a:ext cx="2057400" cy="2758190"/>
          </a:xfrm>
          <a:prstGeom prst="rect">
            <a:avLst/>
          </a:prstGeom>
          <a:solidFill>
            <a:srgbClr val="FFFFFF"/>
          </a:solidFill>
          <a:ln w="12700">
            <a:solidFill>
              <a:srgbClr val="E2EAF2"/>
            </a:solidFill>
            <a:prstDash val="solid"/>
          </a:ln>
          <a:effectLst>
            <a:outerShdw blurRad="63500" dist="25400" dir="8100000" algn="bl" rotWithShape="0">
              <a:srgbClr val="000000">
                <a:alpha val="12000"/>
              </a:srgbClr>
            </a:outerShdw>
          </a:effectLst>
        </p:spPr>
        <p:txBody>
          <a:bodyPr/>
          <a:lstStyle/>
          <a:p>
            <a:endParaRPr lang="en-US"/>
          </a:p>
        </p:txBody>
      </p:sp>
      <p:sp>
        <p:nvSpPr>
          <p:cNvPr id="29" name="Shape 27"/>
          <p:cNvSpPr/>
          <p:nvPr/>
        </p:nvSpPr>
        <p:spPr>
          <a:xfrm>
            <a:off x="6803136" y="914400"/>
            <a:ext cx="2057400" cy="685800"/>
          </a:xfrm>
          <a:prstGeom prst="rect">
            <a:avLst/>
          </a:prstGeom>
          <a:solidFill>
            <a:srgbClr val="E8A838"/>
          </a:solidFill>
          <a:ln w="12700">
            <a:solidFill>
              <a:srgbClr val="E8A838"/>
            </a:solidFill>
            <a:prstDash val="solid"/>
          </a:ln>
        </p:spPr>
        <p:txBody>
          <a:bodyPr/>
          <a:lstStyle/>
          <a:p>
            <a:endParaRPr lang="en-US"/>
          </a:p>
        </p:txBody>
      </p:sp>
      <p:sp>
        <p:nvSpPr>
          <p:cNvPr id="30" name="Text 28"/>
          <p:cNvSpPr/>
          <p:nvPr/>
        </p:nvSpPr>
        <p:spPr>
          <a:xfrm>
            <a:off x="6876288" y="914400"/>
            <a:ext cx="1920240" cy="685800"/>
          </a:xfrm>
          <a:prstGeom prst="rect">
            <a:avLst/>
          </a:prstGeom>
          <a:noFill/>
          <a:ln/>
        </p:spPr>
        <p:txBody>
          <a:bodyPr wrap="square" lIns="0" tIns="0" rIns="0" bIns="0" rtlCol="0" anchor="ctr"/>
          <a:lstStyle/>
          <a:p>
            <a:pPr marL="0" indent="0" algn="ctr">
              <a:buNone/>
            </a:pPr>
            <a:r>
              <a:rPr lang="en-US" sz="950" b="1" dirty="0">
                <a:solidFill>
                  <a:srgbClr val="FFFFFF"/>
                </a:solidFill>
              </a:rPr>
              <a:t>Supplier Procurement</a:t>
            </a:r>
            <a:endParaRPr lang="en-US" sz="950" dirty="0"/>
          </a:p>
        </p:txBody>
      </p:sp>
      <p:sp>
        <p:nvSpPr>
          <p:cNvPr id="31" name="Text 29"/>
          <p:cNvSpPr/>
          <p:nvPr/>
        </p:nvSpPr>
        <p:spPr>
          <a:xfrm>
            <a:off x="6803136" y="1627632"/>
            <a:ext cx="2057400" cy="411480"/>
          </a:xfrm>
          <a:prstGeom prst="rect">
            <a:avLst/>
          </a:prstGeom>
          <a:noFill/>
          <a:ln/>
        </p:spPr>
        <p:txBody>
          <a:bodyPr wrap="square" lIns="0" tIns="0" rIns="0" bIns="0" rtlCol="0" anchor="ctr"/>
          <a:lstStyle/>
          <a:p>
            <a:pPr marL="0" indent="0" algn="ctr">
              <a:buNone/>
            </a:pPr>
            <a:r>
              <a:rPr lang="en-US" sz="2200" b="1" dirty="0">
                <a:solidFill>
                  <a:srgbClr val="E8A838"/>
                </a:solidFill>
              </a:rPr>
              <a:t>538</a:t>
            </a:r>
            <a:endParaRPr lang="en-US" sz="2200" dirty="0"/>
          </a:p>
        </p:txBody>
      </p:sp>
      <p:sp>
        <p:nvSpPr>
          <p:cNvPr id="32" name="Text 30"/>
          <p:cNvSpPr/>
          <p:nvPr/>
        </p:nvSpPr>
        <p:spPr>
          <a:xfrm>
            <a:off x="6803136" y="2011680"/>
            <a:ext cx="2057400" cy="228600"/>
          </a:xfrm>
          <a:prstGeom prst="rect">
            <a:avLst/>
          </a:prstGeom>
          <a:noFill/>
          <a:ln/>
        </p:spPr>
        <p:txBody>
          <a:bodyPr wrap="square" lIns="0" tIns="0" rIns="0" bIns="0" rtlCol="0" anchor="ctr"/>
          <a:lstStyle/>
          <a:p>
            <a:pPr marL="0" indent="0" algn="ctr">
              <a:buNone/>
            </a:pPr>
            <a:r>
              <a:rPr lang="en-US" sz="900" dirty="0">
                <a:solidFill>
                  <a:srgbClr val="64748B"/>
                </a:solidFill>
              </a:rPr>
              <a:t>records</a:t>
            </a:r>
            <a:endParaRPr lang="en-US" sz="900" dirty="0"/>
          </a:p>
        </p:txBody>
      </p:sp>
      <p:sp>
        <p:nvSpPr>
          <p:cNvPr id="33" name="Text 31"/>
          <p:cNvSpPr/>
          <p:nvPr/>
        </p:nvSpPr>
        <p:spPr>
          <a:xfrm>
            <a:off x="6803136" y="2240280"/>
            <a:ext cx="2057400" cy="228600"/>
          </a:xfrm>
          <a:prstGeom prst="rect">
            <a:avLst/>
          </a:prstGeom>
          <a:noFill/>
          <a:ln/>
        </p:spPr>
        <p:txBody>
          <a:bodyPr wrap="square" lIns="0" tIns="0" rIns="0" bIns="0" rtlCol="0" anchor="ctr"/>
          <a:lstStyle/>
          <a:p>
            <a:pPr marL="0" indent="0" algn="ctr">
              <a:buNone/>
            </a:pPr>
            <a:r>
              <a:rPr lang="en-US" sz="900" i="1" dirty="0">
                <a:solidFill>
                  <a:srgbClr val="64748B"/>
                </a:solidFill>
              </a:rPr>
              <a:t>14 columns</a:t>
            </a:r>
            <a:endParaRPr lang="en-US" sz="900" dirty="0"/>
          </a:p>
        </p:txBody>
      </p:sp>
      <p:sp>
        <p:nvSpPr>
          <p:cNvPr id="34" name="Shape 32"/>
          <p:cNvSpPr/>
          <p:nvPr/>
        </p:nvSpPr>
        <p:spPr>
          <a:xfrm>
            <a:off x="6986016" y="2496312"/>
            <a:ext cx="1691640" cy="0"/>
          </a:xfrm>
          <a:prstGeom prst="line">
            <a:avLst/>
          </a:prstGeom>
          <a:noFill/>
          <a:ln w="12700">
            <a:solidFill>
              <a:srgbClr val="E2EAF2"/>
            </a:solidFill>
            <a:prstDash val="solid"/>
          </a:ln>
        </p:spPr>
        <p:txBody>
          <a:bodyPr/>
          <a:lstStyle/>
          <a:p>
            <a:endParaRPr lang="en-US"/>
          </a:p>
        </p:txBody>
      </p:sp>
      <p:sp>
        <p:nvSpPr>
          <p:cNvPr id="35" name="Text 33"/>
          <p:cNvSpPr/>
          <p:nvPr/>
        </p:nvSpPr>
        <p:spPr>
          <a:xfrm>
            <a:off x="6912864" y="2560320"/>
            <a:ext cx="1874520" cy="1234440"/>
          </a:xfrm>
          <a:prstGeom prst="rect">
            <a:avLst/>
          </a:prstGeom>
          <a:noFill/>
          <a:ln/>
        </p:spPr>
        <p:txBody>
          <a:bodyPr wrap="square" rtlCol="0" anchor="t"/>
          <a:lstStyle/>
          <a:p>
            <a:pPr marL="0" indent="0">
              <a:buNone/>
            </a:pPr>
            <a:endParaRPr lang="en-US" sz="850" dirty="0"/>
          </a:p>
        </p:txBody>
      </p:sp>
      <p:sp>
        <p:nvSpPr>
          <p:cNvPr id="36" name="Shape 34"/>
          <p:cNvSpPr/>
          <p:nvPr/>
        </p:nvSpPr>
        <p:spPr>
          <a:xfrm>
            <a:off x="274320" y="3775460"/>
            <a:ext cx="8641080" cy="1299460"/>
          </a:xfrm>
          <a:prstGeom prst="rect">
            <a:avLst/>
          </a:prstGeom>
          <a:solidFill>
            <a:srgbClr val="0D2B5C"/>
          </a:solidFill>
          <a:ln w="12700">
            <a:solidFill>
              <a:srgbClr val="0D2B5C"/>
            </a:solidFill>
            <a:prstDash val="solid"/>
          </a:ln>
        </p:spPr>
        <p:txBody>
          <a:bodyPr/>
          <a:lstStyle/>
          <a:p>
            <a:endParaRPr lang="en-US"/>
          </a:p>
        </p:txBody>
      </p:sp>
      <p:sp>
        <p:nvSpPr>
          <p:cNvPr id="37" name="Text 35"/>
          <p:cNvSpPr/>
          <p:nvPr/>
        </p:nvSpPr>
        <p:spPr>
          <a:xfrm>
            <a:off x="274320" y="3752047"/>
            <a:ext cx="8641080" cy="1322873"/>
          </a:xfrm>
          <a:prstGeom prst="rect">
            <a:avLst/>
          </a:prstGeom>
          <a:noFill/>
          <a:ln/>
        </p:spPr>
        <p:txBody>
          <a:bodyPr wrap="square" lIns="0" tIns="0" rIns="0" bIns="0" rtlCol="0" anchor="ctr"/>
          <a:lstStyle/>
          <a:p>
            <a:pPr marL="0" indent="0" algn="ctr">
              <a:buNone/>
            </a:pPr>
            <a:r>
              <a:rPr lang="en-US" sz="1400" b="1" dirty="0">
                <a:solidFill>
                  <a:srgbClr val="FFFFFF"/>
                </a:solidFill>
              </a:rPr>
              <a:t>Total</a:t>
            </a:r>
          </a:p>
          <a:p>
            <a:pPr marL="0" indent="0" algn="ctr">
              <a:buNone/>
            </a:pPr>
            <a:r>
              <a:rPr lang="en-US" sz="1400" b="1" dirty="0">
                <a:solidFill>
                  <a:srgbClr val="FFFFFF"/>
                </a:solidFill>
              </a:rPr>
              <a:t>26,708 unique patient/inventory/supplier records    </a:t>
            </a:r>
          </a:p>
          <a:p>
            <a:pPr marL="0" indent="0" algn="ctr">
              <a:buNone/>
            </a:pPr>
            <a:r>
              <a:rPr lang="en-US" sz="1400" b="1" dirty="0">
                <a:solidFill>
                  <a:srgbClr val="FFFFFF"/>
                </a:solidFill>
              </a:rPr>
              <a:t>19 Regions  </a:t>
            </a:r>
          </a:p>
          <a:p>
            <a:pPr marL="0" indent="0" algn="ctr">
              <a:buNone/>
            </a:pPr>
            <a:r>
              <a:rPr lang="en-US" sz="1400" b="1" dirty="0">
                <a:solidFill>
                  <a:srgbClr val="FFFFFF"/>
                </a:solidFill>
              </a:rPr>
              <a:t> 5 Medicine Categories    </a:t>
            </a:r>
          </a:p>
          <a:p>
            <a:pPr marL="0" indent="0" algn="ctr">
              <a:buNone/>
            </a:pPr>
            <a:r>
              <a:rPr lang="en-US" sz="1400" b="1" dirty="0">
                <a:solidFill>
                  <a:srgbClr val="FFFFFF"/>
                </a:solidFill>
              </a:rPr>
              <a:t>538 Suppliers</a:t>
            </a:r>
            <a:endParaRPr lang="en-US" sz="1400" dirty="0"/>
          </a:p>
        </p:txBody>
      </p:sp>
      <p:sp>
        <p:nvSpPr>
          <p:cNvPr id="39" name="TextBox 38">
            <a:extLst>
              <a:ext uri="{FF2B5EF4-FFF2-40B4-BE49-F238E27FC236}">
                <a16:creationId xmlns:a16="http://schemas.microsoft.com/office/drawing/2014/main" id="{7E3D710D-6DF1-1C8C-8FE0-4D30F25B72AF}"/>
              </a:ext>
            </a:extLst>
          </p:cNvPr>
          <p:cNvSpPr txBox="1"/>
          <p:nvPr/>
        </p:nvSpPr>
        <p:spPr>
          <a:xfrm>
            <a:off x="310896" y="2571750"/>
            <a:ext cx="1984248"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2">
                    <a:lumMod val="50000"/>
                  </a:schemeClr>
                </a:solidFill>
              </a:rPr>
              <a:t>Patient × Medicine </a:t>
            </a:r>
          </a:p>
          <a:p>
            <a:pPr marL="285750" indent="-285750">
              <a:buFont typeface="Arial" panose="020B0604020202020204" pitchFamily="34" charset="0"/>
              <a:buChar char="•"/>
            </a:pPr>
            <a:r>
              <a:rPr lang="en-US" sz="1400" dirty="0">
                <a:solidFill>
                  <a:schemeClr val="bg2">
                    <a:lumMod val="50000"/>
                  </a:schemeClr>
                </a:solidFill>
              </a:rPr>
              <a:t>Daily consumption</a:t>
            </a:r>
          </a:p>
          <a:p>
            <a:pPr marL="285750" indent="-285750">
              <a:buFont typeface="Arial" panose="020B0604020202020204" pitchFamily="34" charset="0"/>
              <a:buChar char="•"/>
            </a:pPr>
            <a:r>
              <a:rPr lang="en-US" sz="1400" dirty="0">
                <a:solidFill>
                  <a:schemeClr val="bg2">
                    <a:lumMod val="50000"/>
                  </a:schemeClr>
                </a:solidFill>
              </a:rPr>
              <a:t>Stockout by region</a:t>
            </a:r>
          </a:p>
          <a:p>
            <a:pPr marL="285750" indent="-285750">
              <a:buFont typeface="Arial" panose="020B0604020202020204" pitchFamily="34" charset="0"/>
              <a:buChar char="•"/>
            </a:pPr>
            <a:r>
              <a:rPr lang="en-US" sz="1400" dirty="0">
                <a:solidFill>
                  <a:schemeClr val="bg2">
                    <a:lumMod val="50000"/>
                  </a:schemeClr>
                </a:solidFill>
              </a:rPr>
              <a:t>Wastage by region</a:t>
            </a:r>
            <a:endParaRPr lang="en-IN" sz="1400" dirty="0">
              <a:solidFill>
                <a:schemeClr val="bg2">
                  <a:lumMod val="50000"/>
                </a:schemeClr>
              </a:solidFill>
            </a:endParaRPr>
          </a:p>
        </p:txBody>
      </p:sp>
      <p:sp>
        <p:nvSpPr>
          <p:cNvPr id="42" name="TextBox 41">
            <a:extLst>
              <a:ext uri="{FF2B5EF4-FFF2-40B4-BE49-F238E27FC236}">
                <a16:creationId xmlns:a16="http://schemas.microsoft.com/office/drawing/2014/main" id="{8ED0AA8C-4DB6-C4CC-16C9-A5C97DD56066}"/>
              </a:ext>
            </a:extLst>
          </p:cNvPr>
          <p:cNvSpPr txBox="1"/>
          <p:nvPr/>
        </p:nvSpPr>
        <p:spPr>
          <a:xfrm>
            <a:off x="2450592" y="2596431"/>
            <a:ext cx="1984248"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2">
                    <a:lumMod val="50000"/>
                  </a:schemeClr>
                </a:solidFill>
              </a:rPr>
              <a:t>Order level sales</a:t>
            </a:r>
          </a:p>
          <a:p>
            <a:pPr marL="285750" indent="-285750">
              <a:buFont typeface="Arial" panose="020B0604020202020204" pitchFamily="34" charset="0"/>
              <a:buChar char="•"/>
            </a:pPr>
            <a:r>
              <a:rPr lang="en-US" sz="1400" dirty="0">
                <a:solidFill>
                  <a:schemeClr val="bg2">
                    <a:lumMod val="50000"/>
                  </a:schemeClr>
                </a:solidFill>
              </a:rPr>
              <a:t>Delivery returns </a:t>
            </a:r>
          </a:p>
          <a:p>
            <a:pPr marL="285750" indent="-285750">
              <a:buFont typeface="Arial" panose="020B0604020202020204" pitchFamily="34" charset="0"/>
              <a:buChar char="•"/>
            </a:pPr>
            <a:r>
              <a:rPr lang="en-US" sz="1400" dirty="0">
                <a:solidFill>
                  <a:schemeClr val="bg2">
                    <a:lumMod val="50000"/>
                  </a:schemeClr>
                </a:solidFill>
              </a:rPr>
              <a:t>Profit &amp; lead times</a:t>
            </a:r>
            <a:endParaRPr lang="en-IN" sz="1400" dirty="0">
              <a:solidFill>
                <a:schemeClr val="bg2">
                  <a:lumMod val="50000"/>
                </a:schemeClr>
              </a:solidFill>
            </a:endParaRPr>
          </a:p>
        </p:txBody>
      </p:sp>
      <p:sp>
        <p:nvSpPr>
          <p:cNvPr id="43" name="TextBox 42">
            <a:extLst>
              <a:ext uri="{FF2B5EF4-FFF2-40B4-BE49-F238E27FC236}">
                <a16:creationId xmlns:a16="http://schemas.microsoft.com/office/drawing/2014/main" id="{EA8ECA2D-F81A-F398-8FF9-5D41EC854ED6}"/>
              </a:ext>
            </a:extLst>
          </p:cNvPr>
          <p:cNvSpPr txBox="1"/>
          <p:nvPr/>
        </p:nvSpPr>
        <p:spPr>
          <a:xfrm>
            <a:off x="4617720" y="2627335"/>
            <a:ext cx="1984248"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2">
                    <a:lumMod val="50000"/>
                  </a:schemeClr>
                </a:solidFill>
              </a:rPr>
              <a:t>Medicine SKU level </a:t>
            </a:r>
          </a:p>
          <a:p>
            <a:pPr marL="285750" indent="-285750">
              <a:buFont typeface="Arial" panose="020B0604020202020204" pitchFamily="34" charset="0"/>
              <a:buChar char="•"/>
            </a:pPr>
            <a:r>
              <a:rPr lang="en-US" sz="1400" dirty="0">
                <a:solidFill>
                  <a:schemeClr val="bg2">
                    <a:lumMod val="50000"/>
                  </a:schemeClr>
                </a:solidFill>
              </a:rPr>
              <a:t>Stock reorder levels </a:t>
            </a:r>
          </a:p>
          <a:p>
            <a:pPr marL="285750" indent="-285750">
              <a:buFont typeface="Arial" panose="020B0604020202020204" pitchFamily="34" charset="0"/>
              <a:buChar char="•"/>
            </a:pPr>
            <a:r>
              <a:rPr lang="en-US" sz="1400" dirty="0">
                <a:solidFill>
                  <a:schemeClr val="bg2">
                    <a:lumMod val="50000"/>
                  </a:schemeClr>
                </a:solidFill>
              </a:rPr>
              <a:t>Expiry &amp; Risk flags</a:t>
            </a:r>
            <a:endParaRPr lang="en-IN" sz="1400" dirty="0">
              <a:solidFill>
                <a:schemeClr val="bg2">
                  <a:lumMod val="50000"/>
                </a:schemeClr>
              </a:solidFill>
            </a:endParaRPr>
          </a:p>
        </p:txBody>
      </p:sp>
      <p:sp>
        <p:nvSpPr>
          <p:cNvPr id="44" name="TextBox 43">
            <a:extLst>
              <a:ext uri="{FF2B5EF4-FFF2-40B4-BE49-F238E27FC236}">
                <a16:creationId xmlns:a16="http://schemas.microsoft.com/office/drawing/2014/main" id="{91706C1F-86BE-359F-E5C8-C337E1F148FE}"/>
              </a:ext>
            </a:extLst>
          </p:cNvPr>
          <p:cNvSpPr txBox="1"/>
          <p:nvPr/>
        </p:nvSpPr>
        <p:spPr>
          <a:xfrm>
            <a:off x="6775704" y="2633473"/>
            <a:ext cx="1984248"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2">
                    <a:lumMod val="50000"/>
                  </a:schemeClr>
                </a:solidFill>
              </a:rPr>
              <a:t>Supplier reliability </a:t>
            </a:r>
          </a:p>
          <a:p>
            <a:pPr marL="285750" indent="-285750">
              <a:buFont typeface="Arial" panose="020B0604020202020204" pitchFamily="34" charset="0"/>
              <a:buChar char="•"/>
            </a:pPr>
            <a:r>
              <a:rPr lang="en-US" sz="1400" dirty="0">
                <a:solidFill>
                  <a:schemeClr val="bg2">
                    <a:lumMod val="50000"/>
                  </a:schemeClr>
                </a:solidFill>
              </a:rPr>
              <a:t>Lead time &amp; on time </a:t>
            </a:r>
          </a:p>
          <a:p>
            <a:pPr marL="285750" indent="-285750">
              <a:buFont typeface="Arial" panose="020B0604020202020204" pitchFamily="34" charset="0"/>
              <a:buChar char="•"/>
            </a:pPr>
            <a:r>
              <a:rPr lang="en-US" sz="1400" dirty="0">
                <a:solidFill>
                  <a:schemeClr val="bg2">
                    <a:lumMod val="50000"/>
                  </a:schemeClr>
                </a:solidFill>
              </a:rPr>
              <a:t>Delivery KPIs</a:t>
            </a:r>
            <a:endParaRPr lang="en-IN" sz="1400" dirty="0">
              <a:solidFill>
                <a:schemeClr val="bg2">
                  <a:lumMod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7C86"/>
          </a:solidFill>
          <a:ln w="12700">
            <a:solidFill>
              <a:srgbClr val="0E7C86"/>
            </a:solidFill>
            <a:prstDash val="solid"/>
          </a:ln>
        </p:spPr>
        <p:txBody>
          <a:bodyPr/>
          <a:lstStyle/>
          <a:p>
            <a:endParaRPr lang="en-US"/>
          </a:p>
        </p:txBody>
      </p:sp>
      <p:sp>
        <p:nvSpPr>
          <p:cNvPr id="3" name="Text 1"/>
          <p:cNvSpPr/>
          <p:nvPr/>
        </p:nvSpPr>
        <p:spPr>
          <a:xfrm>
            <a:off x="365760" y="0"/>
            <a:ext cx="6858000" cy="777240"/>
          </a:xfrm>
          <a:prstGeom prst="rect">
            <a:avLst/>
          </a:prstGeom>
          <a:noFill/>
          <a:ln/>
        </p:spPr>
        <p:txBody>
          <a:bodyPr wrap="square" lIns="0" tIns="0" rIns="0" bIns="0" rtlCol="0" anchor="ctr"/>
          <a:lstStyle/>
          <a:p>
            <a:pPr marL="0" indent="0">
              <a:buNone/>
            </a:pPr>
            <a:r>
              <a:rPr lang="en-US" sz="2000" b="1" dirty="0">
                <a:solidFill>
                  <a:srgbClr val="FFFFFF"/>
                </a:solidFill>
              </a:rPr>
              <a:t>Medicines Below Reorder Level by Category</a:t>
            </a:r>
            <a:endParaRPr lang="en-US" sz="2000" dirty="0"/>
          </a:p>
        </p:txBody>
      </p:sp>
      <p:sp>
        <p:nvSpPr>
          <p:cNvPr id="4" name="Shape 2"/>
          <p:cNvSpPr/>
          <p:nvPr/>
        </p:nvSpPr>
        <p:spPr>
          <a:xfrm>
            <a:off x="7315200" y="265176"/>
            <a:ext cx="1828800" cy="274320"/>
          </a:xfrm>
          <a:prstGeom prst="rect">
            <a:avLst/>
          </a:prstGeom>
          <a:solidFill>
            <a:srgbClr val="0D2B5C"/>
          </a:solidFill>
          <a:ln w="12700">
            <a:solidFill>
              <a:srgbClr val="0D2B5C"/>
            </a:solidFill>
            <a:prstDash val="solid"/>
          </a:ln>
        </p:spPr>
        <p:txBody>
          <a:bodyPr/>
          <a:lstStyle/>
          <a:p>
            <a:endParaRPr lang="en-US"/>
          </a:p>
        </p:txBody>
      </p:sp>
      <p:sp>
        <p:nvSpPr>
          <p:cNvPr id="5" name="Text 3"/>
          <p:cNvSpPr/>
          <p:nvPr/>
        </p:nvSpPr>
        <p:spPr>
          <a:xfrm>
            <a:off x="7498080" y="256032"/>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rPr>
              <a:t>BO1</a:t>
            </a:r>
            <a:endParaRPr lang="en-US" sz="900" dirty="0"/>
          </a:p>
        </p:txBody>
      </p:sp>
      <p:graphicFrame>
        <p:nvGraphicFramePr>
          <p:cNvPr id="6" name="Chart 0"/>
          <p:cNvGraphicFramePr/>
          <p:nvPr/>
        </p:nvGraphicFramePr>
        <p:xfrm>
          <a:off x="274320" y="86868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577840" y="914400"/>
            <a:ext cx="3291840" cy="713232"/>
          </a:xfrm>
          <a:prstGeom prst="rect">
            <a:avLst/>
          </a:prstGeom>
          <a:solidFill>
            <a:srgbClr val="FFFFFF"/>
          </a:solidFill>
          <a:ln w="12700">
            <a:solidFill>
              <a:srgbClr val="E2EAF2"/>
            </a:solidFill>
            <a:prstDash val="solid"/>
          </a:ln>
          <a:effectLst>
            <a:outerShdw blurRad="38100" dist="12700" dir="8100000" algn="bl" rotWithShape="0">
              <a:srgbClr val="000000">
                <a:alpha val="10000"/>
              </a:srgbClr>
            </a:outerShdw>
          </a:effectLst>
        </p:spPr>
        <p:txBody>
          <a:bodyPr/>
          <a:lstStyle/>
          <a:p>
            <a:endParaRPr lang="en-US"/>
          </a:p>
        </p:txBody>
      </p:sp>
      <p:sp>
        <p:nvSpPr>
          <p:cNvPr id="8" name="Shape 5"/>
          <p:cNvSpPr/>
          <p:nvPr/>
        </p:nvSpPr>
        <p:spPr>
          <a:xfrm>
            <a:off x="5577840" y="914400"/>
            <a:ext cx="64008" cy="713232"/>
          </a:xfrm>
          <a:prstGeom prst="rect">
            <a:avLst/>
          </a:prstGeom>
          <a:solidFill>
            <a:srgbClr val="C0392B"/>
          </a:solidFill>
          <a:ln w="12700">
            <a:solidFill>
              <a:srgbClr val="C0392B"/>
            </a:solidFill>
            <a:prstDash val="solid"/>
          </a:ln>
        </p:spPr>
        <p:txBody>
          <a:bodyPr/>
          <a:lstStyle/>
          <a:p>
            <a:endParaRPr lang="en-US"/>
          </a:p>
        </p:txBody>
      </p:sp>
      <p:sp>
        <p:nvSpPr>
          <p:cNvPr id="9" name="Text 6"/>
          <p:cNvSpPr/>
          <p:nvPr/>
        </p:nvSpPr>
        <p:spPr>
          <a:xfrm>
            <a:off x="5715000" y="960120"/>
            <a:ext cx="3063240" cy="256032"/>
          </a:xfrm>
          <a:prstGeom prst="rect">
            <a:avLst/>
          </a:prstGeom>
          <a:noFill/>
          <a:ln/>
        </p:spPr>
        <p:txBody>
          <a:bodyPr wrap="square" lIns="0" tIns="0" rIns="0" bIns="0" rtlCol="0" anchor="ctr"/>
          <a:lstStyle/>
          <a:p>
            <a:pPr marL="0" indent="0">
              <a:buNone/>
            </a:pPr>
            <a:r>
              <a:rPr lang="en-US" sz="1100" b="1" dirty="0">
                <a:solidFill>
                  <a:srgbClr val="C0392B"/>
                </a:solidFill>
              </a:rPr>
              <a:t>Other (14)</a:t>
            </a:r>
            <a:endParaRPr lang="en-US" sz="1100" dirty="0"/>
          </a:p>
        </p:txBody>
      </p:sp>
      <p:sp>
        <p:nvSpPr>
          <p:cNvPr id="10" name="Text 7"/>
          <p:cNvSpPr/>
          <p:nvPr/>
        </p:nvSpPr>
        <p:spPr>
          <a:xfrm>
            <a:off x="5715000" y="1225296"/>
            <a:ext cx="3063240" cy="365760"/>
          </a:xfrm>
          <a:prstGeom prst="rect">
            <a:avLst/>
          </a:prstGeom>
          <a:noFill/>
          <a:ln/>
        </p:spPr>
        <p:txBody>
          <a:bodyPr wrap="square" lIns="0" tIns="0" rIns="0" bIns="0" rtlCol="0" anchor="ctr"/>
          <a:lstStyle/>
          <a:p>
            <a:pPr marL="0" indent="0">
              <a:buNone/>
            </a:pPr>
            <a:r>
              <a:rPr lang="en-US" sz="900" dirty="0">
                <a:solidFill>
                  <a:srgbClr val="64748B"/>
                </a:solidFill>
              </a:rPr>
              <a:t>Includes cardiac drugs, antibiotics, anaesthetics — critical</a:t>
            </a:r>
            <a:endParaRPr lang="en-US" sz="900" dirty="0"/>
          </a:p>
        </p:txBody>
      </p:sp>
      <p:sp>
        <p:nvSpPr>
          <p:cNvPr id="11" name="Shape 8"/>
          <p:cNvSpPr/>
          <p:nvPr/>
        </p:nvSpPr>
        <p:spPr>
          <a:xfrm>
            <a:off x="5577840" y="1719072"/>
            <a:ext cx="3291840" cy="713232"/>
          </a:xfrm>
          <a:prstGeom prst="rect">
            <a:avLst/>
          </a:prstGeom>
          <a:solidFill>
            <a:srgbClr val="FFFFFF"/>
          </a:solidFill>
          <a:ln w="12700">
            <a:solidFill>
              <a:srgbClr val="E2EAF2"/>
            </a:solidFill>
            <a:prstDash val="solid"/>
          </a:ln>
          <a:effectLst>
            <a:outerShdw blurRad="38100" dist="12700" dir="8100000" algn="bl" rotWithShape="0">
              <a:srgbClr val="000000">
                <a:alpha val="10000"/>
              </a:srgbClr>
            </a:outerShdw>
          </a:effectLst>
        </p:spPr>
        <p:txBody>
          <a:bodyPr/>
          <a:lstStyle/>
          <a:p>
            <a:endParaRPr lang="en-US"/>
          </a:p>
        </p:txBody>
      </p:sp>
      <p:sp>
        <p:nvSpPr>
          <p:cNvPr id="12" name="Shape 9"/>
          <p:cNvSpPr/>
          <p:nvPr/>
        </p:nvSpPr>
        <p:spPr>
          <a:xfrm>
            <a:off x="5577840" y="1719072"/>
            <a:ext cx="64008" cy="713232"/>
          </a:xfrm>
          <a:prstGeom prst="rect">
            <a:avLst/>
          </a:prstGeom>
          <a:solidFill>
            <a:srgbClr val="F39C12"/>
          </a:solidFill>
          <a:ln w="12700">
            <a:solidFill>
              <a:srgbClr val="F39C12"/>
            </a:solidFill>
            <a:prstDash val="solid"/>
          </a:ln>
        </p:spPr>
        <p:txBody>
          <a:bodyPr/>
          <a:lstStyle/>
          <a:p>
            <a:endParaRPr lang="en-US"/>
          </a:p>
        </p:txBody>
      </p:sp>
      <p:sp>
        <p:nvSpPr>
          <p:cNvPr id="13" name="Text 10"/>
          <p:cNvSpPr/>
          <p:nvPr/>
        </p:nvSpPr>
        <p:spPr>
          <a:xfrm>
            <a:off x="5715000" y="1764792"/>
            <a:ext cx="3063240" cy="256032"/>
          </a:xfrm>
          <a:prstGeom prst="rect">
            <a:avLst/>
          </a:prstGeom>
          <a:noFill/>
          <a:ln/>
        </p:spPr>
        <p:txBody>
          <a:bodyPr wrap="square" lIns="0" tIns="0" rIns="0" bIns="0" rtlCol="0" anchor="ctr"/>
          <a:lstStyle/>
          <a:p>
            <a:pPr marL="0" indent="0">
              <a:buNone/>
            </a:pPr>
            <a:r>
              <a:rPr lang="en-US" sz="1100" b="1" dirty="0">
                <a:solidFill>
                  <a:srgbClr val="F39C12"/>
                </a:solidFill>
              </a:rPr>
              <a:t>Parenteral (8)</a:t>
            </a:r>
            <a:endParaRPr lang="en-US" sz="1100" dirty="0"/>
          </a:p>
        </p:txBody>
      </p:sp>
      <p:sp>
        <p:nvSpPr>
          <p:cNvPr id="14" name="Text 11"/>
          <p:cNvSpPr/>
          <p:nvPr/>
        </p:nvSpPr>
        <p:spPr>
          <a:xfrm>
            <a:off x="5715000" y="2029968"/>
            <a:ext cx="3063240" cy="365760"/>
          </a:xfrm>
          <a:prstGeom prst="rect">
            <a:avLst/>
          </a:prstGeom>
          <a:noFill/>
          <a:ln/>
        </p:spPr>
        <p:txBody>
          <a:bodyPr wrap="square" lIns="0" tIns="0" rIns="0" bIns="0" rtlCol="0" anchor="ctr"/>
          <a:lstStyle/>
          <a:p>
            <a:pPr marL="0" indent="0">
              <a:buNone/>
            </a:pPr>
            <a:r>
              <a:rPr lang="en-US" sz="900" dirty="0">
                <a:solidFill>
                  <a:srgbClr val="64748B"/>
                </a:solidFill>
              </a:rPr>
              <a:t>Injectable ICU drugs running low — direct patient safety risk</a:t>
            </a:r>
            <a:endParaRPr lang="en-US" sz="900" dirty="0"/>
          </a:p>
        </p:txBody>
      </p:sp>
      <p:sp>
        <p:nvSpPr>
          <p:cNvPr id="15" name="Shape 12"/>
          <p:cNvSpPr/>
          <p:nvPr/>
        </p:nvSpPr>
        <p:spPr>
          <a:xfrm>
            <a:off x="5577840" y="2523744"/>
            <a:ext cx="3291840" cy="713232"/>
          </a:xfrm>
          <a:prstGeom prst="rect">
            <a:avLst/>
          </a:prstGeom>
          <a:solidFill>
            <a:srgbClr val="FFFFFF"/>
          </a:solidFill>
          <a:ln w="12700">
            <a:solidFill>
              <a:srgbClr val="E2EAF2"/>
            </a:solidFill>
            <a:prstDash val="solid"/>
          </a:ln>
          <a:effectLst>
            <a:outerShdw blurRad="38100" dist="12700" dir="8100000" algn="bl" rotWithShape="0">
              <a:srgbClr val="000000">
                <a:alpha val="10000"/>
              </a:srgbClr>
            </a:outerShdw>
          </a:effectLst>
        </p:spPr>
        <p:txBody>
          <a:bodyPr/>
          <a:lstStyle/>
          <a:p>
            <a:endParaRPr lang="en-US"/>
          </a:p>
        </p:txBody>
      </p:sp>
      <p:sp>
        <p:nvSpPr>
          <p:cNvPr id="16" name="Shape 13"/>
          <p:cNvSpPr/>
          <p:nvPr/>
        </p:nvSpPr>
        <p:spPr>
          <a:xfrm>
            <a:off x="5577840" y="2523744"/>
            <a:ext cx="64008" cy="713232"/>
          </a:xfrm>
          <a:prstGeom prst="rect">
            <a:avLst/>
          </a:prstGeom>
          <a:solidFill>
            <a:srgbClr val="0E7C86"/>
          </a:solidFill>
          <a:ln w="12700">
            <a:solidFill>
              <a:srgbClr val="0E7C86"/>
            </a:solidFill>
            <a:prstDash val="solid"/>
          </a:ln>
        </p:spPr>
        <p:txBody>
          <a:bodyPr/>
          <a:lstStyle/>
          <a:p>
            <a:endParaRPr lang="en-US"/>
          </a:p>
        </p:txBody>
      </p:sp>
      <p:sp>
        <p:nvSpPr>
          <p:cNvPr id="17" name="Text 14"/>
          <p:cNvSpPr/>
          <p:nvPr/>
        </p:nvSpPr>
        <p:spPr>
          <a:xfrm>
            <a:off x="5715000" y="2569464"/>
            <a:ext cx="3063240" cy="256032"/>
          </a:xfrm>
          <a:prstGeom prst="rect">
            <a:avLst/>
          </a:prstGeom>
          <a:noFill/>
          <a:ln/>
        </p:spPr>
        <p:txBody>
          <a:bodyPr wrap="square" lIns="0" tIns="0" rIns="0" bIns="0" rtlCol="0" anchor="ctr"/>
          <a:lstStyle/>
          <a:p>
            <a:pPr marL="0" indent="0">
              <a:buNone/>
            </a:pPr>
            <a:r>
              <a:rPr lang="en-US" sz="1100" b="1" dirty="0">
                <a:solidFill>
                  <a:srgbClr val="0E7C86"/>
                </a:solidFill>
              </a:rPr>
              <a:t>Oral (4)</a:t>
            </a:r>
            <a:endParaRPr lang="en-US" sz="1100" dirty="0"/>
          </a:p>
        </p:txBody>
      </p:sp>
      <p:sp>
        <p:nvSpPr>
          <p:cNvPr id="18" name="Text 15"/>
          <p:cNvSpPr/>
          <p:nvPr/>
        </p:nvSpPr>
        <p:spPr>
          <a:xfrm>
            <a:off x="5715000" y="2834640"/>
            <a:ext cx="3063240" cy="365760"/>
          </a:xfrm>
          <a:prstGeom prst="rect">
            <a:avLst/>
          </a:prstGeom>
          <a:noFill/>
          <a:ln/>
        </p:spPr>
        <p:txBody>
          <a:bodyPr wrap="square" lIns="0" tIns="0" rIns="0" bIns="0" rtlCol="0" anchor="ctr"/>
          <a:lstStyle/>
          <a:p>
            <a:pPr marL="0" indent="0">
              <a:buNone/>
            </a:pPr>
            <a:r>
              <a:rPr lang="en-US" sz="900" dirty="0">
                <a:solidFill>
                  <a:srgbClr val="64748B"/>
                </a:solidFill>
              </a:rPr>
              <a:t>Below reorder, less critical than Parenteral in emergencies</a:t>
            </a:r>
            <a:endParaRPr lang="en-US" sz="900" dirty="0"/>
          </a:p>
        </p:txBody>
      </p:sp>
      <p:sp>
        <p:nvSpPr>
          <p:cNvPr id="19" name="Shape 16"/>
          <p:cNvSpPr/>
          <p:nvPr/>
        </p:nvSpPr>
        <p:spPr>
          <a:xfrm>
            <a:off x="5577840" y="3328416"/>
            <a:ext cx="3291840" cy="713232"/>
          </a:xfrm>
          <a:prstGeom prst="rect">
            <a:avLst/>
          </a:prstGeom>
          <a:solidFill>
            <a:srgbClr val="FFFFFF"/>
          </a:solidFill>
          <a:ln w="12700">
            <a:solidFill>
              <a:srgbClr val="E2EAF2"/>
            </a:solidFill>
            <a:prstDash val="solid"/>
          </a:ln>
          <a:effectLst>
            <a:outerShdw blurRad="38100" dist="12700" dir="8100000" algn="bl" rotWithShape="0">
              <a:srgbClr val="000000">
                <a:alpha val="10000"/>
              </a:srgbClr>
            </a:outerShdw>
          </a:effectLst>
        </p:spPr>
        <p:txBody>
          <a:bodyPr/>
          <a:lstStyle/>
          <a:p>
            <a:endParaRPr lang="en-US"/>
          </a:p>
        </p:txBody>
      </p:sp>
      <p:sp>
        <p:nvSpPr>
          <p:cNvPr id="20" name="Shape 17"/>
          <p:cNvSpPr/>
          <p:nvPr/>
        </p:nvSpPr>
        <p:spPr>
          <a:xfrm>
            <a:off x="5577840" y="3328416"/>
            <a:ext cx="64008" cy="713232"/>
          </a:xfrm>
          <a:prstGeom prst="rect">
            <a:avLst/>
          </a:prstGeom>
          <a:solidFill>
            <a:srgbClr val="1E8449"/>
          </a:solidFill>
          <a:ln w="12700">
            <a:solidFill>
              <a:srgbClr val="1E8449"/>
            </a:solidFill>
            <a:prstDash val="solid"/>
          </a:ln>
        </p:spPr>
        <p:txBody>
          <a:bodyPr/>
          <a:lstStyle/>
          <a:p>
            <a:endParaRPr lang="en-US"/>
          </a:p>
        </p:txBody>
      </p:sp>
      <p:sp>
        <p:nvSpPr>
          <p:cNvPr id="21" name="Text 18"/>
          <p:cNvSpPr/>
          <p:nvPr/>
        </p:nvSpPr>
        <p:spPr>
          <a:xfrm>
            <a:off x="5715000" y="3374136"/>
            <a:ext cx="3063240" cy="256032"/>
          </a:xfrm>
          <a:prstGeom prst="rect">
            <a:avLst/>
          </a:prstGeom>
          <a:noFill/>
          <a:ln/>
        </p:spPr>
        <p:txBody>
          <a:bodyPr wrap="square" lIns="0" tIns="0" rIns="0" bIns="0" rtlCol="0" anchor="ctr"/>
          <a:lstStyle/>
          <a:p>
            <a:pPr marL="0" indent="0">
              <a:buNone/>
            </a:pPr>
            <a:r>
              <a:rPr lang="en-US" sz="1100" b="1" dirty="0">
                <a:solidFill>
                  <a:srgbClr val="1E8449"/>
                </a:solidFill>
              </a:rPr>
              <a:t>Bulk/Raw (1)</a:t>
            </a:r>
            <a:endParaRPr lang="en-US" sz="1100" dirty="0"/>
          </a:p>
        </p:txBody>
      </p:sp>
      <p:sp>
        <p:nvSpPr>
          <p:cNvPr id="22" name="Text 19"/>
          <p:cNvSpPr/>
          <p:nvPr/>
        </p:nvSpPr>
        <p:spPr>
          <a:xfrm>
            <a:off x="5715000" y="3639312"/>
            <a:ext cx="3063240" cy="365760"/>
          </a:xfrm>
          <a:prstGeom prst="rect">
            <a:avLst/>
          </a:prstGeom>
          <a:noFill/>
          <a:ln/>
        </p:spPr>
        <p:txBody>
          <a:bodyPr wrap="square" lIns="0" tIns="0" rIns="0" bIns="0" rtlCol="0" anchor="ctr"/>
          <a:lstStyle/>
          <a:p>
            <a:pPr marL="0" indent="0">
              <a:buNone/>
            </a:pPr>
            <a:r>
              <a:rPr lang="en-US" sz="900" dirty="0">
                <a:solidFill>
                  <a:srgbClr val="64748B"/>
                </a:solidFill>
              </a:rPr>
              <a:t>Best managed — strong procurement planning demonstrated</a:t>
            </a:r>
            <a:endParaRPr lang="en-US" sz="900" dirty="0"/>
          </a:p>
        </p:txBody>
      </p:sp>
      <p:sp>
        <p:nvSpPr>
          <p:cNvPr id="25" name="Shape 22"/>
          <p:cNvSpPr/>
          <p:nvPr/>
        </p:nvSpPr>
        <p:spPr>
          <a:xfrm>
            <a:off x="274320" y="4297680"/>
            <a:ext cx="8595360" cy="777240"/>
          </a:xfrm>
          <a:prstGeom prst="rect">
            <a:avLst/>
          </a:prstGeom>
          <a:solidFill>
            <a:srgbClr val="0D2B5C">
              <a:alpha val="12000"/>
            </a:srgbClr>
          </a:solidFill>
          <a:ln w="12700">
            <a:solidFill>
              <a:srgbClr val="0E7C86"/>
            </a:solidFill>
            <a:prstDash val="solid"/>
          </a:ln>
        </p:spPr>
        <p:txBody>
          <a:bodyPr/>
          <a:lstStyle/>
          <a:p>
            <a:endParaRPr lang="en-US"/>
          </a:p>
        </p:txBody>
      </p:sp>
      <p:sp>
        <p:nvSpPr>
          <p:cNvPr id="26" name="Text 23"/>
          <p:cNvSpPr/>
          <p:nvPr/>
        </p:nvSpPr>
        <p:spPr>
          <a:xfrm>
            <a:off x="457200" y="4389120"/>
            <a:ext cx="8321040" cy="589280"/>
          </a:xfrm>
          <a:prstGeom prst="rect">
            <a:avLst/>
          </a:prstGeom>
          <a:noFill/>
          <a:ln/>
        </p:spPr>
        <p:txBody>
          <a:bodyPr wrap="square" rtlCol="0" anchor="ctr"/>
          <a:lstStyle/>
          <a:p>
            <a:pPr marL="171450" indent="-171450">
              <a:buFont typeface="Arial" panose="020B0604020202020204" pitchFamily="34" charset="0"/>
              <a:buChar char="•"/>
            </a:pPr>
            <a:r>
              <a:rPr lang="en-US" sz="1000" b="1" dirty="0">
                <a:solidFill>
                  <a:srgbClr val="0D2B5C"/>
                </a:solidFill>
              </a:rPr>
              <a:t>Other category classification masks critical drugs like cardiac and inaesthetic medicines. </a:t>
            </a:r>
          </a:p>
          <a:p>
            <a:pPr marL="171450" indent="-171450">
              <a:buFont typeface="Arial" panose="020B0604020202020204" pitchFamily="34" charset="0"/>
              <a:buChar char="•"/>
            </a:pPr>
            <a:r>
              <a:rPr lang="en-US" sz="1000" b="1" dirty="0"/>
              <a:t>Parenteral has the highest rate of falling below reorder despite not having the highest absolute count, making it the most consistently under-stocked category.</a:t>
            </a:r>
          </a:p>
          <a:p>
            <a:pPr marL="171450" indent="-171450">
              <a:buFont typeface="Arial" panose="020B0604020202020204" pitchFamily="34" charset="0"/>
              <a:buChar char="•"/>
            </a:pPr>
            <a:r>
              <a:rPr lang="en-US" sz="1000" b="1" dirty="0">
                <a:solidFill>
                  <a:srgbClr val="0D2B5C"/>
                </a:solidFill>
              </a:rPr>
              <a:t>27 of 841 medicines (3.2%) are below reorder level. </a:t>
            </a:r>
          </a:p>
          <a:p>
            <a:pPr marL="171450" indent="-171450">
              <a:buFont typeface="Arial" panose="020B0604020202020204" pitchFamily="34" charset="0"/>
              <a:buChar char="•"/>
            </a:pPr>
            <a:r>
              <a:rPr lang="en-US" sz="1000" b="1" dirty="0">
                <a:solidFill>
                  <a:srgbClr val="0D2B5C"/>
                </a:solidFill>
              </a:rPr>
              <a:t>Targeted restocking especially for Parenteral and Other is operationally critical and directly tied to patient safety outcomes.</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C"/>
          </a:solidFill>
          <a:ln w="12700">
            <a:solidFill>
              <a:srgbClr val="0D2B5C"/>
            </a:solidFill>
            <a:prstDash val="solid"/>
          </a:ln>
        </p:spPr>
        <p:txBody>
          <a:bodyPr/>
          <a:lstStyle/>
          <a:p>
            <a:endParaRPr lang="en-US"/>
          </a:p>
        </p:txBody>
      </p:sp>
      <p:sp>
        <p:nvSpPr>
          <p:cNvPr id="3" name="Text 1"/>
          <p:cNvSpPr/>
          <p:nvPr/>
        </p:nvSpPr>
        <p:spPr>
          <a:xfrm>
            <a:off x="365760" y="0"/>
            <a:ext cx="6858000" cy="777240"/>
          </a:xfrm>
          <a:prstGeom prst="rect">
            <a:avLst/>
          </a:prstGeom>
          <a:noFill/>
          <a:ln/>
        </p:spPr>
        <p:txBody>
          <a:bodyPr wrap="square" lIns="0" tIns="0" rIns="0" bIns="0" rtlCol="0" anchor="ctr"/>
          <a:lstStyle/>
          <a:p>
            <a:pPr marL="0" indent="0">
              <a:buNone/>
            </a:pPr>
            <a:r>
              <a:rPr lang="en-US" sz="2000" b="1" dirty="0">
                <a:solidFill>
                  <a:srgbClr val="FFFFFF"/>
                </a:solidFill>
              </a:rPr>
              <a:t>Stock Status &amp; Supply Gaps</a:t>
            </a:r>
            <a:endParaRPr lang="en-US" sz="2000" dirty="0"/>
          </a:p>
        </p:txBody>
      </p:sp>
      <p:sp>
        <p:nvSpPr>
          <p:cNvPr id="4" name="Shape 2"/>
          <p:cNvSpPr/>
          <p:nvPr/>
        </p:nvSpPr>
        <p:spPr>
          <a:xfrm>
            <a:off x="7315200" y="251460"/>
            <a:ext cx="1828800" cy="274320"/>
          </a:xfrm>
          <a:prstGeom prst="rect">
            <a:avLst/>
          </a:prstGeom>
          <a:solidFill>
            <a:srgbClr val="0E7C86"/>
          </a:solidFill>
          <a:ln w="12700">
            <a:solidFill>
              <a:srgbClr val="0E7C86"/>
            </a:solidFill>
            <a:prstDash val="solid"/>
          </a:ln>
        </p:spPr>
        <p:txBody>
          <a:bodyPr/>
          <a:lstStyle/>
          <a:p>
            <a:endParaRPr lang="en-US"/>
          </a:p>
        </p:txBody>
      </p:sp>
      <p:sp>
        <p:nvSpPr>
          <p:cNvPr id="5" name="Text 3"/>
          <p:cNvSpPr/>
          <p:nvPr/>
        </p:nvSpPr>
        <p:spPr>
          <a:xfrm>
            <a:off x="7498080" y="256032"/>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rPr>
              <a:t>BO1 | BO2</a:t>
            </a:r>
            <a:endParaRPr lang="en-US" sz="900" dirty="0"/>
          </a:p>
        </p:txBody>
      </p:sp>
      <p:sp>
        <p:nvSpPr>
          <p:cNvPr id="6" name="Text 4"/>
          <p:cNvSpPr/>
          <p:nvPr/>
        </p:nvSpPr>
        <p:spPr>
          <a:xfrm>
            <a:off x="274320" y="914400"/>
            <a:ext cx="2922693" cy="274320"/>
          </a:xfrm>
          <a:prstGeom prst="rect">
            <a:avLst/>
          </a:prstGeom>
          <a:noFill/>
          <a:ln/>
        </p:spPr>
        <p:txBody>
          <a:bodyPr wrap="square" lIns="0" tIns="0" rIns="0" bIns="0" rtlCol="0" anchor="ctr"/>
          <a:lstStyle/>
          <a:p>
            <a:pPr marL="0" indent="0">
              <a:buNone/>
            </a:pPr>
            <a:r>
              <a:rPr lang="en-US" sz="1100" b="1" dirty="0">
                <a:solidFill>
                  <a:srgbClr val="0D2B5C"/>
                </a:solidFill>
              </a:rPr>
              <a:t>Top 5 Medicines with Highest Shortage Units </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951672075"/>
              </p:ext>
            </p:extLst>
          </p:nvPr>
        </p:nvGraphicFramePr>
        <p:xfrm>
          <a:off x="274320" y="1234440"/>
          <a:ext cx="4297680" cy="1645920"/>
        </p:xfrm>
        <a:graphic>
          <a:graphicData uri="http://schemas.openxmlformats.org/drawingml/2006/table">
            <a:tbl>
              <a:tblPr/>
              <a:tblGrid>
                <a:gridCol w="2344189">
                  <a:extLst>
                    <a:ext uri="{9D8B030D-6E8A-4147-A177-3AD203B41FA5}">
                      <a16:colId xmlns:a16="http://schemas.microsoft.com/office/drawing/2014/main" val="20000"/>
                    </a:ext>
                  </a:extLst>
                </a:gridCol>
                <a:gridCol w="937676">
                  <a:extLst>
                    <a:ext uri="{9D8B030D-6E8A-4147-A177-3AD203B41FA5}">
                      <a16:colId xmlns:a16="http://schemas.microsoft.com/office/drawing/2014/main" val="20001"/>
                    </a:ext>
                  </a:extLst>
                </a:gridCol>
                <a:gridCol w="1015815">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rPr>
                        <a:t>Drug Name</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D2B5C"/>
                    </a:solidFill>
                  </a:tcPr>
                </a:tc>
                <a:tc>
                  <a:txBody>
                    <a:bodyPr/>
                    <a:lstStyle/>
                    <a:p>
                      <a:pPr marL="0" indent="0" algn="ctr">
                        <a:buNone/>
                      </a:pPr>
                      <a:r>
                        <a:rPr lang="en-US" sz="900" b="1" dirty="0">
                          <a:solidFill>
                            <a:srgbClr val="FFFFFF"/>
                          </a:solidFill>
                        </a:rPr>
                        <a:t>Category</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D2B5C"/>
                    </a:solidFill>
                  </a:tcPr>
                </a:tc>
                <a:tc>
                  <a:txBody>
                    <a:bodyPr/>
                    <a:lstStyle/>
                    <a:p>
                      <a:pPr marL="0" indent="0" algn="ctr">
                        <a:buNone/>
                      </a:pPr>
                      <a:r>
                        <a:rPr lang="en-US" sz="900" b="1" dirty="0">
                          <a:solidFill>
                            <a:srgbClr val="FFFFFF"/>
                          </a:solidFill>
                        </a:rPr>
                        <a:t>Shortage Units</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D2B5C"/>
                    </a:solidFill>
                  </a:tcPr>
                </a:tc>
                <a:extLst>
                  <a:ext uri="{0D108BD9-81ED-4DB2-BD59-A6C34878D82A}">
                    <a16:rowId xmlns:a16="http://schemas.microsoft.com/office/drawing/2014/main" val="10000"/>
                  </a:ext>
                </a:extLst>
              </a:tr>
              <a:tr h="274320">
                <a:tc>
                  <a:txBody>
                    <a:bodyPr/>
                    <a:lstStyle/>
                    <a:p>
                      <a:pPr marL="0" indent="0" algn="ctr">
                        <a:buNone/>
                      </a:pPr>
                      <a:r>
                        <a:rPr lang="en-US" sz="900" dirty="0">
                          <a:solidFill>
                            <a:srgbClr val="000000"/>
                          </a:solidFill>
                        </a:rPr>
                        <a:t>GLICLAZIDE 80MG + METFORMIN 500MG</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Other</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39</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rPr>
                        <a:t>MOXIFLOXACIN 400MG/100ML IV FLUID</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Other</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51</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rPr>
                        <a:t>SEVOFLURANE 99.97%</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Other</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22</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ctr">
                        <a:buNone/>
                      </a:pPr>
                      <a:r>
                        <a:rPr lang="en-US" sz="900" dirty="0">
                          <a:solidFill>
                            <a:srgbClr val="000000"/>
                          </a:solidFill>
                        </a:rPr>
                        <a:t>ASPIRIN 150MG</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Other</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36</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ctr">
                        <a:buNone/>
                      </a:pPr>
                      <a:r>
                        <a:rPr lang="en-US" sz="900" dirty="0">
                          <a:solidFill>
                            <a:srgbClr val="000000"/>
                          </a:solidFill>
                        </a:rPr>
                        <a:t>GLYCERYL TRINITRATE 5MG</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Other</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00" dirty="0">
                          <a:solidFill>
                            <a:srgbClr val="000000"/>
                          </a:solidFill>
                        </a:rPr>
                        <a:t>22</a:t>
                      </a:r>
                      <a:endParaRPr lang="en-US" sz="90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5532120" y="914400"/>
            <a:ext cx="3291840" cy="274320"/>
          </a:xfrm>
          <a:prstGeom prst="rect">
            <a:avLst/>
          </a:prstGeom>
          <a:noFill/>
          <a:ln/>
        </p:spPr>
        <p:txBody>
          <a:bodyPr wrap="square" lIns="0" tIns="0" rIns="0" bIns="0" rtlCol="0" anchor="ctr"/>
          <a:lstStyle/>
          <a:p>
            <a:pPr marL="0" indent="0">
              <a:buNone/>
            </a:pPr>
            <a:r>
              <a:rPr lang="en-US" sz="1100" b="1" dirty="0">
                <a:solidFill>
                  <a:srgbClr val="0D2B5C"/>
                </a:solidFill>
              </a:rPr>
              <a:t>Stockout vs Overstock by Category </a:t>
            </a:r>
            <a:endParaRPr lang="en-US" sz="1100" dirty="0"/>
          </a:p>
        </p:txBody>
      </p:sp>
      <p:graphicFrame>
        <p:nvGraphicFramePr>
          <p:cNvPr id="9" name="Chart 0"/>
          <p:cNvGraphicFramePr/>
          <p:nvPr>
            <p:extLst>
              <p:ext uri="{D42A27DB-BD31-4B8C-83A1-F6EECF244321}">
                <p14:modId xmlns:p14="http://schemas.microsoft.com/office/powerpoint/2010/main" val="956304892"/>
              </p:ext>
            </p:extLst>
          </p:nvPr>
        </p:nvGraphicFramePr>
        <p:xfrm>
          <a:off x="5394960" y="1234440"/>
          <a:ext cx="347472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p:nvPr/>
        </p:nvSpPr>
        <p:spPr>
          <a:xfrm>
            <a:off x="274320" y="2971800"/>
            <a:ext cx="8595360" cy="274320"/>
          </a:xfrm>
          <a:prstGeom prst="rect">
            <a:avLst/>
          </a:prstGeom>
          <a:noFill/>
          <a:ln/>
        </p:spPr>
        <p:txBody>
          <a:bodyPr wrap="square" lIns="0" tIns="0" rIns="0" bIns="0" rtlCol="0" anchor="ctr"/>
          <a:lstStyle/>
          <a:p>
            <a:pPr marL="0" indent="0">
              <a:buNone/>
            </a:pPr>
            <a:r>
              <a:rPr lang="en-US" sz="1100" b="1" dirty="0">
                <a:solidFill>
                  <a:srgbClr val="0D2B5C"/>
                </a:solidFill>
              </a:rPr>
              <a:t>Supplier KPI vs Shortage Count </a:t>
            </a:r>
            <a:endParaRPr lang="en-US" sz="11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274320" y="3291840"/>
          <a:ext cx="8595360" cy="868680"/>
        </p:xfrm>
        <a:graphic>
          <a:graphicData uri="http://schemas.openxmlformats.org/drawingml/2006/table">
            <a:tbl>
              <a:tblPr/>
              <a:tblGrid>
                <a:gridCol w="22860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289560">
                <a:tc>
                  <a:txBody>
                    <a:bodyPr/>
                    <a:lstStyle/>
                    <a:p>
                      <a:pPr marL="0" indent="0" algn="ctr">
                        <a:buNone/>
                      </a:pPr>
                      <a:r>
                        <a:rPr lang="en-US" sz="950" b="1" dirty="0">
                          <a:solidFill>
                            <a:srgbClr val="FFFFFF"/>
                          </a:solidFill>
                        </a:rPr>
                        <a:t>Supplier</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E7C86"/>
                    </a:solidFill>
                  </a:tcPr>
                </a:tc>
                <a:tc>
                  <a:txBody>
                    <a:bodyPr/>
                    <a:lstStyle/>
                    <a:p>
                      <a:pPr marL="0" indent="0" algn="ctr">
                        <a:buNone/>
                      </a:pPr>
                      <a:r>
                        <a:rPr lang="en-US" sz="950" b="1" dirty="0">
                          <a:solidFill>
                            <a:srgbClr val="FFFFFF"/>
                          </a:solidFill>
                        </a:rPr>
                        <a:t>Avg Lead Days</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E7C86"/>
                    </a:solidFill>
                  </a:tcPr>
                </a:tc>
                <a:tc>
                  <a:txBody>
                    <a:bodyPr/>
                    <a:lstStyle/>
                    <a:p>
                      <a:pPr marL="0" indent="0" algn="ctr">
                        <a:buNone/>
                      </a:pPr>
                      <a:r>
                        <a:rPr lang="en-US" sz="950" b="1" dirty="0">
                          <a:solidFill>
                            <a:srgbClr val="FFFFFF"/>
                          </a:solidFill>
                        </a:rPr>
                        <a:t>Reliability</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E7C86"/>
                    </a:solidFill>
                  </a:tcPr>
                </a:tc>
                <a:tc>
                  <a:txBody>
                    <a:bodyPr/>
                    <a:lstStyle/>
                    <a:p>
                      <a:pPr marL="0" indent="0" algn="ctr">
                        <a:buNone/>
                      </a:pPr>
                      <a:r>
                        <a:rPr lang="en-US" sz="950" b="1" dirty="0">
                          <a:solidFill>
                            <a:srgbClr val="FFFFFF"/>
                          </a:solidFill>
                        </a:rPr>
                        <a:t>On-Time %</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E7C86"/>
                    </a:solidFill>
                  </a:tcPr>
                </a:tc>
                <a:tc>
                  <a:txBody>
                    <a:bodyPr/>
                    <a:lstStyle/>
                    <a:p>
                      <a:pPr marL="0" indent="0" algn="ctr">
                        <a:buNone/>
                      </a:pPr>
                      <a:r>
                        <a:rPr lang="en-US" sz="950" b="1" dirty="0">
                          <a:solidFill>
                            <a:srgbClr val="FFFFFF"/>
                          </a:solidFill>
                        </a:rPr>
                        <a:t>Shortage Count</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289560">
                <a:tc>
                  <a:txBody>
                    <a:bodyPr/>
                    <a:lstStyle/>
                    <a:p>
                      <a:pPr marL="0" indent="0" algn="ctr">
                        <a:buNone/>
                      </a:pPr>
                      <a:r>
                        <a:rPr lang="en-US" sz="950" dirty="0">
                          <a:solidFill>
                            <a:srgbClr val="000000"/>
                          </a:solidFill>
                        </a:rPr>
                        <a:t>Top 5 avg</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~11</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4.5+</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88%+</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Low</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extLst>
                  <a:ext uri="{0D108BD9-81ED-4DB2-BD59-A6C34878D82A}">
                    <a16:rowId xmlns:a16="http://schemas.microsoft.com/office/drawing/2014/main" val="10001"/>
                  </a:ext>
                </a:extLst>
              </a:tr>
              <a:tr h="289560">
                <a:tc>
                  <a:txBody>
                    <a:bodyPr/>
                    <a:lstStyle/>
                    <a:p>
                      <a:pPr marL="0" indent="0" algn="ctr">
                        <a:buNone/>
                      </a:pPr>
                      <a:r>
                        <a:rPr lang="en-US" sz="950" dirty="0">
                          <a:solidFill>
                            <a:srgbClr val="000000"/>
                          </a:solidFill>
                        </a:rPr>
                        <a:t>Bottom avg</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~12</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&lt;3.5</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&lt;75%</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tc>
                  <a:txBody>
                    <a:bodyPr/>
                    <a:lstStyle/>
                    <a:p>
                      <a:pPr marL="0" indent="0" algn="ctr">
                        <a:buNone/>
                      </a:pPr>
                      <a:r>
                        <a:rPr lang="en-US" sz="950" dirty="0">
                          <a:solidFill>
                            <a:srgbClr val="000000"/>
                          </a:solidFill>
                        </a:rPr>
                        <a:t>High</a:t>
                      </a:r>
                      <a:endParaRPr lang="en-US" sz="950" dirty="0"/>
                    </a:p>
                  </a:txBody>
                  <a:tcPr>
                    <a:lnL w="6350" cap="flat" cmpd="sng" algn="ctr">
                      <a:solidFill>
                        <a:srgbClr val="E2EAF2"/>
                      </a:solidFill>
                      <a:prstDash val="solid"/>
                      <a:round/>
                      <a:headEnd type="none" w="med" len="med"/>
                      <a:tailEnd type="none" w="med" len="med"/>
                    </a:lnL>
                    <a:lnR w="6350" cap="flat" cmpd="sng" algn="ctr">
                      <a:solidFill>
                        <a:srgbClr val="E2EAF2"/>
                      </a:solidFill>
                      <a:prstDash val="solid"/>
                      <a:round/>
                      <a:headEnd type="none" w="med" len="med"/>
                      <a:tailEnd type="none" w="med" len="med"/>
                    </a:lnR>
                    <a:lnT w="6350" cap="flat" cmpd="sng" algn="ctr">
                      <a:solidFill>
                        <a:srgbClr val="E2EAF2"/>
                      </a:solidFill>
                      <a:prstDash val="solid"/>
                      <a:round/>
                      <a:headEnd type="none" w="med" len="med"/>
                      <a:tailEnd type="none" w="med" len="med"/>
                    </a:lnT>
                    <a:lnB w="6350" cap="flat" cmpd="sng" algn="ctr">
                      <a:solidFill>
                        <a:srgbClr val="E2EAF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Shape 7"/>
          <p:cNvSpPr/>
          <p:nvPr/>
        </p:nvSpPr>
        <p:spPr>
          <a:xfrm>
            <a:off x="274320" y="4251960"/>
            <a:ext cx="8595360" cy="777240"/>
          </a:xfrm>
          <a:prstGeom prst="rect">
            <a:avLst/>
          </a:prstGeom>
          <a:solidFill>
            <a:srgbClr val="0D2B5C">
              <a:alpha val="12000"/>
            </a:srgbClr>
          </a:solidFill>
          <a:ln w="12700">
            <a:solidFill>
              <a:srgbClr val="0E7C86"/>
            </a:solidFill>
            <a:prstDash val="solid"/>
          </a:ln>
        </p:spPr>
        <p:txBody>
          <a:bodyPr/>
          <a:lstStyle/>
          <a:p>
            <a:endParaRPr lang="en-US"/>
          </a:p>
        </p:txBody>
      </p:sp>
      <p:sp>
        <p:nvSpPr>
          <p:cNvPr id="7" name="Text 8"/>
          <p:cNvSpPr/>
          <p:nvPr/>
        </p:nvSpPr>
        <p:spPr>
          <a:xfrm>
            <a:off x="411480" y="4251960"/>
            <a:ext cx="8321040" cy="777240"/>
          </a:xfrm>
          <a:prstGeom prst="rect">
            <a:avLst/>
          </a:prstGeom>
          <a:noFill/>
          <a:ln/>
        </p:spPr>
        <p:txBody>
          <a:bodyPr wrap="square" rtlCol="0" anchor="ctr"/>
          <a:lstStyle/>
          <a:p>
            <a:pPr marL="171450" indent="-171450">
              <a:buFont typeface="Arial" panose="020B0604020202020204" pitchFamily="34" charset="0"/>
              <a:buChar char="•"/>
            </a:pPr>
            <a:r>
              <a:rPr lang="en-US" sz="1000" b="1" dirty="0">
                <a:solidFill>
                  <a:srgbClr val="0D2B5C"/>
                </a:solidFill>
              </a:rPr>
              <a:t>Overstocking dominates across all categories because facilities over-procure as a safety buffer, yet 27 medicines still fall below reorder meaning the problem is not total stock quantity but poor allocation. </a:t>
            </a:r>
          </a:p>
          <a:p>
            <a:pPr marL="171450" indent="-171450">
              <a:buFont typeface="Arial" panose="020B0604020202020204" pitchFamily="34" charset="0"/>
              <a:buChar char="•"/>
            </a:pPr>
            <a:r>
              <a:rPr lang="en-US" sz="1000" b="1" dirty="0">
                <a:solidFill>
                  <a:srgbClr val="0D2B5C"/>
                </a:solidFill>
              </a:rPr>
              <a:t>Critical drugs under the 'Other' label go undetected longer because broad categorization delays targeted restocking decisions. </a:t>
            </a:r>
          </a:p>
          <a:p>
            <a:pPr marL="171450" indent="-171450">
              <a:buFont typeface="Arial" panose="020B0604020202020204" pitchFamily="34" charset="0"/>
              <a:buChar char="•"/>
            </a:pPr>
            <a:r>
              <a:rPr lang="en-US" sz="1000" b="1" dirty="0">
                <a:solidFill>
                  <a:srgbClr val="0D2B5C"/>
                </a:solidFill>
              </a:rPr>
              <a:t>Supplier delays worsen this further when on-time delivery drops below 75%, replenishment arrives after stock is already critically low, making recovery reactive rather than preventive.</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C"/>
          </a:solidFill>
          <a:ln w="12700">
            <a:solidFill>
              <a:srgbClr val="0D2B5C"/>
            </a:solidFill>
            <a:prstDash val="solid"/>
          </a:ln>
        </p:spPr>
        <p:txBody>
          <a:bodyPr/>
          <a:lstStyle/>
          <a:p>
            <a:endParaRPr lang="en-US"/>
          </a:p>
        </p:txBody>
      </p:sp>
      <p:sp>
        <p:nvSpPr>
          <p:cNvPr id="3" name="Text 1"/>
          <p:cNvSpPr/>
          <p:nvPr/>
        </p:nvSpPr>
        <p:spPr>
          <a:xfrm>
            <a:off x="365760" y="0"/>
            <a:ext cx="6858000" cy="777240"/>
          </a:xfrm>
          <a:prstGeom prst="rect">
            <a:avLst/>
          </a:prstGeom>
          <a:noFill/>
          <a:ln/>
        </p:spPr>
        <p:txBody>
          <a:bodyPr wrap="square" lIns="0" tIns="0" rIns="0" bIns="0" rtlCol="0" anchor="ctr"/>
          <a:lstStyle/>
          <a:p>
            <a:pPr marL="0" indent="0">
              <a:buNone/>
            </a:pPr>
            <a:r>
              <a:rPr lang="en-US" sz="2000" b="1" dirty="0">
                <a:solidFill>
                  <a:srgbClr val="FFFFFF"/>
                </a:solidFill>
              </a:rPr>
              <a:t>Regional Wastage &amp; Stockout Patterns</a:t>
            </a:r>
            <a:endParaRPr lang="en-US" sz="2000" dirty="0"/>
          </a:p>
        </p:txBody>
      </p:sp>
      <p:sp>
        <p:nvSpPr>
          <p:cNvPr id="4" name="Shape 2"/>
          <p:cNvSpPr/>
          <p:nvPr/>
        </p:nvSpPr>
        <p:spPr>
          <a:xfrm>
            <a:off x="7315200" y="242316"/>
            <a:ext cx="1828800" cy="274320"/>
          </a:xfrm>
          <a:prstGeom prst="rect">
            <a:avLst/>
          </a:prstGeom>
          <a:solidFill>
            <a:srgbClr val="0E7C86"/>
          </a:solidFill>
          <a:ln w="12700">
            <a:solidFill>
              <a:srgbClr val="0E7C86"/>
            </a:solidFill>
            <a:prstDash val="solid"/>
          </a:ln>
        </p:spPr>
        <p:txBody>
          <a:bodyPr/>
          <a:lstStyle/>
          <a:p>
            <a:endParaRPr lang="en-US"/>
          </a:p>
        </p:txBody>
      </p:sp>
      <p:sp>
        <p:nvSpPr>
          <p:cNvPr id="5" name="Text 3"/>
          <p:cNvSpPr/>
          <p:nvPr/>
        </p:nvSpPr>
        <p:spPr>
          <a:xfrm>
            <a:off x="7498080" y="256032"/>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rPr>
              <a:t>BO1 | BO3</a:t>
            </a:r>
            <a:endParaRPr lang="en-US" sz="900" dirty="0"/>
          </a:p>
        </p:txBody>
      </p:sp>
      <p:graphicFrame>
        <p:nvGraphicFramePr>
          <p:cNvPr id="6" name="Chart 0"/>
          <p:cNvGraphicFramePr/>
          <p:nvPr/>
        </p:nvGraphicFramePr>
        <p:xfrm>
          <a:off x="274320" y="86868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989320" y="786384"/>
            <a:ext cx="2834640" cy="774496"/>
          </a:xfrm>
          <a:prstGeom prst="rect">
            <a:avLst/>
          </a:prstGeom>
          <a:solidFill>
            <a:srgbClr val="C0392B"/>
          </a:solidFill>
          <a:ln w="12700">
            <a:solidFill>
              <a:srgbClr val="C0392B"/>
            </a:solidFill>
            <a:prstDash val="solid"/>
          </a:ln>
          <a:effectLst>
            <a:outerShdw blurRad="63500" dist="25400" dir="8100000" algn="bl" rotWithShape="0">
              <a:srgbClr val="000000">
                <a:alpha val="15000"/>
              </a:srgbClr>
            </a:outerShdw>
          </a:effectLst>
        </p:spPr>
        <p:txBody>
          <a:bodyPr/>
          <a:lstStyle/>
          <a:p>
            <a:endParaRPr lang="en-US"/>
          </a:p>
        </p:txBody>
      </p:sp>
      <p:sp>
        <p:nvSpPr>
          <p:cNvPr id="8" name="Text 5"/>
          <p:cNvSpPr/>
          <p:nvPr/>
        </p:nvSpPr>
        <p:spPr>
          <a:xfrm>
            <a:off x="5989320" y="837362"/>
            <a:ext cx="2834640" cy="412394"/>
          </a:xfrm>
          <a:prstGeom prst="rect">
            <a:avLst/>
          </a:prstGeom>
          <a:noFill/>
          <a:ln/>
        </p:spPr>
        <p:txBody>
          <a:bodyPr wrap="square" lIns="0" tIns="0" rIns="0" bIns="0" rtlCol="0" anchor="b"/>
          <a:lstStyle/>
          <a:p>
            <a:pPr marL="0" indent="0" algn="ctr">
              <a:buNone/>
            </a:pPr>
            <a:r>
              <a:rPr lang="en-US" sz="2800" b="1" dirty="0">
                <a:solidFill>
                  <a:srgbClr val="FFFFFF"/>
                </a:solidFill>
              </a:rPr>
              <a:t>4,151</a:t>
            </a:r>
            <a:endParaRPr lang="en-US" sz="2800" dirty="0"/>
          </a:p>
        </p:txBody>
      </p:sp>
      <p:sp>
        <p:nvSpPr>
          <p:cNvPr id="9" name="Text 6"/>
          <p:cNvSpPr/>
          <p:nvPr/>
        </p:nvSpPr>
        <p:spPr>
          <a:xfrm>
            <a:off x="5966460" y="1244157"/>
            <a:ext cx="2834640" cy="299923"/>
          </a:xfrm>
          <a:prstGeom prst="rect">
            <a:avLst/>
          </a:prstGeom>
          <a:noFill/>
          <a:ln/>
        </p:spPr>
        <p:txBody>
          <a:bodyPr wrap="square" lIns="0" tIns="0" rIns="0" bIns="0" rtlCol="0" anchor="t"/>
          <a:lstStyle/>
          <a:p>
            <a:pPr marL="0" indent="0" algn="ctr">
              <a:buNone/>
            </a:pPr>
            <a:r>
              <a:rPr lang="en-US" sz="1000" dirty="0">
                <a:solidFill>
                  <a:srgbClr val="FFFFFF"/>
                </a:solidFill>
              </a:rPr>
              <a:t>Total Wastage Units</a:t>
            </a:r>
            <a:endParaRPr lang="en-US" sz="1000" dirty="0"/>
          </a:p>
          <a:p>
            <a:pPr marL="0" indent="0" algn="ctr">
              <a:buNone/>
            </a:pPr>
            <a:r>
              <a:rPr lang="en-US" sz="1000" dirty="0">
                <a:solidFill>
                  <a:srgbClr val="FFFFFF"/>
                </a:solidFill>
              </a:rPr>
              <a:t>across all regions</a:t>
            </a:r>
            <a:endParaRPr lang="en-US" sz="1000" dirty="0"/>
          </a:p>
        </p:txBody>
      </p:sp>
      <p:sp>
        <p:nvSpPr>
          <p:cNvPr id="10" name="Shape 7"/>
          <p:cNvSpPr/>
          <p:nvPr/>
        </p:nvSpPr>
        <p:spPr>
          <a:xfrm>
            <a:off x="5989320" y="1667617"/>
            <a:ext cx="2834640" cy="830523"/>
          </a:xfrm>
          <a:prstGeom prst="rect">
            <a:avLst/>
          </a:prstGeom>
          <a:solidFill>
            <a:srgbClr val="F39C12"/>
          </a:solidFill>
          <a:ln w="12700">
            <a:solidFill>
              <a:srgbClr val="F39C12"/>
            </a:solidFill>
            <a:prstDash val="solid"/>
          </a:ln>
          <a:effectLst>
            <a:outerShdw blurRad="63500" dist="25400" dir="8100000" algn="bl" rotWithShape="0">
              <a:srgbClr val="000000">
                <a:alpha val="15000"/>
              </a:srgbClr>
            </a:outerShdw>
          </a:effectLst>
        </p:spPr>
        <p:txBody>
          <a:bodyPr/>
          <a:lstStyle/>
          <a:p>
            <a:endParaRPr lang="en-US"/>
          </a:p>
        </p:txBody>
      </p:sp>
      <p:sp>
        <p:nvSpPr>
          <p:cNvPr id="11" name="Text 8"/>
          <p:cNvSpPr/>
          <p:nvPr/>
        </p:nvSpPr>
        <p:spPr>
          <a:xfrm>
            <a:off x="5943600" y="1732331"/>
            <a:ext cx="2834640" cy="412394"/>
          </a:xfrm>
          <a:prstGeom prst="rect">
            <a:avLst/>
          </a:prstGeom>
          <a:noFill/>
          <a:ln/>
        </p:spPr>
        <p:txBody>
          <a:bodyPr wrap="square" lIns="0" tIns="0" rIns="0" bIns="0" rtlCol="0" anchor="b"/>
          <a:lstStyle/>
          <a:p>
            <a:pPr marL="0" indent="0" algn="ctr">
              <a:buNone/>
            </a:pPr>
            <a:r>
              <a:rPr lang="en-US" sz="2800" b="1" dirty="0">
                <a:solidFill>
                  <a:srgbClr val="FFFFFF"/>
                </a:solidFill>
              </a:rPr>
              <a:t>316</a:t>
            </a:r>
            <a:endParaRPr lang="en-US" sz="2800" dirty="0"/>
          </a:p>
        </p:txBody>
      </p:sp>
      <p:sp>
        <p:nvSpPr>
          <p:cNvPr id="12" name="Text 9"/>
          <p:cNvSpPr/>
          <p:nvPr/>
        </p:nvSpPr>
        <p:spPr>
          <a:xfrm>
            <a:off x="5966460" y="2116607"/>
            <a:ext cx="2834640" cy="299923"/>
          </a:xfrm>
          <a:prstGeom prst="rect">
            <a:avLst/>
          </a:prstGeom>
          <a:noFill/>
          <a:ln/>
        </p:spPr>
        <p:txBody>
          <a:bodyPr wrap="square" lIns="0" tIns="0" rIns="0" bIns="0" rtlCol="0" anchor="t"/>
          <a:lstStyle/>
          <a:p>
            <a:pPr marL="0" indent="0" algn="ctr">
              <a:buNone/>
            </a:pPr>
            <a:r>
              <a:rPr lang="en-US" sz="1000" dirty="0">
                <a:solidFill>
                  <a:srgbClr val="FFFFFF"/>
                </a:solidFill>
              </a:rPr>
              <a:t>Stockout Events</a:t>
            </a:r>
            <a:endParaRPr lang="en-US" sz="1000" dirty="0"/>
          </a:p>
          <a:p>
            <a:pPr marL="0" indent="0" algn="ctr">
              <a:buNone/>
            </a:pPr>
            <a:r>
              <a:rPr lang="en-US" sz="1000" dirty="0">
                <a:solidFill>
                  <a:srgbClr val="FFFFFF"/>
                </a:solidFill>
              </a:rPr>
              <a:t>(2.8% of records)</a:t>
            </a:r>
            <a:endParaRPr lang="en-US" sz="1000" dirty="0"/>
          </a:p>
        </p:txBody>
      </p:sp>
      <p:sp>
        <p:nvSpPr>
          <p:cNvPr id="13" name="Shape 10"/>
          <p:cNvSpPr/>
          <p:nvPr/>
        </p:nvSpPr>
        <p:spPr>
          <a:xfrm>
            <a:off x="5989320" y="2578039"/>
            <a:ext cx="2834640" cy="749808"/>
          </a:xfrm>
          <a:prstGeom prst="rect">
            <a:avLst/>
          </a:prstGeom>
          <a:solidFill>
            <a:srgbClr val="0D2B5C"/>
          </a:solidFill>
          <a:ln w="12700">
            <a:solidFill>
              <a:srgbClr val="0D2B5C"/>
            </a:solidFill>
            <a:prstDash val="solid"/>
          </a:ln>
          <a:effectLst>
            <a:outerShdw blurRad="63500" dist="25400" dir="8100000" algn="bl" rotWithShape="0">
              <a:srgbClr val="000000">
                <a:alpha val="15000"/>
              </a:srgbClr>
            </a:outerShdw>
          </a:effectLst>
        </p:spPr>
        <p:txBody>
          <a:bodyPr/>
          <a:lstStyle/>
          <a:p>
            <a:endParaRPr lang="en-US"/>
          </a:p>
        </p:txBody>
      </p:sp>
      <p:sp>
        <p:nvSpPr>
          <p:cNvPr id="14" name="Text 11"/>
          <p:cNvSpPr/>
          <p:nvPr/>
        </p:nvSpPr>
        <p:spPr>
          <a:xfrm>
            <a:off x="5966460" y="2587981"/>
            <a:ext cx="2834640" cy="412394"/>
          </a:xfrm>
          <a:prstGeom prst="rect">
            <a:avLst/>
          </a:prstGeom>
          <a:noFill/>
          <a:ln/>
        </p:spPr>
        <p:txBody>
          <a:bodyPr wrap="square" lIns="0" tIns="0" rIns="0" bIns="0" rtlCol="0" anchor="b"/>
          <a:lstStyle/>
          <a:p>
            <a:pPr marL="0" indent="0" algn="ctr">
              <a:buNone/>
            </a:pPr>
            <a:r>
              <a:rPr lang="en-US" sz="2800" b="1" dirty="0">
                <a:solidFill>
                  <a:srgbClr val="FFFFFF"/>
                </a:solidFill>
              </a:rPr>
              <a:t>Mumbai</a:t>
            </a:r>
            <a:endParaRPr lang="en-US" sz="2800" dirty="0"/>
          </a:p>
        </p:txBody>
      </p:sp>
      <p:sp>
        <p:nvSpPr>
          <p:cNvPr id="15" name="Text 12"/>
          <p:cNvSpPr/>
          <p:nvPr/>
        </p:nvSpPr>
        <p:spPr>
          <a:xfrm>
            <a:off x="5966460" y="2965627"/>
            <a:ext cx="2834640" cy="299923"/>
          </a:xfrm>
          <a:prstGeom prst="rect">
            <a:avLst/>
          </a:prstGeom>
          <a:noFill/>
          <a:ln/>
        </p:spPr>
        <p:txBody>
          <a:bodyPr wrap="square" lIns="0" tIns="0" rIns="0" bIns="0" rtlCol="0" anchor="t"/>
          <a:lstStyle/>
          <a:p>
            <a:pPr marL="0" indent="0" algn="ctr">
              <a:buNone/>
            </a:pPr>
            <a:r>
              <a:rPr lang="en-US" sz="1000" dirty="0">
                <a:solidFill>
                  <a:srgbClr val="FFFFFF"/>
                </a:solidFill>
              </a:rPr>
              <a:t>Highest Wastage (533)</a:t>
            </a:r>
            <a:endParaRPr lang="en-US" sz="1000" dirty="0"/>
          </a:p>
          <a:p>
            <a:pPr marL="0" indent="0" algn="ctr">
              <a:buNone/>
            </a:pPr>
            <a:r>
              <a:rPr lang="en-US" sz="1000" dirty="0">
                <a:solidFill>
                  <a:srgbClr val="FFFFFF"/>
                </a:solidFill>
              </a:rPr>
              <a:t>&amp; Stockout (80 days)</a:t>
            </a:r>
            <a:endParaRPr lang="en-US" sz="1000" dirty="0"/>
          </a:p>
        </p:txBody>
      </p:sp>
      <p:sp>
        <p:nvSpPr>
          <p:cNvPr id="16" name="Shape 13"/>
          <p:cNvSpPr/>
          <p:nvPr/>
        </p:nvSpPr>
        <p:spPr>
          <a:xfrm>
            <a:off x="5989320" y="3364992"/>
            <a:ext cx="2834640" cy="704088"/>
          </a:xfrm>
          <a:prstGeom prst="rect">
            <a:avLst/>
          </a:prstGeom>
          <a:solidFill>
            <a:srgbClr val="0E7C86"/>
          </a:solidFill>
          <a:ln w="12700">
            <a:solidFill>
              <a:srgbClr val="0E7C86"/>
            </a:solidFill>
            <a:prstDash val="solid"/>
          </a:ln>
          <a:effectLst>
            <a:outerShdw blurRad="63500" dist="25400" dir="8100000" algn="bl" rotWithShape="0">
              <a:srgbClr val="000000">
                <a:alpha val="15000"/>
              </a:srgbClr>
            </a:outerShdw>
          </a:effectLst>
        </p:spPr>
        <p:txBody>
          <a:bodyPr/>
          <a:lstStyle/>
          <a:p>
            <a:endParaRPr lang="en-US"/>
          </a:p>
        </p:txBody>
      </p:sp>
      <p:sp>
        <p:nvSpPr>
          <p:cNvPr id="17" name="Text 14"/>
          <p:cNvSpPr/>
          <p:nvPr/>
        </p:nvSpPr>
        <p:spPr>
          <a:xfrm>
            <a:off x="6035040" y="3386826"/>
            <a:ext cx="2834640" cy="412394"/>
          </a:xfrm>
          <a:prstGeom prst="rect">
            <a:avLst/>
          </a:prstGeom>
          <a:noFill/>
          <a:ln/>
        </p:spPr>
        <p:txBody>
          <a:bodyPr wrap="square" lIns="0" tIns="0" rIns="0" bIns="0" rtlCol="0" anchor="b"/>
          <a:lstStyle/>
          <a:p>
            <a:pPr marL="0" indent="0" algn="ctr">
              <a:buNone/>
            </a:pPr>
            <a:r>
              <a:rPr lang="en-US" sz="2800" b="1" dirty="0">
                <a:solidFill>
                  <a:srgbClr val="FFFFFF"/>
                </a:solidFill>
              </a:rPr>
              <a:t>5×</a:t>
            </a:r>
            <a:endParaRPr lang="en-US" sz="2800" dirty="0"/>
          </a:p>
        </p:txBody>
      </p:sp>
      <p:sp>
        <p:nvSpPr>
          <p:cNvPr id="18" name="Text 15"/>
          <p:cNvSpPr/>
          <p:nvPr/>
        </p:nvSpPr>
        <p:spPr>
          <a:xfrm>
            <a:off x="6080760" y="3729111"/>
            <a:ext cx="2834640" cy="299923"/>
          </a:xfrm>
          <a:prstGeom prst="rect">
            <a:avLst/>
          </a:prstGeom>
          <a:noFill/>
          <a:ln/>
        </p:spPr>
        <p:txBody>
          <a:bodyPr wrap="square" lIns="0" tIns="0" rIns="0" bIns="0" rtlCol="0" anchor="t"/>
          <a:lstStyle/>
          <a:p>
            <a:pPr marL="0" indent="0" algn="ctr">
              <a:buNone/>
            </a:pPr>
            <a:r>
              <a:rPr lang="en-US" sz="1000" dirty="0">
                <a:solidFill>
                  <a:srgbClr val="FFFFFF"/>
                </a:solidFill>
              </a:rPr>
              <a:t>Wastage probability</a:t>
            </a:r>
            <a:endParaRPr lang="en-US" sz="1000" dirty="0"/>
          </a:p>
          <a:p>
            <a:pPr marL="0" indent="0" algn="ctr">
              <a:buNone/>
            </a:pPr>
            <a:r>
              <a:rPr lang="en-US" sz="1000" dirty="0">
                <a:solidFill>
                  <a:srgbClr val="FFFFFF"/>
                </a:solidFill>
              </a:rPr>
              <a:t>vs Stockout probability</a:t>
            </a:r>
            <a:endParaRPr lang="en-US" sz="1000" dirty="0"/>
          </a:p>
        </p:txBody>
      </p:sp>
      <p:sp>
        <p:nvSpPr>
          <p:cNvPr id="21" name="Shape 18"/>
          <p:cNvSpPr/>
          <p:nvPr/>
        </p:nvSpPr>
        <p:spPr>
          <a:xfrm>
            <a:off x="274320" y="4281795"/>
            <a:ext cx="8595361" cy="685497"/>
          </a:xfrm>
          <a:prstGeom prst="rect">
            <a:avLst/>
          </a:prstGeom>
          <a:solidFill>
            <a:srgbClr val="0D2B5C">
              <a:alpha val="12000"/>
            </a:srgbClr>
          </a:solidFill>
          <a:ln w="12700">
            <a:solidFill>
              <a:srgbClr val="0E7C86"/>
            </a:solidFill>
            <a:prstDash val="solid"/>
          </a:ln>
        </p:spPr>
        <p:txBody>
          <a:bodyPr/>
          <a:lstStyle/>
          <a:p>
            <a:endParaRPr lang="en-US"/>
          </a:p>
        </p:txBody>
      </p:sp>
      <p:sp>
        <p:nvSpPr>
          <p:cNvPr id="22" name="Text 19"/>
          <p:cNvSpPr/>
          <p:nvPr/>
        </p:nvSpPr>
        <p:spPr>
          <a:xfrm>
            <a:off x="365760" y="4274820"/>
            <a:ext cx="8595360" cy="692472"/>
          </a:xfrm>
          <a:prstGeom prst="rect">
            <a:avLst/>
          </a:prstGeom>
          <a:noFill/>
          <a:ln/>
        </p:spPr>
        <p:txBody>
          <a:bodyPr wrap="square" rtlCol="0" anchor="ctr"/>
          <a:lstStyle/>
          <a:p>
            <a:pPr marL="171450" indent="-171450">
              <a:buFont typeface="Arial" panose="020B0604020202020204" pitchFamily="34" charset="0"/>
              <a:buChar char="•"/>
            </a:pPr>
            <a:r>
              <a:rPr lang="en-US" sz="1000" b="1" dirty="0">
                <a:solidFill>
                  <a:schemeClr val="tx2"/>
                </a:solidFill>
              </a:rPr>
              <a:t>Mumbai wastes 533 units and still stockouts for 80 days that paradox tells the whole story. </a:t>
            </a:r>
          </a:p>
          <a:p>
            <a:pPr marL="171450" indent="-171450">
              <a:buFont typeface="Arial" panose="020B0604020202020204" pitchFamily="34" charset="0"/>
              <a:buChar char="•"/>
            </a:pPr>
            <a:r>
              <a:rPr lang="en-US" sz="1000" b="1" dirty="0">
                <a:solidFill>
                  <a:schemeClr val="tx2"/>
                </a:solidFill>
              </a:rPr>
              <a:t>Every metro city shows the same pattern: bulk over-procurement creating waste, while critical medicines still run short. </a:t>
            </a:r>
          </a:p>
          <a:p>
            <a:pPr marL="171450" indent="-171450">
              <a:buFont typeface="Arial" panose="020B0604020202020204" pitchFamily="34" charset="0"/>
              <a:buChar char="•"/>
            </a:pPr>
            <a:r>
              <a:rPr lang="en-US" sz="1000" b="1" dirty="0">
                <a:solidFill>
                  <a:schemeClr val="tx2"/>
                </a:solidFill>
              </a:rPr>
              <a:t>Wastage is 5 times more probable than stockout but they're wasting the wrong medicines and running out of the right ones. </a:t>
            </a:r>
          </a:p>
          <a:p>
            <a:pPr marL="171450" indent="-171450">
              <a:buFont typeface="Arial" panose="020B0604020202020204" pitchFamily="34" charset="0"/>
              <a:buChar char="•"/>
            </a:pPr>
            <a:r>
              <a:rPr lang="en-US" sz="1000" b="1" dirty="0">
                <a:solidFill>
                  <a:schemeClr val="tx2"/>
                </a:solidFill>
              </a:rPr>
              <a:t>This is a misallocation problem, not a supply problem.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7045"/>
            <a:ext cx="9144000" cy="777240"/>
          </a:xfrm>
          <a:prstGeom prst="rect">
            <a:avLst/>
          </a:prstGeom>
          <a:solidFill>
            <a:srgbClr val="0D2B5C"/>
          </a:solidFill>
          <a:ln w="12700">
            <a:solidFill>
              <a:srgbClr val="0D2B5C"/>
            </a:solidFill>
            <a:prstDash val="solid"/>
          </a:ln>
        </p:spPr>
        <p:txBody>
          <a:bodyPr/>
          <a:lstStyle/>
          <a:p>
            <a:endParaRPr lang="en-US"/>
          </a:p>
        </p:txBody>
      </p:sp>
      <p:sp>
        <p:nvSpPr>
          <p:cNvPr id="3" name="Text 1"/>
          <p:cNvSpPr/>
          <p:nvPr/>
        </p:nvSpPr>
        <p:spPr>
          <a:xfrm>
            <a:off x="365760" y="0"/>
            <a:ext cx="6858000" cy="777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Inventory Risk Distribution</a:t>
            </a:r>
            <a:endParaRPr lang="en-US" sz="2000" dirty="0"/>
          </a:p>
        </p:txBody>
      </p:sp>
      <p:sp>
        <p:nvSpPr>
          <p:cNvPr id="4" name="Shape 2"/>
          <p:cNvSpPr/>
          <p:nvPr/>
        </p:nvSpPr>
        <p:spPr>
          <a:xfrm>
            <a:off x="7315200" y="242225"/>
            <a:ext cx="1828800" cy="274320"/>
          </a:xfrm>
          <a:prstGeom prst="rect">
            <a:avLst/>
          </a:prstGeom>
          <a:solidFill>
            <a:srgbClr val="0E7C86"/>
          </a:solidFill>
          <a:ln w="12700">
            <a:solidFill>
              <a:srgbClr val="0E7C86"/>
            </a:solidFill>
            <a:prstDash val="solid"/>
          </a:ln>
        </p:spPr>
        <p:txBody>
          <a:bodyPr/>
          <a:lstStyle/>
          <a:p>
            <a:endParaRPr lang="en-US"/>
          </a:p>
        </p:txBody>
      </p:sp>
      <p:sp>
        <p:nvSpPr>
          <p:cNvPr id="5" name="Text 3"/>
          <p:cNvSpPr/>
          <p:nvPr/>
        </p:nvSpPr>
        <p:spPr>
          <a:xfrm>
            <a:off x="7498080" y="256032"/>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rPr>
              <a:t>BO1 | BO4</a:t>
            </a:r>
            <a:endParaRPr lang="en-US" sz="900" dirty="0"/>
          </a:p>
        </p:txBody>
      </p:sp>
      <p:graphicFrame>
        <p:nvGraphicFramePr>
          <p:cNvPr id="6" name="Chart 0"/>
          <p:cNvGraphicFramePr/>
          <p:nvPr/>
        </p:nvGraphicFramePr>
        <p:xfrm>
          <a:off x="274320" y="868680"/>
          <a:ext cx="41148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4663440" y="914400"/>
            <a:ext cx="4114800" cy="749808"/>
          </a:xfrm>
          <a:prstGeom prst="rect">
            <a:avLst/>
          </a:prstGeom>
          <a:solidFill>
            <a:srgbClr val="0E7C86"/>
          </a:solidFill>
          <a:ln w="12700">
            <a:solidFill>
              <a:srgbClr val="0E7C86"/>
            </a:solidFill>
            <a:prstDash val="solid"/>
          </a:ln>
          <a:effectLst>
            <a:outerShdw blurRad="63500" dist="25400" dir="8100000" algn="bl" rotWithShape="0">
              <a:srgbClr val="000000">
                <a:alpha val="15000"/>
              </a:srgbClr>
            </a:outerShdw>
          </a:effectLst>
        </p:spPr>
        <p:txBody>
          <a:bodyPr/>
          <a:lstStyle/>
          <a:p>
            <a:endParaRPr lang="en-US"/>
          </a:p>
        </p:txBody>
      </p:sp>
      <p:sp>
        <p:nvSpPr>
          <p:cNvPr id="8" name="Text 5"/>
          <p:cNvSpPr/>
          <p:nvPr/>
        </p:nvSpPr>
        <p:spPr>
          <a:xfrm>
            <a:off x="4663440" y="1024128"/>
            <a:ext cx="4114800" cy="412394"/>
          </a:xfrm>
          <a:prstGeom prst="rect">
            <a:avLst/>
          </a:prstGeom>
          <a:noFill/>
          <a:ln/>
        </p:spPr>
        <p:txBody>
          <a:bodyPr wrap="square" lIns="0" tIns="0" rIns="0" bIns="0" rtlCol="0" anchor="b"/>
          <a:lstStyle/>
          <a:p>
            <a:pPr marL="0" indent="0" algn="ctr">
              <a:buNone/>
            </a:pPr>
            <a:r>
              <a:rPr lang="en-US" sz="2800" b="1" dirty="0">
                <a:solidFill>
                  <a:srgbClr val="FFFFFF"/>
                </a:solidFill>
              </a:rPr>
              <a:t>176</a:t>
            </a:r>
            <a:endParaRPr lang="en-US" sz="2800" dirty="0"/>
          </a:p>
        </p:txBody>
      </p:sp>
      <p:sp>
        <p:nvSpPr>
          <p:cNvPr id="9" name="Text 6"/>
          <p:cNvSpPr/>
          <p:nvPr/>
        </p:nvSpPr>
        <p:spPr>
          <a:xfrm>
            <a:off x="4663440" y="1326794"/>
            <a:ext cx="4114800" cy="299923"/>
          </a:xfrm>
          <a:prstGeom prst="rect">
            <a:avLst/>
          </a:prstGeom>
          <a:noFill/>
          <a:ln/>
        </p:spPr>
        <p:txBody>
          <a:bodyPr wrap="square" lIns="0" tIns="0" rIns="0" bIns="0" rtlCol="0" anchor="t"/>
          <a:lstStyle/>
          <a:p>
            <a:pPr marL="0" indent="0" algn="ctr">
              <a:buNone/>
            </a:pPr>
            <a:r>
              <a:rPr lang="en-US" sz="1000" dirty="0">
                <a:solidFill>
                  <a:srgbClr val="FFFFFF"/>
                </a:solidFill>
              </a:rPr>
              <a:t>Overstock Items</a:t>
            </a:r>
            <a:endParaRPr lang="en-US" sz="1000" dirty="0"/>
          </a:p>
          <a:p>
            <a:pPr marL="0" indent="0" algn="ctr">
              <a:buNone/>
            </a:pPr>
            <a:r>
              <a:rPr lang="en-US" sz="1000" dirty="0">
                <a:solidFill>
                  <a:srgbClr val="FFFFFF"/>
                </a:solidFill>
              </a:rPr>
              <a:t>(48.1%)</a:t>
            </a:r>
            <a:endParaRPr lang="en-US" sz="1000" dirty="0"/>
          </a:p>
        </p:txBody>
      </p:sp>
      <p:sp>
        <p:nvSpPr>
          <p:cNvPr id="10" name="Shape 7"/>
          <p:cNvSpPr/>
          <p:nvPr/>
        </p:nvSpPr>
        <p:spPr>
          <a:xfrm>
            <a:off x="4663440" y="1783080"/>
            <a:ext cx="4114800" cy="749808"/>
          </a:xfrm>
          <a:prstGeom prst="rect">
            <a:avLst/>
          </a:prstGeom>
          <a:solidFill>
            <a:srgbClr val="F39C12"/>
          </a:solidFill>
          <a:ln w="12700">
            <a:solidFill>
              <a:srgbClr val="F39C12"/>
            </a:solidFill>
            <a:prstDash val="solid"/>
          </a:ln>
          <a:effectLst>
            <a:outerShdw blurRad="63500" dist="25400" dir="8100000" algn="bl" rotWithShape="0">
              <a:srgbClr val="000000">
                <a:alpha val="15000"/>
              </a:srgbClr>
            </a:outerShdw>
          </a:effectLst>
        </p:spPr>
        <p:txBody>
          <a:bodyPr/>
          <a:lstStyle/>
          <a:p>
            <a:endParaRPr lang="en-US"/>
          </a:p>
        </p:txBody>
      </p:sp>
      <p:sp>
        <p:nvSpPr>
          <p:cNvPr id="11" name="Text 8"/>
          <p:cNvSpPr/>
          <p:nvPr/>
        </p:nvSpPr>
        <p:spPr>
          <a:xfrm>
            <a:off x="4663440" y="1892808"/>
            <a:ext cx="4114800" cy="412394"/>
          </a:xfrm>
          <a:prstGeom prst="rect">
            <a:avLst/>
          </a:prstGeom>
          <a:noFill/>
          <a:ln/>
        </p:spPr>
        <p:txBody>
          <a:bodyPr wrap="square" lIns="0" tIns="0" rIns="0" bIns="0" rtlCol="0" anchor="b"/>
          <a:lstStyle/>
          <a:p>
            <a:pPr marL="0" indent="0" algn="ctr">
              <a:buNone/>
            </a:pPr>
            <a:r>
              <a:rPr lang="en-US" sz="2800" b="1" dirty="0">
                <a:solidFill>
                  <a:srgbClr val="FFFFFF"/>
                </a:solidFill>
              </a:rPr>
              <a:t>168</a:t>
            </a:r>
            <a:endParaRPr lang="en-US" sz="2800" dirty="0"/>
          </a:p>
        </p:txBody>
      </p:sp>
      <p:sp>
        <p:nvSpPr>
          <p:cNvPr id="12" name="Text 9"/>
          <p:cNvSpPr/>
          <p:nvPr/>
        </p:nvSpPr>
        <p:spPr>
          <a:xfrm>
            <a:off x="4663440" y="2195474"/>
            <a:ext cx="4114800" cy="299923"/>
          </a:xfrm>
          <a:prstGeom prst="rect">
            <a:avLst/>
          </a:prstGeom>
          <a:noFill/>
          <a:ln/>
        </p:spPr>
        <p:txBody>
          <a:bodyPr wrap="square" lIns="0" tIns="0" rIns="0" bIns="0" rtlCol="0" anchor="t"/>
          <a:lstStyle/>
          <a:p>
            <a:pPr marL="0" indent="0" algn="ctr">
              <a:buNone/>
            </a:pPr>
            <a:r>
              <a:rPr lang="en-US" sz="1000" dirty="0">
                <a:solidFill>
                  <a:srgbClr val="FFFFFF"/>
                </a:solidFill>
              </a:rPr>
              <a:t>Expiry Risk Items</a:t>
            </a:r>
            <a:endParaRPr lang="en-US" sz="1000" dirty="0"/>
          </a:p>
          <a:p>
            <a:pPr marL="0" indent="0" algn="ctr">
              <a:buNone/>
            </a:pPr>
            <a:r>
              <a:rPr lang="en-US" sz="1000" dirty="0">
                <a:solidFill>
                  <a:srgbClr val="FFFFFF"/>
                </a:solidFill>
              </a:rPr>
              <a:t>(45.9%)</a:t>
            </a:r>
            <a:endParaRPr lang="en-US" sz="1000" dirty="0"/>
          </a:p>
        </p:txBody>
      </p:sp>
      <p:sp>
        <p:nvSpPr>
          <p:cNvPr id="13" name="Shape 10"/>
          <p:cNvSpPr/>
          <p:nvPr/>
        </p:nvSpPr>
        <p:spPr>
          <a:xfrm>
            <a:off x="4663440" y="2651760"/>
            <a:ext cx="4114800" cy="749808"/>
          </a:xfrm>
          <a:prstGeom prst="rect">
            <a:avLst/>
          </a:prstGeom>
          <a:solidFill>
            <a:srgbClr val="C0392B"/>
          </a:solidFill>
          <a:ln w="12700">
            <a:solidFill>
              <a:srgbClr val="C0392B"/>
            </a:solidFill>
            <a:prstDash val="solid"/>
          </a:ln>
          <a:effectLst>
            <a:outerShdw blurRad="63500" dist="25400" dir="8100000" algn="bl" rotWithShape="0">
              <a:srgbClr val="000000">
                <a:alpha val="15000"/>
              </a:srgbClr>
            </a:outerShdw>
          </a:effectLst>
        </p:spPr>
        <p:txBody>
          <a:bodyPr/>
          <a:lstStyle/>
          <a:p>
            <a:endParaRPr lang="en-US"/>
          </a:p>
        </p:txBody>
      </p:sp>
      <p:sp>
        <p:nvSpPr>
          <p:cNvPr id="14" name="Text 11"/>
          <p:cNvSpPr/>
          <p:nvPr/>
        </p:nvSpPr>
        <p:spPr>
          <a:xfrm>
            <a:off x="4663440" y="2761488"/>
            <a:ext cx="4114800" cy="412394"/>
          </a:xfrm>
          <a:prstGeom prst="rect">
            <a:avLst/>
          </a:prstGeom>
          <a:noFill/>
          <a:ln/>
        </p:spPr>
        <p:txBody>
          <a:bodyPr wrap="square" lIns="0" tIns="0" rIns="0" bIns="0" rtlCol="0" anchor="b"/>
          <a:lstStyle/>
          <a:p>
            <a:pPr marL="0" indent="0" algn="ctr">
              <a:buNone/>
            </a:pPr>
            <a:r>
              <a:rPr lang="en-US" sz="2800" b="1" dirty="0">
                <a:solidFill>
                  <a:srgbClr val="FFFFFF"/>
                </a:solidFill>
              </a:rPr>
              <a:t>22</a:t>
            </a:r>
            <a:endParaRPr lang="en-US" sz="2800" dirty="0"/>
          </a:p>
        </p:txBody>
      </p:sp>
      <p:sp>
        <p:nvSpPr>
          <p:cNvPr id="15" name="Text 12"/>
          <p:cNvSpPr/>
          <p:nvPr/>
        </p:nvSpPr>
        <p:spPr>
          <a:xfrm>
            <a:off x="4663440" y="3064154"/>
            <a:ext cx="4114800" cy="299923"/>
          </a:xfrm>
          <a:prstGeom prst="rect">
            <a:avLst/>
          </a:prstGeom>
          <a:noFill/>
          <a:ln/>
        </p:spPr>
        <p:txBody>
          <a:bodyPr wrap="square" lIns="0" tIns="0" rIns="0" bIns="0" rtlCol="0" anchor="t"/>
          <a:lstStyle/>
          <a:p>
            <a:pPr marL="0" indent="0" algn="ctr">
              <a:buNone/>
            </a:pPr>
            <a:r>
              <a:rPr lang="en-US" sz="1000" dirty="0">
                <a:solidFill>
                  <a:srgbClr val="FFFFFF"/>
                </a:solidFill>
              </a:rPr>
              <a:t>Stockout Risk</a:t>
            </a:r>
            <a:endParaRPr lang="en-US" sz="1000" dirty="0"/>
          </a:p>
          <a:p>
            <a:pPr marL="0" indent="0" algn="ctr">
              <a:buNone/>
            </a:pPr>
            <a:r>
              <a:rPr lang="en-US" sz="1000" dirty="0">
                <a:solidFill>
                  <a:srgbClr val="FFFFFF"/>
                </a:solidFill>
              </a:rPr>
              <a:t>(6.0%)</a:t>
            </a:r>
            <a:endParaRPr lang="en-US" sz="1000" dirty="0"/>
          </a:p>
        </p:txBody>
      </p:sp>
      <p:sp>
        <p:nvSpPr>
          <p:cNvPr id="16" name="Shape 13"/>
          <p:cNvSpPr/>
          <p:nvPr/>
        </p:nvSpPr>
        <p:spPr>
          <a:xfrm>
            <a:off x="4663440" y="3520440"/>
            <a:ext cx="4114800" cy="749808"/>
          </a:xfrm>
          <a:prstGeom prst="rect">
            <a:avLst/>
          </a:prstGeom>
          <a:solidFill>
            <a:srgbClr val="0D2B5C"/>
          </a:solidFill>
          <a:ln w="12700">
            <a:solidFill>
              <a:srgbClr val="0D2B5C"/>
            </a:solidFill>
            <a:prstDash val="solid"/>
          </a:ln>
          <a:effectLst>
            <a:outerShdw blurRad="63500" dist="25400" dir="8100000" algn="bl" rotWithShape="0">
              <a:srgbClr val="000000">
                <a:alpha val="15000"/>
              </a:srgbClr>
            </a:outerShdw>
          </a:effectLst>
        </p:spPr>
        <p:txBody>
          <a:bodyPr/>
          <a:lstStyle/>
          <a:p>
            <a:endParaRPr lang="en-US"/>
          </a:p>
        </p:txBody>
      </p:sp>
      <p:sp>
        <p:nvSpPr>
          <p:cNvPr id="17" name="Text 14"/>
          <p:cNvSpPr/>
          <p:nvPr/>
        </p:nvSpPr>
        <p:spPr>
          <a:xfrm>
            <a:off x="4663440" y="3630168"/>
            <a:ext cx="4114800" cy="412394"/>
          </a:xfrm>
          <a:prstGeom prst="rect">
            <a:avLst/>
          </a:prstGeom>
          <a:noFill/>
          <a:ln/>
        </p:spPr>
        <p:txBody>
          <a:bodyPr wrap="square" lIns="0" tIns="0" rIns="0" bIns="0" rtlCol="0" anchor="b"/>
          <a:lstStyle/>
          <a:p>
            <a:pPr marL="0" indent="0" algn="ctr">
              <a:buNone/>
            </a:pPr>
            <a:r>
              <a:rPr lang="en-US" sz="2800" b="1" dirty="0">
                <a:solidFill>
                  <a:srgbClr val="FFFFFF"/>
                </a:solidFill>
              </a:rPr>
              <a:t>841</a:t>
            </a:r>
            <a:endParaRPr lang="en-US" sz="2800" dirty="0"/>
          </a:p>
        </p:txBody>
      </p:sp>
      <p:sp>
        <p:nvSpPr>
          <p:cNvPr id="18" name="Text 15"/>
          <p:cNvSpPr/>
          <p:nvPr/>
        </p:nvSpPr>
        <p:spPr>
          <a:xfrm>
            <a:off x="4663440" y="3932834"/>
            <a:ext cx="4114800" cy="299923"/>
          </a:xfrm>
          <a:prstGeom prst="rect">
            <a:avLst/>
          </a:prstGeom>
          <a:noFill/>
          <a:ln/>
        </p:spPr>
        <p:txBody>
          <a:bodyPr wrap="square" lIns="0" tIns="0" rIns="0" bIns="0" rtlCol="0" anchor="t"/>
          <a:lstStyle/>
          <a:p>
            <a:pPr marL="0" indent="0" algn="ctr">
              <a:buNone/>
            </a:pPr>
            <a:r>
              <a:rPr lang="en-US" sz="1000" dirty="0">
                <a:solidFill>
                  <a:srgbClr val="FFFFFF"/>
                </a:solidFill>
              </a:rPr>
              <a:t>Total Inventory</a:t>
            </a:r>
            <a:endParaRPr lang="en-US" sz="1000" dirty="0"/>
          </a:p>
          <a:p>
            <a:pPr marL="0" indent="0" algn="ctr">
              <a:buNone/>
            </a:pPr>
            <a:r>
              <a:rPr lang="en-US" sz="1000" dirty="0">
                <a:solidFill>
                  <a:srgbClr val="FFFFFF"/>
                </a:solidFill>
              </a:rPr>
              <a:t>Items</a:t>
            </a:r>
            <a:endParaRPr lang="en-US" sz="1000" dirty="0"/>
          </a:p>
        </p:txBody>
      </p:sp>
      <p:sp>
        <p:nvSpPr>
          <p:cNvPr id="19" name="Shape 16"/>
          <p:cNvSpPr/>
          <p:nvPr/>
        </p:nvSpPr>
        <p:spPr>
          <a:xfrm>
            <a:off x="274320" y="4407408"/>
            <a:ext cx="8595360" cy="658368"/>
          </a:xfrm>
          <a:prstGeom prst="rect">
            <a:avLst/>
          </a:prstGeom>
          <a:solidFill>
            <a:srgbClr val="0D2B5C">
              <a:alpha val="12000"/>
            </a:srgbClr>
          </a:solidFill>
          <a:ln w="12700">
            <a:solidFill>
              <a:srgbClr val="0E7C86"/>
            </a:solidFill>
            <a:prstDash val="solid"/>
          </a:ln>
        </p:spPr>
        <p:txBody>
          <a:bodyPr/>
          <a:lstStyle/>
          <a:p>
            <a:endParaRPr lang="en-US"/>
          </a:p>
        </p:txBody>
      </p:sp>
      <p:sp>
        <p:nvSpPr>
          <p:cNvPr id="20" name="Text 17"/>
          <p:cNvSpPr/>
          <p:nvPr/>
        </p:nvSpPr>
        <p:spPr>
          <a:xfrm>
            <a:off x="411480" y="4407408"/>
            <a:ext cx="8321040" cy="658368"/>
          </a:xfrm>
          <a:prstGeom prst="rect">
            <a:avLst/>
          </a:prstGeom>
          <a:noFill/>
          <a:ln/>
        </p:spPr>
        <p:txBody>
          <a:bodyPr wrap="square" rtlCol="0" anchor="ctr"/>
          <a:lstStyle/>
          <a:p>
            <a:pPr marL="171450" indent="-171450">
              <a:buFont typeface="Arial" panose="020B0604020202020204" pitchFamily="34" charset="0"/>
              <a:buChar char="•"/>
            </a:pPr>
            <a:r>
              <a:rPr lang="en-US" sz="1000" b="1" dirty="0">
                <a:solidFill>
                  <a:srgbClr val="2C3E50"/>
                </a:solidFill>
              </a:rPr>
              <a:t>Overstock (48%) + Expiry Risk (46%) dominate inventory risk 94% of flagged items represent excess or expiring stock. </a:t>
            </a:r>
          </a:p>
          <a:p>
            <a:pPr marL="171450" indent="-171450">
              <a:buFont typeface="Arial" panose="020B0604020202020204" pitchFamily="34" charset="0"/>
              <a:buChar char="•"/>
            </a:pPr>
            <a:r>
              <a:rPr lang="en-US" sz="1000" b="1" dirty="0">
                <a:solidFill>
                  <a:srgbClr val="2C3E50"/>
                </a:solidFill>
              </a:rPr>
              <a:t>Only 6% are true shortages. </a:t>
            </a:r>
          </a:p>
          <a:p>
            <a:pPr marL="171450" indent="-171450">
              <a:buFont typeface="Arial" panose="020B0604020202020204" pitchFamily="34" charset="0"/>
              <a:buChar char="•"/>
            </a:pPr>
            <a:r>
              <a:rPr lang="en-US" sz="1000" b="1" dirty="0">
                <a:solidFill>
                  <a:srgbClr val="2C3E50"/>
                </a:solidFill>
              </a:rPr>
              <a:t>Poor demand forecasting is the root cause: too much of the wrong stock, too little of the right stock. </a:t>
            </a:r>
          </a:p>
          <a:p>
            <a:pPr marL="171450" indent="-171450">
              <a:buFont typeface="Arial" panose="020B0604020202020204" pitchFamily="34" charset="0"/>
              <a:buChar char="•"/>
            </a:pPr>
            <a:r>
              <a:rPr lang="en-US" sz="1000" b="1" dirty="0">
                <a:solidFill>
                  <a:srgbClr val="2C3E50"/>
                </a:solidFill>
              </a:rPr>
              <a:t>This directly drives financial loss through wastage and capital lock-up.</a:t>
            </a:r>
            <a:endParaRPr lang="en-US" sz="1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7C86"/>
          </a:solidFill>
          <a:ln w="12700">
            <a:solidFill>
              <a:srgbClr val="0E7C86"/>
            </a:solidFill>
            <a:prstDash val="solid"/>
          </a:ln>
        </p:spPr>
        <p:txBody>
          <a:bodyPr/>
          <a:lstStyle/>
          <a:p>
            <a:endParaRPr lang="en-US"/>
          </a:p>
        </p:txBody>
      </p:sp>
      <p:sp>
        <p:nvSpPr>
          <p:cNvPr id="3" name="Text 1"/>
          <p:cNvSpPr/>
          <p:nvPr/>
        </p:nvSpPr>
        <p:spPr>
          <a:xfrm>
            <a:off x="365760" y="0"/>
            <a:ext cx="6858000" cy="777240"/>
          </a:xfrm>
          <a:prstGeom prst="rect">
            <a:avLst/>
          </a:prstGeom>
          <a:noFill/>
          <a:ln/>
        </p:spPr>
        <p:txBody>
          <a:bodyPr wrap="square" lIns="0" tIns="0" rIns="0" bIns="0" rtlCol="0" anchor="ctr"/>
          <a:lstStyle/>
          <a:p>
            <a:pPr marL="0" indent="0">
              <a:buNone/>
            </a:pPr>
            <a:r>
              <a:rPr lang="en-US" sz="2000" b="1" dirty="0">
                <a:solidFill>
                  <a:srgbClr val="FFFFFF"/>
                </a:solidFill>
              </a:rPr>
              <a:t>Supplier Performance &amp; Reliability</a:t>
            </a:r>
            <a:endParaRPr lang="en-US" sz="2000" dirty="0"/>
          </a:p>
        </p:txBody>
      </p:sp>
      <p:sp>
        <p:nvSpPr>
          <p:cNvPr id="4" name="Shape 2"/>
          <p:cNvSpPr/>
          <p:nvPr/>
        </p:nvSpPr>
        <p:spPr>
          <a:xfrm>
            <a:off x="7498080" y="256032"/>
            <a:ext cx="1828800" cy="274320"/>
          </a:xfrm>
          <a:prstGeom prst="rect">
            <a:avLst/>
          </a:prstGeom>
          <a:solidFill>
            <a:srgbClr val="0D2B5C"/>
          </a:solidFill>
          <a:ln w="12700">
            <a:solidFill>
              <a:srgbClr val="0D2B5C"/>
            </a:solidFill>
            <a:prstDash val="solid"/>
          </a:ln>
        </p:spPr>
        <p:txBody>
          <a:bodyPr/>
          <a:lstStyle/>
          <a:p>
            <a:endParaRPr lang="en-US"/>
          </a:p>
        </p:txBody>
      </p:sp>
      <p:sp>
        <p:nvSpPr>
          <p:cNvPr id="5" name="Text 3"/>
          <p:cNvSpPr/>
          <p:nvPr/>
        </p:nvSpPr>
        <p:spPr>
          <a:xfrm>
            <a:off x="7498080" y="256032"/>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rPr>
              <a:t>BO2</a:t>
            </a:r>
            <a:endParaRPr lang="en-US" sz="900" dirty="0"/>
          </a:p>
        </p:txBody>
      </p:sp>
      <p:sp>
        <p:nvSpPr>
          <p:cNvPr id="6" name="Shape 4"/>
          <p:cNvSpPr/>
          <p:nvPr/>
        </p:nvSpPr>
        <p:spPr>
          <a:xfrm>
            <a:off x="274320" y="914400"/>
            <a:ext cx="1920240" cy="822960"/>
          </a:xfrm>
          <a:prstGeom prst="rect">
            <a:avLst/>
          </a:prstGeom>
          <a:solidFill>
            <a:srgbClr val="0E7C86"/>
          </a:solidFill>
          <a:ln w="12700">
            <a:solidFill>
              <a:srgbClr val="0E7C86"/>
            </a:solidFill>
            <a:prstDash val="solid"/>
          </a:ln>
          <a:effectLst>
            <a:outerShdw blurRad="63500" dist="25400" dir="8100000" algn="bl" rotWithShape="0">
              <a:srgbClr val="000000">
                <a:alpha val="15000"/>
              </a:srgbClr>
            </a:outerShdw>
          </a:effectLst>
        </p:spPr>
        <p:txBody>
          <a:bodyPr/>
          <a:lstStyle/>
          <a:p>
            <a:endParaRPr lang="en-US"/>
          </a:p>
        </p:txBody>
      </p:sp>
      <p:sp>
        <p:nvSpPr>
          <p:cNvPr id="7" name="Text 5"/>
          <p:cNvSpPr/>
          <p:nvPr/>
        </p:nvSpPr>
        <p:spPr>
          <a:xfrm>
            <a:off x="274320" y="973836"/>
            <a:ext cx="1920240" cy="452628"/>
          </a:xfrm>
          <a:prstGeom prst="rect">
            <a:avLst/>
          </a:prstGeom>
          <a:noFill/>
          <a:ln/>
        </p:spPr>
        <p:txBody>
          <a:bodyPr wrap="square" lIns="0" tIns="0" rIns="0" bIns="0" rtlCol="0" anchor="b"/>
          <a:lstStyle/>
          <a:p>
            <a:pPr marL="0" indent="0" algn="ctr">
              <a:buNone/>
            </a:pPr>
            <a:r>
              <a:rPr lang="en-US" sz="2800" b="1" dirty="0">
                <a:solidFill>
                  <a:srgbClr val="FFFFFF"/>
                </a:solidFill>
              </a:rPr>
              <a:t>4.29/5</a:t>
            </a:r>
            <a:endParaRPr lang="en-US" sz="2800" dirty="0"/>
          </a:p>
        </p:txBody>
      </p:sp>
      <p:sp>
        <p:nvSpPr>
          <p:cNvPr id="8" name="Text 6"/>
          <p:cNvSpPr/>
          <p:nvPr/>
        </p:nvSpPr>
        <p:spPr>
          <a:xfrm>
            <a:off x="274320" y="1367028"/>
            <a:ext cx="1920240" cy="329184"/>
          </a:xfrm>
          <a:prstGeom prst="rect">
            <a:avLst/>
          </a:prstGeom>
          <a:noFill/>
          <a:ln/>
        </p:spPr>
        <p:txBody>
          <a:bodyPr wrap="square" lIns="0" tIns="0" rIns="0" bIns="0" rtlCol="0" anchor="t"/>
          <a:lstStyle/>
          <a:p>
            <a:pPr marL="0" indent="0" algn="ctr">
              <a:buNone/>
            </a:pPr>
            <a:r>
              <a:rPr lang="en-US" sz="1000" dirty="0">
                <a:solidFill>
                  <a:srgbClr val="FFFFFF"/>
                </a:solidFill>
              </a:rPr>
              <a:t>Avg Reliability</a:t>
            </a:r>
            <a:endParaRPr lang="en-US" sz="1000" dirty="0"/>
          </a:p>
          <a:p>
            <a:pPr marL="0" indent="0" algn="ctr">
              <a:buNone/>
            </a:pPr>
            <a:r>
              <a:rPr lang="en-US" sz="1000" dirty="0">
                <a:solidFill>
                  <a:srgbClr val="FFFFFF"/>
                </a:solidFill>
              </a:rPr>
              <a:t>Score</a:t>
            </a:r>
            <a:endParaRPr lang="en-US" sz="1000" dirty="0"/>
          </a:p>
        </p:txBody>
      </p:sp>
      <p:sp>
        <p:nvSpPr>
          <p:cNvPr id="9" name="Shape 7"/>
          <p:cNvSpPr/>
          <p:nvPr/>
        </p:nvSpPr>
        <p:spPr>
          <a:xfrm>
            <a:off x="2450592" y="914400"/>
            <a:ext cx="1920240" cy="822960"/>
          </a:xfrm>
          <a:prstGeom prst="rect">
            <a:avLst/>
          </a:prstGeom>
          <a:solidFill>
            <a:srgbClr val="0D2B5C"/>
          </a:solidFill>
          <a:ln w="12700">
            <a:solidFill>
              <a:srgbClr val="0D2B5C"/>
            </a:solidFill>
            <a:prstDash val="solid"/>
          </a:ln>
          <a:effectLst>
            <a:outerShdw blurRad="63500" dist="25400" dir="8100000" algn="bl" rotWithShape="0">
              <a:srgbClr val="000000">
                <a:alpha val="15000"/>
              </a:srgbClr>
            </a:outerShdw>
          </a:effectLst>
        </p:spPr>
        <p:txBody>
          <a:bodyPr/>
          <a:lstStyle/>
          <a:p>
            <a:endParaRPr lang="en-US"/>
          </a:p>
        </p:txBody>
      </p:sp>
      <p:sp>
        <p:nvSpPr>
          <p:cNvPr id="10" name="Text 8"/>
          <p:cNvSpPr/>
          <p:nvPr/>
        </p:nvSpPr>
        <p:spPr>
          <a:xfrm>
            <a:off x="2450592" y="964692"/>
            <a:ext cx="1920240" cy="452628"/>
          </a:xfrm>
          <a:prstGeom prst="rect">
            <a:avLst/>
          </a:prstGeom>
          <a:noFill/>
          <a:ln/>
        </p:spPr>
        <p:txBody>
          <a:bodyPr wrap="square" lIns="0" tIns="0" rIns="0" bIns="0" rtlCol="0" anchor="b"/>
          <a:lstStyle/>
          <a:p>
            <a:pPr marL="0" indent="0" algn="ctr">
              <a:buNone/>
            </a:pPr>
            <a:r>
              <a:rPr lang="en-US" sz="2800" b="1" dirty="0">
                <a:solidFill>
                  <a:srgbClr val="FFFFFF"/>
                </a:solidFill>
              </a:rPr>
              <a:t>82.1%</a:t>
            </a:r>
            <a:endParaRPr lang="en-US" sz="2800" dirty="0"/>
          </a:p>
        </p:txBody>
      </p:sp>
      <p:sp>
        <p:nvSpPr>
          <p:cNvPr id="11" name="Text 9"/>
          <p:cNvSpPr/>
          <p:nvPr/>
        </p:nvSpPr>
        <p:spPr>
          <a:xfrm>
            <a:off x="2450592" y="1367028"/>
            <a:ext cx="1920240" cy="329184"/>
          </a:xfrm>
          <a:prstGeom prst="rect">
            <a:avLst/>
          </a:prstGeom>
          <a:noFill/>
          <a:ln/>
        </p:spPr>
        <p:txBody>
          <a:bodyPr wrap="square" lIns="0" tIns="0" rIns="0" bIns="0" rtlCol="0" anchor="t"/>
          <a:lstStyle/>
          <a:p>
            <a:pPr marL="0" indent="0" algn="ctr">
              <a:buNone/>
            </a:pPr>
            <a:r>
              <a:rPr lang="en-US" sz="1000" dirty="0">
                <a:solidFill>
                  <a:srgbClr val="FFFFFF"/>
                </a:solidFill>
              </a:rPr>
              <a:t>Avg On-Time</a:t>
            </a:r>
            <a:endParaRPr lang="en-US" sz="1000" dirty="0"/>
          </a:p>
          <a:p>
            <a:pPr marL="0" indent="0" algn="ctr">
              <a:buNone/>
            </a:pPr>
            <a:r>
              <a:rPr lang="en-US" sz="1000" dirty="0">
                <a:solidFill>
                  <a:srgbClr val="FFFFFF"/>
                </a:solidFill>
              </a:rPr>
              <a:t>Delivery Rate</a:t>
            </a:r>
            <a:endParaRPr lang="en-US" sz="1000" dirty="0"/>
          </a:p>
        </p:txBody>
      </p:sp>
      <p:sp>
        <p:nvSpPr>
          <p:cNvPr id="12" name="Shape 10"/>
          <p:cNvSpPr/>
          <p:nvPr/>
        </p:nvSpPr>
        <p:spPr>
          <a:xfrm>
            <a:off x="4626864" y="914400"/>
            <a:ext cx="1920240" cy="822960"/>
          </a:xfrm>
          <a:prstGeom prst="rect">
            <a:avLst/>
          </a:prstGeom>
          <a:solidFill>
            <a:srgbClr val="2C3E50"/>
          </a:solidFill>
          <a:ln w="12700">
            <a:solidFill>
              <a:srgbClr val="2C3E50"/>
            </a:solidFill>
            <a:prstDash val="solid"/>
          </a:ln>
          <a:effectLst>
            <a:outerShdw blurRad="63500" dist="25400" dir="8100000" algn="bl" rotWithShape="0">
              <a:srgbClr val="000000">
                <a:alpha val="15000"/>
              </a:srgbClr>
            </a:outerShdw>
          </a:effectLst>
        </p:spPr>
        <p:txBody>
          <a:bodyPr/>
          <a:lstStyle/>
          <a:p>
            <a:endParaRPr lang="en-US"/>
          </a:p>
        </p:txBody>
      </p:sp>
      <p:sp>
        <p:nvSpPr>
          <p:cNvPr id="13" name="Text 11"/>
          <p:cNvSpPr/>
          <p:nvPr/>
        </p:nvSpPr>
        <p:spPr>
          <a:xfrm>
            <a:off x="4626864" y="971138"/>
            <a:ext cx="1920240" cy="452628"/>
          </a:xfrm>
          <a:prstGeom prst="rect">
            <a:avLst/>
          </a:prstGeom>
          <a:noFill/>
          <a:ln/>
        </p:spPr>
        <p:txBody>
          <a:bodyPr wrap="square" lIns="0" tIns="0" rIns="0" bIns="0" rtlCol="0" anchor="b"/>
          <a:lstStyle/>
          <a:p>
            <a:pPr marL="0" indent="0" algn="ctr">
              <a:buNone/>
            </a:pPr>
            <a:r>
              <a:rPr lang="en-US" sz="2800" b="1" dirty="0">
                <a:solidFill>
                  <a:srgbClr val="FFFFFF"/>
                </a:solidFill>
              </a:rPr>
              <a:t>8 days</a:t>
            </a:r>
            <a:endParaRPr lang="en-US" sz="2800" dirty="0"/>
          </a:p>
        </p:txBody>
      </p:sp>
      <p:sp>
        <p:nvSpPr>
          <p:cNvPr id="14" name="Text 12"/>
          <p:cNvSpPr/>
          <p:nvPr/>
        </p:nvSpPr>
        <p:spPr>
          <a:xfrm>
            <a:off x="4626864" y="1367028"/>
            <a:ext cx="1920240" cy="329184"/>
          </a:xfrm>
          <a:prstGeom prst="rect">
            <a:avLst/>
          </a:prstGeom>
          <a:noFill/>
          <a:ln/>
        </p:spPr>
        <p:txBody>
          <a:bodyPr wrap="square" lIns="0" tIns="0" rIns="0" bIns="0" rtlCol="0" anchor="t"/>
          <a:lstStyle/>
          <a:p>
            <a:pPr marL="0" indent="0" algn="ctr">
              <a:buNone/>
            </a:pPr>
            <a:r>
              <a:rPr lang="en-US" sz="1000" dirty="0">
                <a:solidFill>
                  <a:srgbClr val="FFFFFF"/>
                </a:solidFill>
              </a:rPr>
              <a:t>Avg Lead</a:t>
            </a:r>
            <a:endParaRPr lang="en-US" sz="1000" dirty="0"/>
          </a:p>
          <a:p>
            <a:pPr marL="0" indent="0" algn="ctr">
              <a:buNone/>
            </a:pPr>
            <a:r>
              <a:rPr lang="en-US" sz="1000" dirty="0">
                <a:solidFill>
                  <a:srgbClr val="FFFFFF"/>
                </a:solidFill>
              </a:rPr>
              <a:t>Time</a:t>
            </a:r>
            <a:endParaRPr lang="en-US" sz="1000" dirty="0"/>
          </a:p>
        </p:txBody>
      </p:sp>
      <p:sp>
        <p:nvSpPr>
          <p:cNvPr id="15" name="Shape 13"/>
          <p:cNvSpPr/>
          <p:nvPr/>
        </p:nvSpPr>
        <p:spPr>
          <a:xfrm>
            <a:off x="6803136" y="914400"/>
            <a:ext cx="1920240" cy="822960"/>
          </a:xfrm>
          <a:prstGeom prst="rect">
            <a:avLst/>
          </a:prstGeom>
          <a:solidFill>
            <a:srgbClr val="C0392B"/>
          </a:solidFill>
          <a:ln w="12700">
            <a:solidFill>
              <a:srgbClr val="C0392B"/>
            </a:solidFill>
            <a:prstDash val="solid"/>
          </a:ln>
          <a:effectLst>
            <a:outerShdw blurRad="63500" dist="25400" dir="8100000" algn="bl" rotWithShape="0">
              <a:srgbClr val="000000">
                <a:alpha val="15000"/>
              </a:srgbClr>
            </a:outerShdw>
          </a:effectLst>
        </p:spPr>
        <p:txBody>
          <a:bodyPr/>
          <a:lstStyle/>
          <a:p>
            <a:endParaRPr lang="en-US"/>
          </a:p>
        </p:txBody>
      </p:sp>
      <p:sp>
        <p:nvSpPr>
          <p:cNvPr id="16" name="Text 14"/>
          <p:cNvSpPr/>
          <p:nvPr/>
        </p:nvSpPr>
        <p:spPr>
          <a:xfrm>
            <a:off x="6803136" y="995010"/>
            <a:ext cx="1920240" cy="452628"/>
          </a:xfrm>
          <a:prstGeom prst="rect">
            <a:avLst/>
          </a:prstGeom>
          <a:noFill/>
          <a:ln/>
        </p:spPr>
        <p:txBody>
          <a:bodyPr wrap="square" lIns="0" tIns="0" rIns="0" bIns="0" rtlCol="0" anchor="b"/>
          <a:lstStyle/>
          <a:p>
            <a:pPr marL="0" indent="0" algn="ctr">
              <a:buNone/>
            </a:pPr>
            <a:r>
              <a:rPr lang="en-US" sz="2800" b="1" dirty="0">
                <a:solidFill>
                  <a:srgbClr val="FFFFFF"/>
                </a:solidFill>
              </a:rPr>
              <a:t>20%</a:t>
            </a:r>
            <a:endParaRPr lang="en-US" sz="2800" dirty="0"/>
          </a:p>
        </p:txBody>
      </p:sp>
      <p:sp>
        <p:nvSpPr>
          <p:cNvPr id="17" name="Text 15"/>
          <p:cNvSpPr/>
          <p:nvPr/>
        </p:nvSpPr>
        <p:spPr>
          <a:xfrm>
            <a:off x="6803136" y="1367028"/>
            <a:ext cx="1920240" cy="329184"/>
          </a:xfrm>
          <a:prstGeom prst="rect">
            <a:avLst/>
          </a:prstGeom>
          <a:noFill/>
          <a:ln/>
        </p:spPr>
        <p:txBody>
          <a:bodyPr wrap="square" lIns="0" tIns="0" rIns="0" bIns="0" rtlCol="0" anchor="t"/>
          <a:lstStyle/>
          <a:p>
            <a:pPr marL="0" indent="0" algn="ctr">
              <a:buNone/>
            </a:pPr>
            <a:r>
              <a:rPr lang="en-US" sz="1000" dirty="0">
                <a:solidFill>
                  <a:srgbClr val="FFFFFF"/>
                </a:solidFill>
              </a:rPr>
              <a:t>Poor-Performance</a:t>
            </a:r>
            <a:endParaRPr lang="en-US" sz="1000" dirty="0"/>
          </a:p>
          <a:p>
            <a:pPr marL="0" indent="0" algn="ctr">
              <a:buNone/>
            </a:pPr>
            <a:r>
              <a:rPr lang="en-US" sz="1000" dirty="0">
                <a:solidFill>
                  <a:srgbClr val="FFFFFF"/>
                </a:solidFill>
              </a:rPr>
              <a:t>Suppliers</a:t>
            </a:r>
            <a:endParaRPr lang="en-US" sz="1000" dirty="0"/>
          </a:p>
        </p:txBody>
      </p:sp>
      <p:graphicFrame>
        <p:nvGraphicFramePr>
          <p:cNvPr id="18" name="Chart 0"/>
          <p:cNvGraphicFramePr/>
          <p:nvPr>
            <p:extLst>
              <p:ext uri="{D42A27DB-BD31-4B8C-83A1-F6EECF244321}">
                <p14:modId xmlns:p14="http://schemas.microsoft.com/office/powerpoint/2010/main" val="1155529138"/>
              </p:ext>
            </p:extLst>
          </p:nvPr>
        </p:nvGraphicFramePr>
        <p:xfrm>
          <a:off x="221181" y="1964011"/>
          <a:ext cx="4352544" cy="2169002"/>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p:cNvSpPr/>
          <p:nvPr/>
        </p:nvSpPr>
        <p:spPr>
          <a:xfrm>
            <a:off x="4626864" y="1912981"/>
            <a:ext cx="2118128" cy="274320"/>
          </a:xfrm>
          <a:prstGeom prst="rect">
            <a:avLst/>
          </a:prstGeom>
          <a:noFill/>
          <a:ln/>
        </p:spPr>
        <p:txBody>
          <a:bodyPr wrap="square" lIns="0" tIns="0" rIns="0" bIns="0" rtlCol="0" anchor="ctr"/>
          <a:lstStyle/>
          <a:p>
            <a:pPr marL="0" indent="0">
              <a:buNone/>
            </a:pPr>
            <a:r>
              <a:rPr lang="en-US" sz="1100" b="1" dirty="0">
                <a:solidFill>
                  <a:srgbClr val="0D2B5C"/>
                </a:solidFill>
              </a:rPr>
              <a:t>Top Reliable Suppliers </a:t>
            </a:r>
            <a:endParaRPr lang="en-US" sz="1100" dirty="0"/>
          </a:p>
        </p:txBody>
      </p:sp>
      <p:sp>
        <p:nvSpPr>
          <p:cNvPr id="20" name="Shape 17"/>
          <p:cNvSpPr/>
          <p:nvPr/>
        </p:nvSpPr>
        <p:spPr>
          <a:xfrm>
            <a:off x="4626864" y="2207465"/>
            <a:ext cx="2383536" cy="594360"/>
          </a:xfrm>
          <a:prstGeom prst="rect">
            <a:avLst/>
          </a:prstGeom>
          <a:solidFill>
            <a:srgbClr val="FFFFFF"/>
          </a:solidFill>
          <a:ln w="12700">
            <a:solidFill>
              <a:srgbClr val="E2EAF2"/>
            </a:solidFill>
            <a:prstDash val="solid"/>
          </a:ln>
        </p:spPr>
        <p:txBody>
          <a:bodyPr/>
          <a:lstStyle/>
          <a:p>
            <a:endParaRPr lang="en-US"/>
          </a:p>
        </p:txBody>
      </p:sp>
      <p:sp>
        <p:nvSpPr>
          <p:cNvPr id="21" name="Text 18"/>
          <p:cNvSpPr/>
          <p:nvPr/>
        </p:nvSpPr>
        <p:spPr>
          <a:xfrm>
            <a:off x="4749185" y="2275498"/>
            <a:ext cx="3200400" cy="256032"/>
          </a:xfrm>
          <a:prstGeom prst="rect">
            <a:avLst/>
          </a:prstGeom>
          <a:noFill/>
          <a:ln/>
        </p:spPr>
        <p:txBody>
          <a:bodyPr wrap="square" lIns="0" tIns="0" rIns="0" bIns="0" rtlCol="0" anchor="ctr"/>
          <a:lstStyle/>
          <a:p>
            <a:pPr marL="0" indent="0">
              <a:buNone/>
            </a:pPr>
            <a:r>
              <a:rPr lang="en-US" sz="1050" b="1" dirty="0">
                <a:solidFill>
                  <a:srgbClr val="0E7C86"/>
                </a:solidFill>
              </a:rPr>
              <a:t>Supplier_137</a:t>
            </a:r>
            <a:endParaRPr lang="en-US" sz="1050" dirty="0"/>
          </a:p>
        </p:txBody>
      </p:sp>
      <p:sp>
        <p:nvSpPr>
          <p:cNvPr id="22" name="Text 19"/>
          <p:cNvSpPr/>
          <p:nvPr/>
        </p:nvSpPr>
        <p:spPr>
          <a:xfrm>
            <a:off x="4749185" y="2497671"/>
            <a:ext cx="3200400" cy="228600"/>
          </a:xfrm>
          <a:prstGeom prst="rect">
            <a:avLst/>
          </a:prstGeom>
          <a:noFill/>
          <a:ln/>
        </p:spPr>
        <p:txBody>
          <a:bodyPr wrap="square" lIns="0" tIns="0" rIns="0" bIns="0" rtlCol="0" anchor="ctr"/>
          <a:lstStyle/>
          <a:p>
            <a:pPr marL="0" indent="0">
              <a:buNone/>
            </a:pPr>
            <a:r>
              <a:rPr lang="en-US" sz="900" dirty="0">
                <a:solidFill>
                  <a:srgbClr val="64748B"/>
                </a:solidFill>
              </a:rPr>
              <a:t>On-Time: 95%  |  Avg Lead: 14d  |  Score: 5.0/5</a:t>
            </a:r>
            <a:endParaRPr lang="en-US" sz="900" dirty="0"/>
          </a:p>
        </p:txBody>
      </p:sp>
      <p:sp>
        <p:nvSpPr>
          <p:cNvPr id="23" name="Shape 20"/>
          <p:cNvSpPr/>
          <p:nvPr/>
        </p:nvSpPr>
        <p:spPr>
          <a:xfrm>
            <a:off x="4626864" y="2858437"/>
            <a:ext cx="2383536" cy="594360"/>
          </a:xfrm>
          <a:prstGeom prst="rect">
            <a:avLst/>
          </a:prstGeom>
          <a:solidFill>
            <a:srgbClr val="FFFFFF"/>
          </a:solidFill>
          <a:ln w="12700">
            <a:solidFill>
              <a:srgbClr val="E2EAF2"/>
            </a:solidFill>
            <a:prstDash val="solid"/>
          </a:ln>
        </p:spPr>
        <p:txBody>
          <a:bodyPr/>
          <a:lstStyle/>
          <a:p>
            <a:endParaRPr lang="en-US"/>
          </a:p>
        </p:txBody>
      </p:sp>
      <p:sp>
        <p:nvSpPr>
          <p:cNvPr id="24" name="Text 21"/>
          <p:cNvSpPr/>
          <p:nvPr/>
        </p:nvSpPr>
        <p:spPr>
          <a:xfrm>
            <a:off x="4749185" y="2920496"/>
            <a:ext cx="3200400" cy="256032"/>
          </a:xfrm>
          <a:prstGeom prst="rect">
            <a:avLst/>
          </a:prstGeom>
          <a:noFill/>
          <a:ln/>
        </p:spPr>
        <p:txBody>
          <a:bodyPr wrap="square" lIns="0" tIns="0" rIns="0" bIns="0" rtlCol="0" anchor="ctr"/>
          <a:lstStyle/>
          <a:p>
            <a:pPr marL="0" indent="0">
              <a:buNone/>
            </a:pPr>
            <a:r>
              <a:rPr lang="en-US" sz="1050" b="1" dirty="0">
                <a:solidFill>
                  <a:srgbClr val="0E7C86"/>
                </a:solidFill>
              </a:rPr>
              <a:t>Supplier_417</a:t>
            </a:r>
            <a:endParaRPr lang="en-US" sz="1050" dirty="0"/>
          </a:p>
        </p:txBody>
      </p:sp>
      <p:sp>
        <p:nvSpPr>
          <p:cNvPr id="25" name="Text 22"/>
          <p:cNvSpPr/>
          <p:nvPr/>
        </p:nvSpPr>
        <p:spPr>
          <a:xfrm>
            <a:off x="4749185" y="3167273"/>
            <a:ext cx="3200400" cy="228600"/>
          </a:xfrm>
          <a:prstGeom prst="rect">
            <a:avLst/>
          </a:prstGeom>
          <a:noFill/>
          <a:ln/>
        </p:spPr>
        <p:txBody>
          <a:bodyPr wrap="square" lIns="0" tIns="0" rIns="0" bIns="0" rtlCol="0" anchor="ctr"/>
          <a:lstStyle/>
          <a:p>
            <a:pPr marL="0" indent="0">
              <a:buNone/>
            </a:pPr>
            <a:r>
              <a:rPr lang="en-US" sz="900" dirty="0">
                <a:solidFill>
                  <a:srgbClr val="64748B"/>
                </a:solidFill>
              </a:rPr>
              <a:t>On-Time: 94%  |  Avg Lead: 14d  |  Score: 5.0/5</a:t>
            </a:r>
            <a:endParaRPr lang="en-US" sz="900" dirty="0"/>
          </a:p>
        </p:txBody>
      </p:sp>
      <p:sp>
        <p:nvSpPr>
          <p:cNvPr id="26" name="Shape 23"/>
          <p:cNvSpPr/>
          <p:nvPr/>
        </p:nvSpPr>
        <p:spPr>
          <a:xfrm>
            <a:off x="4634885" y="3527499"/>
            <a:ext cx="2375515" cy="594360"/>
          </a:xfrm>
          <a:prstGeom prst="rect">
            <a:avLst/>
          </a:prstGeom>
          <a:solidFill>
            <a:srgbClr val="FFFFFF"/>
          </a:solidFill>
          <a:ln w="12700">
            <a:solidFill>
              <a:srgbClr val="E2EAF2"/>
            </a:solidFill>
            <a:prstDash val="solid"/>
          </a:ln>
        </p:spPr>
        <p:txBody>
          <a:bodyPr/>
          <a:lstStyle/>
          <a:p>
            <a:endParaRPr lang="en-US" dirty="0"/>
          </a:p>
        </p:txBody>
      </p:sp>
      <p:sp>
        <p:nvSpPr>
          <p:cNvPr id="27" name="Text 24"/>
          <p:cNvSpPr/>
          <p:nvPr/>
        </p:nvSpPr>
        <p:spPr>
          <a:xfrm>
            <a:off x="4749185" y="3563443"/>
            <a:ext cx="3200400" cy="256032"/>
          </a:xfrm>
          <a:prstGeom prst="rect">
            <a:avLst/>
          </a:prstGeom>
          <a:noFill/>
          <a:ln/>
        </p:spPr>
        <p:txBody>
          <a:bodyPr wrap="square" lIns="0" tIns="0" rIns="0" bIns="0" rtlCol="0" anchor="ctr"/>
          <a:lstStyle/>
          <a:p>
            <a:pPr marL="0" indent="0">
              <a:buNone/>
            </a:pPr>
            <a:r>
              <a:rPr lang="en-US" sz="1050" b="1" dirty="0">
                <a:solidFill>
                  <a:srgbClr val="0E7C86"/>
                </a:solidFill>
              </a:rPr>
              <a:t>Supplier_455</a:t>
            </a:r>
            <a:endParaRPr lang="en-US" sz="1050" dirty="0"/>
          </a:p>
        </p:txBody>
      </p:sp>
      <p:sp>
        <p:nvSpPr>
          <p:cNvPr id="28" name="Text 25"/>
          <p:cNvSpPr/>
          <p:nvPr/>
        </p:nvSpPr>
        <p:spPr>
          <a:xfrm>
            <a:off x="4749185" y="3765379"/>
            <a:ext cx="3200400" cy="228600"/>
          </a:xfrm>
          <a:prstGeom prst="rect">
            <a:avLst/>
          </a:prstGeom>
          <a:noFill/>
          <a:ln/>
        </p:spPr>
        <p:txBody>
          <a:bodyPr wrap="square" lIns="0" tIns="0" rIns="0" bIns="0" rtlCol="0" anchor="ctr"/>
          <a:lstStyle/>
          <a:p>
            <a:pPr marL="0" indent="0">
              <a:buNone/>
            </a:pPr>
            <a:r>
              <a:rPr lang="en-US" sz="900" dirty="0">
                <a:solidFill>
                  <a:srgbClr val="64748B"/>
                </a:solidFill>
              </a:rPr>
              <a:t>On-Time: 94%  |  Avg Lead: 14d  |  Score: 5.0/5</a:t>
            </a:r>
            <a:endParaRPr lang="en-US" sz="900" dirty="0"/>
          </a:p>
        </p:txBody>
      </p:sp>
      <p:sp>
        <p:nvSpPr>
          <p:cNvPr id="29" name="Shape 26"/>
          <p:cNvSpPr/>
          <p:nvPr/>
        </p:nvSpPr>
        <p:spPr>
          <a:xfrm>
            <a:off x="274320" y="4270248"/>
            <a:ext cx="8595360" cy="873252"/>
          </a:xfrm>
          <a:prstGeom prst="rect">
            <a:avLst/>
          </a:prstGeom>
          <a:solidFill>
            <a:srgbClr val="0D2B5C">
              <a:alpha val="12000"/>
            </a:srgbClr>
          </a:solidFill>
          <a:ln w="12700">
            <a:solidFill>
              <a:srgbClr val="0E7C86"/>
            </a:solidFill>
            <a:prstDash val="solid"/>
          </a:ln>
        </p:spPr>
        <p:txBody>
          <a:bodyPr/>
          <a:lstStyle/>
          <a:p>
            <a:endParaRPr lang="en-US"/>
          </a:p>
        </p:txBody>
      </p:sp>
      <p:sp>
        <p:nvSpPr>
          <p:cNvPr id="30" name="Text 27"/>
          <p:cNvSpPr/>
          <p:nvPr/>
        </p:nvSpPr>
        <p:spPr>
          <a:xfrm>
            <a:off x="365760" y="4297680"/>
            <a:ext cx="8366760" cy="777240"/>
          </a:xfrm>
          <a:prstGeom prst="rect">
            <a:avLst/>
          </a:prstGeom>
          <a:noFill/>
          <a:ln/>
        </p:spPr>
        <p:txBody>
          <a:bodyPr wrap="square" rtlCol="0" anchor="ctr"/>
          <a:lstStyle/>
          <a:p>
            <a:pPr marL="171450" indent="-171450">
              <a:buFont typeface="Arial" panose="020B0604020202020204" pitchFamily="34" charset="0"/>
              <a:buChar char="•"/>
            </a:pPr>
            <a:r>
              <a:rPr lang="en-US" sz="900" b="1" dirty="0"/>
              <a:t>1 in 5 suppliers (20%) performs poorly, a significant reliability gap across the procurement network.</a:t>
            </a:r>
          </a:p>
          <a:p>
            <a:pPr marL="171450" indent="-171450">
              <a:buFont typeface="Arial" panose="020B0604020202020204" pitchFamily="34" charset="0"/>
              <a:buChar char="•"/>
            </a:pPr>
            <a:r>
              <a:rPr lang="en-US" sz="900" b="1" dirty="0"/>
              <a:t>Chennai (24.2%), Delhi (23.4%) and Mumbai (22.7%) carry the highest poor-performance probability despite being primary supplier hubs, they present the greatest delivery risk. </a:t>
            </a:r>
          </a:p>
          <a:p>
            <a:pPr marL="171450" indent="-171450">
              <a:buFont typeface="Arial" panose="020B0604020202020204" pitchFamily="34" charset="0"/>
              <a:buChar char="•"/>
            </a:pPr>
            <a:r>
              <a:rPr lang="en-US" sz="900" b="1" dirty="0"/>
              <a:t>High-volume procurement from metros comes with overburdened suppliers who take on more orders than they can reliably fulfill.</a:t>
            </a:r>
          </a:p>
          <a:p>
            <a:pPr marL="171450" indent="-171450">
              <a:buFont typeface="Arial" panose="020B0604020202020204" pitchFamily="34" charset="0"/>
              <a:buChar char="•"/>
            </a:pPr>
            <a:r>
              <a:rPr lang="en-US" sz="900" b="1" dirty="0"/>
              <a:t>Lucknow is the best-performing region (12.5%) procurement should prioritize suppliers from lower-risk regions where possible.</a:t>
            </a:r>
          </a:p>
          <a:p>
            <a:pPr marL="171450" indent="-171450">
              <a:buFont typeface="Arial" panose="020B0604020202020204" pitchFamily="34" charset="0"/>
              <a:buChar char="•"/>
            </a:pPr>
            <a:r>
              <a:rPr lang="en-US" sz="900" b="1" dirty="0"/>
              <a:t>High-reliability suppliers (score 5.0) achieve up to 95% on-time delivery. </a:t>
            </a:r>
          </a:p>
        </p:txBody>
      </p:sp>
      <p:sp>
        <p:nvSpPr>
          <p:cNvPr id="31" name="Shape 17">
            <a:extLst>
              <a:ext uri="{FF2B5EF4-FFF2-40B4-BE49-F238E27FC236}">
                <a16:creationId xmlns:a16="http://schemas.microsoft.com/office/drawing/2014/main" id="{299C5AF6-C025-AD12-2C16-2BFA23532A00}"/>
              </a:ext>
            </a:extLst>
          </p:cNvPr>
          <p:cNvSpPr/>
          <p:nvPr/>
        </p:nvSpPr>
        <p:spPr>
          <a:xfrm>
            <a:off x="7063539" y="2212577"/>
            <a:ext cx="1999181" cy="594360"/>
          </a:xfrm>
          <a:prstGeom prst="rect">
            <a:avLst/>
          </a:prstGeom>
          <a:solidFill>
            <a:srgbClr val="FFFFFF"/>
          </a:solidFill>
          <a:ln w="12700">
            <a:solidFill>
              <a:srgbClr val="E2EAF2"/>
            </a:solidFill>
            <a:prstDash val="solid"/>
          </a:ln>
        </p:spPr>
        <p:txBody>
          <a:bodyPr/>
          <a:lstStyle/>
          <a:p>
            <a:endParaRPr lang="en-US"/>
          </a:p>
        </p:txBody>
      </p:sp>
      <p:sp>
        <p:nvSpPr>
          <p:cNvPr id="32" name="Shape 20">
            <a:extLst>
              <a:ext uri="{FF2B5EF4-FFF2-40B4-BE49-F238E27FC236}">
                <a16:creationId xmlns:a16="http://schemas.microsoft.com/office/drawing/2014/main" id="{6D4A4CBF-6B7E-B92E-1FC5-1B06B4D97549}"/>
              </a:ext>
            </a:extLst>
          </p:cNvPr>
          <p:cNvSpPr/>
          <p:nvPr/>
        </p:nvSpPr>
        <p:spPr>
          <a:xfrm>
            <a:off x="7063539" y="2867982"/>
            <a:ext cx="1999181" cy="594360"/>
          </a:xfrm>
          <a:prstGeom prst="rect">
            <a:avLst/>
          </a:prstGeom>
          <a:solidFill>
            <a:srgbClr val="FFFFFF"/>
          </a:solidFill>
          <a:ln w="12700">
            <a:solidFill>
              <a:srgbClr val="E2EAF2"/>
            </a:solidFill>
            <a:prstDash val="solid"/>
          </a:ln>
        </p:spPr>
        <p:txBody>
          <a:bodyPr/>
          <a:lstStyle/>
          <a:p>
            <a:endParaRPr lang="en-US"/>
          </a:p>
        </p:txBody>
      </p:sp>
      <p:sp>
        <p:nvSpPr>
          <p:cNvPr id="33" name="Shape 23">
            <a:extLst>
              <a:ext uri="{FF2B5EF4-FFF2-40B4-BE49-F238E27FC236}">
                <a16:creationId xmlns:a16="http://schemas.microsoft.com/office/drawing/2014/main" id="{44360E64-9AF3-E570-A6EA-135101D3A42F}"/>
              </a:ext>
            </a:extLst>
          </p:cNvPr>
          <p:cNvSpPr/>
          <p:nvPr/>
        </p:nvSpPr>
        <p:spPr>
          <a:xfrm>
            <a:off x="7071561" y="3538653"/>
            <a:ext cx="1991160" cy="594360"/>
          </a:xfrm>
          <a:prstGeom prst="rect">
            <a:avLst/>
          </a:prstGeom>
          <a:solidFill>
            <a:srgbClr val="FFFFFF"/>
          </a:solidFill>
          <a:ln w="12700">
            <a:solidFill>
              <a:srgbClr val="E2EAF2"/>
            </a:solidFill>
            <a:prstDash val="solid"/>
          </a:ln>
        </p:spPr>
        <p:txBody>
          <a:bodyPr/>
          <a:lstStyle/>
          <a:p>
            <a:endParaRPr lang="en-US" dirty="0"/>
          </a:p>
        </p:txBody>
      </p:sp>
      <p:sp>
        <p:nvSpPr>
          <p:cNvPr id="35" name="Text 18">
            <a:extLst>
              <a:ext uri="{FF2B5EF4-FFF2-40B4-BE49-F238E27FC236}">
                <a16:creationId xmlns:a16="http://schemas.microsoft.com/office/drawing/2014/main" id="{069984F8-A365-4371-6CCD-A37D863435FF}"/>
              </a:ext>
            </a:extLst>
          </p:cNvPr>
          <p:cNvSpPr/>
          <p:nvPr/>
        </p:nvSpPr>
        <p:spPr>
          <a:xfrm>
            <a:off x="7162524" y="2258431"/>
            <a:ext cx="3200400" cy="256032"/>
          </a:xfrm>
          <a:prstGeom prst="rect">
            <a:avLst/>
          </a:prstGeom>
          <a:noFill/>
          <a:ln/>
        </p:spPr>
        <p:txBody>
          <a:bodyPr wrap="square" lIns="0" tIns="0" rIns="0" bIns="0" rtlCol="0" anchor="ctr"/>
          <a:lstStyle/>
          <a:p>
            <a:pPr marL="0" indent="0">
              <a:buNone/>
            </a:pPr>
            <a:r>
              <a:rPr lang="en-US" sz="1050" b="1" dirty="0">
                <a:solidFill>
                  <a:srgbClr val="FF0000"/>
                </a:solidFill>
              </a:rPr>
              <a:t>Supplier_46</a:t>
            </a:r>
            <a:endParaRPr lang="en-US" sz="1050" dirty="0">
              <a:solidFill>
                <a:srgbClr val="FF0000"/>
              </a:solidFill>
            </a:endParaRPr>
          </a:p>
        </p:txBody>
      </p:sp>
      <p:sp>
        <p:nvSpPr>
          <p:cNvPr id="36" name="Text 18">
            <a:extLst>
              <a:ext uri="{FF2B5EF4-FFF2-40B4-BE49-F238E27FC236}">
                <a16:creationId xmlns:a16="http://schemas.microsoft.com/office/drawing/2014/main" id="{B73607FE-484B-4747-DFD8-63A1AB3DB0C2}"/>
              </a:ext>
            </a:extLst>
          </p:cNvPr>
          <p:cNvSpPr/>
          <p:nvPr/>
        </p:nvSpPr>
        <p:spPr>
          <a:xfrm>
            <a:off x="7162524" y="2882975"/>
            <a:ext cx="3200400" cy="256032"/>
          </a:xfrm>
          <a:prstGeom prst="rect">
            <a:avLst/>
          </a:prstGeom>
          <a:noFill/>
          <a:ln/>
        </p:spPr>
        <p:txBody>
          <a:bodyPr wrap="square" lIns="0" tIns="0" rIns="0" bIns="0" rtlCol="0" anchor="ctr"/>
          <a:lstStyle/>
          <a:p>
            <a:pPr marL="0" indent="0">
              <a:buNone/>
            </a:pPr>
            <a:r>
              <a:rPr lang="en-US" sz="1050" b="1" dirty="0">
                <a:solidFill>
                  <a:srgbClr val="FF0000"/>
                </a:solidFill>
              </a:rPr>
              <a:t>Supplier_472</a:t>
            </a:r>
            <a:endParaRPr lang="en-US" sz="1050" dirty="0">
              <a:solidFill>
                <a:srgbClr val="FF0000"/>
              </a:solidFill>
            </a:endParaRPr>
          </a:p>
        </p:txBody>
      </p:sp>
      <p:sp>
        <p:nvSpPr>
          <p:cNvPr id="37" name="Text 18">
            <a:extLst>
              <a:ext uri="{FF2B5EF4-FFF2-40B4-BE49-F238E27FC236}">
                <a16:creationId xmlns:a16="http://schemas.microsoft.com/office/drawing/2014/main" id="{77C04D4B-A0E6-B028-B8BE-6B517E7180FE}"/>
              </a:ext>
            </a:extLst>
          </p:cNvPr>
          <p:cNvSpPr/>
          <p:nvPr/>
        </p:nvSpPr>
        <p:spPr>
          <a:xfrm>
            <a:off x="7162524" y="3538653"/>
            <a:ext cx="3200400" cy="256032"/>
          </a:xfrm>
          <a:prstGeom prst="rect">
            <a:avLst/>
          </a:prstGeom>
          <a:noFill/>
          <a:ln/>
        </p:spPr>
        <p:txBody>
          <a:bodyPr wrap="square" lIns="0" tIns="0" rIns="0" bIns="0" rtlCol="0" anchor="ctr"/>
          <a:lstStyle/>
          <a:p>
            <a:pPr marL="0" indent="0">
              <a:buNone/>
            </a:pPr>
            <a:r>
              <a:rPr lang="en-US" sz="1050" b="1" dirty="0">
                <a:solidFill>
                  <a:srgbClr val="FF0000"/>
                </a:solidFill>
              </a:rPr>
              <a:t>Supplier_184</a:t>
            </a:r>
            <a:endParaRPr lang="en-US" sz="1050" dirty="0">
              <a:solidFill>
                <a:srgbClr val="FF0000"/>
              </a:solidFill>
            </a:endParaRPr>
          </a:p>
        </p:txBody>
      </p:sp>
      <p:sp>
        <p:nvSpPr>
          <p:cNvPr id="38" name="Text 19">
            <a:extLst>
              <a:ext uri="{FF2B5EF4-FFF2-40B4-BE49-F238E27FC236}">
                <a16:creationId xmlns:a16="http://schemas.microsoft.com/office/drawing/2014/main" id="{D16169D8-7EED-B235-315A-695123A0895D}"/>
              </a:ext>
            </a:extLst>
          </p:cNvPr>
          <p:cNvSpPr/>
          <p:nvPr/>
        </p:nvSpPr>
        <p:spPr>
          <a:xfrm>
            <a:off x="7162524" y="2529628"/>
            <a:ext cx="1885357" cy="228600"/>
          </a:xfrm>
          <a:prstGeom prst="rect">
            <a:avLst/>
          </a:prstGeom>
          <a:noFill/>
          <a:ln/>
        </p:spPr>
        <p:txBody>
          <a:bodyPr wrap="square" lIns="0" tIns="0" rIns="0" bIns="0" rtlCol="0" anchor="ctr"/>
          <a:lstStyle/>
          <a:p>
            <a:pPr marL="0" indent="0">
              <a:buNone/>
            </a:pPr>
            <a:r>
              <a:rPr lang="en-US" sz="900" dirty="0">
                <a:solidFill>
                  <a:srgbClr val="64748B"/>
                </a:solidFill>
              </a:rPr>
              <a:t>On-Time: 73%  |  Avg Lead: 8d  |  Score: 3.5 / 5</a:t>
            </a:r>
            <a:endParaRPr lang="en-US" sz="900" dirty="0"/>
          </a:p>
        </p:txBody>
      </p:sp>
      <p:sp>
        <p:nvSpPr>
          <p:cNvPr id="39" name="Text 19">
            <a:extLst>
              <a:ext uri="{FF2B5EF4-FFF2-40B4-BE49-F238E27FC236}">
                <a16:creationId xmlns:a16="http://schemas.microsoft.com/office/drawing/2014/main" id="{B12669B7-0481-F7AE-D5D6-E8C61D19AF67}"/>
              </a:ext>
            </a:extLst>
          </p:cNvPr>
          <p:cNvSpPr/>
          <p:nvPr/>
        </p:nvSpPr>
        <p:spPr>
          <a:xfrm>
            <a:off x="7162524" y="3135353"/>
            <a:ext cx="1885357" cy="228600"/>
          </a:xfrm>
          <a:prstGeom prst="rect">
            <a:avLst/>
          </a:prstGeom>
          <a:noFill/>
          <a:ln/>
        </p:spPr>
        <p:txBody>
          <a:bodyPr wrap="square" lIns="0" tIns="0" rIns="0" bIns="0" rtlCol="0" anchor="ctr"/>
          <a:lstStyle/>
          <a:p>
            <a:pPr marL="0" indent="0">
              <a:buNone/>
            </a:pPr>
            <a:r>
              <a:rPr lang="en-US" sz="900" dirty="0">
                <a:solidFill>
                  <a:srgbClr val="64748B"/>
                </a:solidFill>
              </a:rPr>
              <a:t>On-Time: 75%  |  Avg Lead: 7d  |  Score: 3.5 / 5</a:t>
            </a:r>
            <a:endParaRPr lang="en-US" sz="900" dirty="0"/>
          </a:p>
        </p:txBody>
      </p:sp>
      <p:sp>
        <p:nvSpPr>
          <p:cNvPr id="40" name="Text 19">
            <a:extLst>
              <a:ext uri="{FF2B5EF4-FFF2-40B4-BE49-F238E27FC236}">
                <a16:creationId xmlns:a16="http://schemas.microsoft.com/office/drawing/2014/main" id="{CA7A2301-A9C3-4894-9F11-094CC9865296}"/>
              </a:ext>
            </a:extLst>
          </p:cNvPr>
          <p:cNvSpPr/>
          <p:nvPr/>
        </p:nvSpPr>
        <p:spPr>
          <a:xfrm>
            <a:off x="7177364" y="3835833"/>
            <a:ext cx="1885357" cy="228600"/>
          </a:xfrm>
          <a:prstGeom prst="rect">
            <a:avLst/>
          </a:prstGeom>
          <a:noFill/>
          <a:ln/>
        </p:spPr>
        <p:txBody>
          <a:bodyPr wrap="square" lIns="0" tIns="0" rIns="0" bIns="0" rtlCol="0" anchor="ctr"/>
          <a:lstStyle/>
          <a:p>
            <a:pPr marL="0" indent="0">
              <a:buNone/>
            </a:pPr>
            <a:r>
              <a:rPr lang="en-US" sz="900" dirty="0">
                <a:solidFill>
                  <a:srgbClr val="64748B"/>
                </a:solidFill>
              </a:rPr>
              <a:t>On-Time: 76%  |  Avg Lead: 14d  |  Score: 3.5 / 5</a:t>
            </a:r>
            <a:endParaRPr lang="en-US" sz="900" dirty="0"/>
          </a:p>
        </p:txBody>
      </p:sp>
      <p:sp>
        <p:nvSpPr>
          <p:cNvPr id="42" name="TextBox 41">
            <a:extLst>
              <a:ext uri="{FF2B5EF4-FFF2-40B4-BE49-F238E27FC236}">
                <a16:creationId xmlns:a16="http://schemas.microsoft.com/office/drawing/2014/main" id="{C31FDC53-8B24-C08E-31F3-8EEDB57D4065}"/>
              </a:ext>
            </a:extLst>
          </p:cNvPr>
          <p:cNvSpPr txBox="1"/>
          <p:nvPr/>
        </p:nvSpPr>
        <p:spPr>
          <a:xfrm>
            <a:off x="7007969" y="1920103"/>
            <a:ext cx="2194466" cy="261610"/>
          </a:xfrm>
          <a:prstGeom prst="rect">
            <a:avLst/>
          </a:prstGeom>
          <a:noFill/>
        </p:spPr>
        <p:txBody>
          <a:bodyPr wrap="square">
            <a:spAutoFit/>
          </a:bodyPr>
          <a:lstStyle/>
          <a:p>
            <a:pPr marL="0" indent="0">
              <a:buNone/>
            </a:pPr>
            <a:r>
              <a:rPr lang="en-US" sz="1100" b="1" dirty="0">
                <a:solidFill>
                  <a:srgbClr val="0D2B5C"/>
                </a:solidFill>
              </a:rPr>
              <a:t>Bottom Reliable Suppliers </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2B5C"/>
          </a:solidFill>
          <a:ln w="12700">
            <a:solidFill>
              <a:srgbClr val="0D2B5C"/>
            </a:solidFill>
            <a:prstDash val="solid"/>
          </a:ln>
        </p:spPr>
        <p:txBody>
          <a:bodyPr/>
          <a:lstStyle/>
          <a:p>
            <a:endParaRPr lang="en-US"/>
          </a:p>
        </p:txBody>
      </p:sp>
      <p:sp>
        <p:nvSpPr>
          <p:cNvPr id="3" name="Text 1"/>
          <p:cNvSpPr/>
          <p:nvPr/>
        </p:nvSpPr>
        <p:spPr>
          <a:xfrm>
            <a:off x="365760" y="0"/>
            <a:ext cx="6858000" cy="777240"/>
          </a:xfrm>
          <a:prstGeom prst="rect">
            <a:avLst/>
          </a:prstGeom>
          <a:noFill/>
          <a:ln/>
        </p:spPr>
        <p:txBody>
          <a:bodyPr wrap="square" lIns="0" tIns="0" rIns="0" bIns="0" rtlCol="0" anchor="ctr"/>
          <a:lstStyle/>
          <a:p>
            <a:pPr marL="0" indent="0">
              <a:buNone/>
            </a:pPr>
            <a:r>
              <a:rPr lang="en-US" sz="2000" b="1" dirty="0">
                <a:solidFill>
                  <a:srgbClr val="FFFFFF"/>
                </a:solidFill>
              </a:rPr>
              <a:t>Demand Trends &amp; Order Outcomes</a:t>
            </a:r>
            <a:endParaRPr lang="en-US" sz="2000" dirty="0"/>
          </a:p>
        </p:txBody>
      </p:sp>
      <p:sp>
        <p:nvSpPr>
          <p:cNvPr id="4" name="Shape 2"/>
          <p:cNvSpPr/>
          <p:nvPr/>
        </p:nvSpPr>
        <p:spPr>
          <a:xfrm>
            <a:off x="7498080" y="256032"/>
            <a:ext cx="1828800" cy="274320"/>
          </a:xfrm>
          <a:prstGeom prst="rect">
            <a:avLst/>
          </a:prstGeom>
          <a:solidFill>
            <a:srgbClr val="0E7C86"/>
          </a:solidFill>
          <a:ln w="12700">
            <a:solidFill>
              <a:srgbClr val="0E7C86"/>
            </a:solidFill>
            <a:prstDash val="solid"/>
          </a:ln>
        </p:spPr>
        <p:txBody>
          <a:bodyPr/>
          <a:lstStyle/>
          <a:p>
            <a:endParaRPr lang="en-US"/>
          </a:p>
        </p:txBody>
      </p:sp>
      <p:sp>
        <p:nvSpPr>
          <p:cNvPr id="5" name="Text 3"/>
          <p:cNvSpPr/>
          <p:nvPr/>
        </p:nvSpPr>
        <p:spPr>
          <a:xfrm>
            <a:off x="7498080" y="256032"/>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rPr>
              <a:t>BO3 | BO4</a:t>
            </a:r>
            <a:endParaRPr lang="en-US" sz="900" dirty="0"/>
          </a:p>
        </p:txBody>
      </p:sp>
      <p:graphicFrame>
        <p:nvGraphicFramePr>
          <p:cNvPr id="6" name="Chart 0"/>
          <p:cNvGraphicFramePr/>
          <p:nvPr/>
        </p:nvGraphicFramePr>
        <p:xfrm>
          <a:off x="274320" y="91440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6"/>
          <p:cNvSpPr/>
          <p:nvPr/>
        </p:nvSpPr>
        <p:spPr>
          <a:xfrm>
            <a:off x="342899" y="4165093"/>
            <a:ext cx="8572499" cy="789679"/>
          </a:xfrm>
          <a:prstGeom prst="rect">
            <a:avLst/>
          </a:prstGeom>
          <a:solidFill>
            <a:srgbClr val="0D2B5C">
              <a:alpha val="12000"/>
            </a:srgbClr>
          </a:solidFill>
          <a:ln w="12700">
            <a:solidFill>
              <a:srgbClr val="0E7C86"/>
            </a:solidFill>
            <a:prstDash val="solid"/>
          </a:ln>
        </p:spPr>
        <p:txBody>
          <a:bodyPr/>
          <a:lstStyle/>
          <a:p>
            <a:endParaRPr lang="en-US"/>
          </a:p>
        </p:txBody>
      </p:sp>
      <p:sp>
        <p:nvSpPr>
          <p:cNvPr id="21" name="Text 17"/>
          <p:cNvSpPr/>
          <p:nvPr/>
        </p:nvSpPr>
        <p:spPr>
          <a:xfrm>
            <a:off x="502920" y="4069080"/>
            <a:ext cx="8412479" cy="961527"/>
          </a:xfrm>
          <a:prstGeom prst="rect">
            <a:avLst/>
          </a:prstGeom>
          <a:noFill/>
          <a:ln/>
        </p:spPr>
        <p:txBody>
          <a:bodyPr wrap="square" rtlCol="0" anchor="ctr"/>
          <a:lstStyle/>
          <a:p>
            <a:pPr marL="171450" indent="-171450">
              <a:buFont typeface="Arial" panose="020B0604020202020204" pitchFamily="34" charset="0"/>
              <a:buChar char="•"/>
            </a:pPr>
            <a:r>
              <a:rPr lang="en-US" sz="1000" b="1" dirty="0">
                <a:solidFill>
                  <a:srgbClr val="0D2B5C"/>
                </a:solidFill>
              </a:rPr>
              <a:t>Demand peaks Jul–Sep due to seasonal illness cycles and crashes in Mar, Apr &amp; Oct from budget resets predictable enough to plan procurement proactively rather than reactively. </a:t>
            </a:r>
          </a:p>
          <a:p>
            <a:pPr marL="171450" indent="-171450">
              <a:buFont typeface="Arial" panose="020B0604020202020204" pitchFamily="34" charset="0"/>
              <a:buChar char="•"/>
            </a:pPr>
            <a:r>
              <a:rPr lang="en-US" sz="1000" b="1" dirty="0">
                <a:solidFill>
                  <a:srgbClr val="0D2B5C"/>
                </a:solidFill>
              </a:rPr>
              <a:t>The 11.8% return rate likely stems from over-ordering during peaks and expiry-driven returns, directly eroding the ₹63.8 avg profit. </a:t>
            </a:r>
          </a:p>
          <a:p>
            <a:pPr marL="171450" indent="-171450">
              <a:buFont typeface="Arial" panose="020B0604020202020204" pitchFamily="34" charset="0"/>
              <a:buChar char="•"/>
            </a:pPr>
            <a:r>
              <a:rPr lang="en-US" sz="1000" b="1" dirty="0">
                <a:solidFill>
                  <a:srgbClr val="0D2B5C"/>
                </a:solidFill>
              </a:rPr>
              <a:t>Better demand forecasting and formulation alignment can fix both.</a:t>
            </a:r>
            <a:endParaRPr lang="en-US" sz="1000" dirty="0"/>
          </a:p>
        </p:txBody>
      </p:sp>
      <p:pic>
        <p:nvPicPr>
          <p:cNvPr id="9" name="Picture 8">
            <a:extLst>
              <a:ext uri="{FF2B5EF4-FFF2-40B4-BE49-F238E27FC236}">
                <a16:creationId xmlns:a16="http://schemas.microsoft.com/office/drawing/2014/main" id="{31FE8BA6-E412-0AF0-7A3D-96054BEE1734}"/>
              </a:ext>
            </a:extLst>
          </p:cNvPr>
          <p:cNvPicPr>
            <a:picLocks noChangeAspect="1"/>
          </p:cNvPicPr>
          <p:nvPr/>
        </p:nvPicPr>
        <p:blipFill>
          <a:blip r:embed="rId4"/>
          <a:stretch>
            <a:fillRect/>
          </a:stretch>
        </p:blipFill>
        <p:spPr>
          <a:xfrm>
            <a:off x="5398922" y="873253"/>
            <a:ext cx="3649676" cy="29324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7C86"/>
          </a:solidFill>
          <a:ln w="12700">
            <a:solidFill>
              <a:srgbClr val="0E7C86"/>
            </a:solidFill>
            <a:prstDash val="solid"/>
          </a:ln>
        </p:spPr>
        <p:txBody>
          <a:bodyPr/>
          <a:lstStyle/>
          <a:p>
            <a:endParaRPr lang="en-US"/>
          </a:p>
        </p:txBody>
      </p:sp>
      <p:sp>
        <p:nvSpPr>
          <p:cNvPr id="3" name="Text 1"/>
          <p:cNvSpPr/>
          <p:nvPr/>
        </p:nvSpPr>
        <p:spPr>
          <a:xfrm>
            <a:off x="365760" y="0"/>
            <a:ext cx="6858000" cy="777240"/>
          </a:xfrm>
          <a:prstGeom prst="rect">
            <a:avLst/>
          </a:prstGeom>
          <a:noFill/>
          <a:ln/>
        </p:spPr>
        <p:txBody>
          <a:bodyPr wrap="square" lIns="0" tIns="0" rIns="0" bIns="0" rtlCol="0" anchor="ctr"/>
          <a:lstStyle/>
          <a:p>
            <a:pPr marL="0" indent="0">
              <a:buNone/>
            </a:pPr>
            <a:r>
              <a:rPr lang="en-US" sz="2000" b="1" dirty="0">
                <a:solidFill>
                  <a:srgbClr val="FFFFFF"/>
                </a:solidFill>
              </a:rPr>
              <a:t> Return Loss &amp; Procurement Profit Efficiency</a:t>
            </a:r>
            <a:endParaRPr lang="en-US" sz="2000" dirty="0"/>
          </a:p>
        </p:txBody>
      </p:sp>
      <p:sp>
        <p:nvSpPr>
          <p:cNvPr id="4" name="Shape 2"/>
          <p:cNvSpPr/>
          <p:nvPr/>
        </p:nvSpPr>
        <p:spPr>
          <a:xfrm>
            <a:off x="7498080" y="256032"/>
            <a:ext cx="1828800" cy="274320"/>
          </a:xfrm>
          <a:prstGeom prst="rect">
            <a:avLst/>
          </a:prstGeom>
          <a:solidFill>
            <a:srgbClr val="0D2B5C"/>
          </a:solidFill>
          <a:ln w="12700">
            <a:solidFill>
              <a:srgbClr val="0D2B5C"/>
            </a:solidFill>
            <a:prstDash val="solid"/>
          </a:ln>
        </p:spPr>
        <p:txBody>
          <a:bodyPr/>
          <a:lstStyle/>
          <a:p>
            <a:endParaRPr lang="en-US"/>
          </a:p>
        </p:txBody>
      </p:sp>
      <p:sp>
        <p:nvSpPr>
          <p:cNvPr id="5" name="Text 3"/>
          <p:cNvSpPr/>
          <p:nvPr/>
        </p:nvSpPr>
        <p:spPr>
          <a:xfrm>
            <a:off x="7498080" y="256032"/>
            <a:ext cx="1828800" cy="274320"/>
          </a:xfrm>
          <a:prstGeom prst="rect">
            <a:avLst/>
          </a:prstGeom>
          <a:noFill/>
          <a:ln/>
        </p:spPr>
        <p:txBody>
          <a:bodyPr wrap="square" lIns="0" tIns="0" rIns="0" bIns="0" rtlCol="0" anchor="ctr"/>
          <a:lstStyle/>
          <a:p>
            <a:pPr marL="0" indent="0" algn="ctr">
              <a:buNone/>
            </a:pPr>
            <a:r>
              <a:rPr lang="en-US" sz="900" b="1" dirty="0">
                <a:solidFill>
                  <a:srgbClr val="FFFFFF"/>
                </a:solidFill>
              </a:rPr>
              <a:t>BO4</a:t>
            </a:r>
            <a:endParaRPr lang="en-US" sz="900" dirty="0"/>
          </a:p>
        </p:txBody>
      </p:sp>
      <p:graphicFrame>
        <p:nvGraphicFramePr>
          <p:cNvPr id="6" name="Chart 0"/>
          <p:cNvGraphicFramePr/>
          <p:nvPr/>
        </p:nvGraphicFramePr>
        <p:xfrm>
          <a:off x="274320" y="914400"/>
          <a:ext cx="50292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440680" y="914400"/>
            <a:ext cx="1645920" cy="822960"/>
          </a:xfrm>
          <a:prstGeom prst="rect">
            <a:avLst/>
          </a:prstGeom>
          <a:solidFill>
            <a:srgbClr val="0D2B5C"/>
          </a:solidFill>
          <a:ln w="12700">
            <a:solidFill>
              <a:srgbClr val="0D2B5C"/>
            </a:solidFill>
            <a:prstDash val="solid"/>
          </a:ln>
          <a:effectLst>
            <a:outerShdw blurRad="63500" dist="25400" dir="8100000" algn="bl" rotWithShape="0">
              <a:srgbClr val="000000">
                <a:alpha val="15000"/>
              </a:srgbClr>
            </a:outerShdw>
          </a:effectLst>
        </p:spPr>
        <p:txBody>
          <a:bodyPr/>
          <a:lstStyle/>
          <a:p>
            <a:endParaRPr lang="en-US"/>
          </a:p>
        </p:txBody>
      </p:sp>
      <p:sp>
        <p:nvSpPr>
          <p:cNvPr id="8" name="Text 5"/>
          <p:cNvSpPr/>
          <p:nvPr/>
        </p:nvSpPr>
        <p:spPr>
          <a:xfrm>
            <a:off x="5440680" y="1024128"/>
            <a:ext cx="1645920" cy="452628"/>
          </a:xfrm>
          <a:prstGeom prst="rect">
            <a:avLst/>
          </a:prstGeom>
          <a:noFill/>
          <a:ln/>
        </p:spPr>
        <p:txBody>
          <a:bodyPr wrap="square" lIns="0" tIns="0" rIns="0" bIns="0" rtlCol="0" anchor="b"/>
          <a:lstStyle/>
          <a:p>
            <a:pPr marL="0" indent="0" algn="ctr">
              <a:buNone/>
            </a:pPr>
            <a:r>
              <a:rPr lang="en-US" sz="2800" b="1" dirty="0">
                <a:solidFill>
                  <a:srgbClr val="FFFFFF"/>
                </a:solidFill>
              </a:rPr>
              <a:t>₹9.5L</a:t>
            </a:r>
            <a:endParaRPr lang="en-US" sz="2800" dirty="0"/>
          </a:p>
        </p:txBody>
      </p:sp>
      <p:sp>
        <p:nvSpPr>
          <p:cNvPr id="9" name="Text 6"/>
          <p:cNvSpPr/>
          <p:nvPr/>
        </p:nvSpPr>
        <p:spPr>
          <a:xfrm>
            <a:off x="5440680" y="1367028"/>
            <a:ext cx="1645920" cy="329184"/>
          </a:xfrm>
          <a:prstGeom prst="rect">
            <a:avLst/>
          </a:prstGeom>
          <a:noFill/>
          <a:ln/>
        </p:spPr>
        <p:txBody>
          <a:bodyPr wrap="square" lIns="0" tIns="0" rIns="0" bIns="0" rtlCol="0" anchor="t"/>
          <a:lstStyle/>
          <a:p>
            <a:pPr marL="0" indent="0" algn="ctr">
              <a:buNone/>
            </a:pPr>
            <a:r>
              <a:rPr lang="en-US" sz="1000" dirty="0">
                <a:solidFill>
                  <a:srgbClr val="FFFFFF"/>
                </a:solidFill>
              </a:rPr>
              <a:t>Total Procurement</a:t>
            </a:r>
            <a:endParaRPr lang="en-US" sz="1000" dirty="0"/>
          </a:p>
          <a:p>
            <a:pPr marL="0" indent="0" algn="ctr">
              <a:buNone/>
            </a:pPr>
            <a:r>
              <a:rPr lang="en-US" sz="1000" dirty="0">
                <a:solidFill>
                  <a:srgbClr val="FFFFFF"/>
                </a:solidFill>
              </a:rPr>
              <a:t>Cost</a:t>
            </a:r>
            <a:endParaRPr lang="en-US" sz="1000" dirty="0"/>
          </a:p>
        </p:txBody>
      </p:sp>
      <p:sp>
        <p:nvSpPr>
          <p:cNvPr id="10" name="Shape 7"/>
          <p:cNvSpPr/>
          <p:nvPr/>
        </p:nvSpPr>
        <p:spPr>
          <a:xfrm>
            <a:off x="7223760" y="914400"/>
            <a:ext cx="1645920" cy="822960"/>
          </a:xfrm>
          <a:prstGeom prst="rect">
            <a:avLst/>
          </a:prstGeom>
          <a:solidFill>
            <a:srgbClr val="0E7C86"/>
          </a:solidFill>
          <a:ln w="12700">
            <a:solidFill>
              <a:srgbClr val="0E7C86"/>
            </a:solidFill>
            <a:prstDash val="solid"/>
          </a:ln>
          <a:effectLst>
            <a:outerShdw blurRad="63500" dist="25400" dir="8100000" algn="bl" rotWithShape="0">
              <a:srgbClr val="000000">
                <a:alpha val="15000"/>
              </a:srgbClr>
            </a:outerShdw>
          </a:effectLst>
        </p:spPr>
        <p:txBody>
          <a:bodyPr/>
          <a:lstStyle/>
          <a:p>
            <a:endParaRPr lang="en-US"/>
          </a:p>
        </p:txBody>
      </p:sp>
      <p:sp>
        <p:nvSpPr>
          <p:cNvPr id="11" name="Text 8"/>
          <p:cNvSpPr/>
          <p:nvPr/>
        </p:nvSpPr>
        <p:spPr>
          <a:xfrm>
            <a:off x="7223760" y="1024128"/>
            <a:ext cx="1645920" cy="452628"/>
          </a:xfrm>
          <a:prstGeom prst="rect">
            <a:avLst/>
          </a:prstGeom>
          <a:noFill/>
          <a:ln/>
        </p:spPr>
        <p:txBody>
          <a:bodyPr wrap="square" lIns="0" tIns="0" rIns="0" bIns="0" rtlCol="0" anchor="b"/>
          <a:lstStyle/>
          <a:p>
            <a:pPr marL="0" indent="0" algn="ctr">
              <a:buNone/>
            </a:pPr>
            <a:r>
              <a:rPr lang="en-US" sz="2800" b="1" dirty="0">
                <a:solidFill>
                  <a:srgbClr val="FFFFFF"/>
                </a:solidFill>
              </a:rPr>
              <a:t>₹18.6L</a:t>
            </a:r>
            <a:endParaRPr lang="en-US" sz="2800" dirty="0"/>
          </a:p>
        </p:txBody>
      </p:sp>
      <p:sp>
        <p:nvSpPr>
          <p:cNvPr id="12" name="Text 9"/>
          <p:cNvSpPr/>
          <p:nvPr/>
        </p:nvSpPr>
        <p:spPr>
          <a:xfrm>
            <a:off x="7223760" y="1367028"/>
            <a:ext cx="1645920" cy="329184"/>
          </a:xfrm>
          <a:prstGeom prst="rect">
            <a:avLst/>
          </a:prstGeom>
          <a:noFill/>
          <a:ln/>
        </p:spPr>
        <p:txBody>
          <a:bodyPr wrap="square" lIns="0" tIns="0" rIns="0" bIns="0" rtlCol="0" anchor="t"/>
          <a:lstStyle/>
          <a:p>
            <a:pPr marL="0" indent="0" algn="ctr">
              <a:buNone/>
            </a:pPr>
            <a:r>
              <a:rPr lang="en-US" sz="1000" dirty="0">
                <a:solidFill>
                  <a:srgbClr val="FFFFFF"/>
                </a:solidFill>
              </a:rPr>
              <a:t>Total Sales</a:t>
            </a:r>
            <a:endParaRPr lang="en-US" sz="1000" dirty="0"/>
          </a:p>
          <a:p>
            <a:pPr marL="0" indent="0" algn="ctr">
              <a:buNone/>
            </a:pPr>
            <a:r>
              <a:rPr lang="en-US" sz="1000" dirty="0">
                <a:solidFill>
                  <a:srgbClr val="FFFFFF"/>
                </a:solidFill>
              </a:rPr>
              <a:t>Value</a:t>
            </a:r>
            <a:endParaRPr lang="en-US" sz="1000" dirty="0"/>
          </a:p>
        </p:txBody>
      </p:sp>
      <p:sp>
        <p:nvSpPr>
          <p:cNvPr id="13" name="Shape 10"/>
          <p:cNvSpPr/>
          <p:nvPr/>
        </p:nvSpPr>
        <p:spPr>
          <a:xfrm>
            <a:off x="5440680" y="1892808"/>
            <a:ext cx="1645920" cy="822960"/>
          </a:xfrm>
          <a:prstGeom prst="rect">
            <a:avLst/>
          </a:prstGeom>
          <a:solidFill>
            <a:srgbClr val="2C3E50"/>
          </a:solidFill>
          <a:ln w="12700">
            <a:solidFill>
              <a:srgbClr val="2C3E50"/>
            </a:solidFill>
            <a:prstDash val="solid"/>
          </a:ln>
          <a:effectLst>
            <a:outerShdw blurRad="63500" dist="25400" dir="8100000" algn="bl" rotWithShape="0">
              <a:srgbClr val="000000">
                <a:alpha val="15000"/>
              </a:srgbClr>
            </a:outerShdw>
          </a:effectLst>
        </p:spPr>
        <p:txBody>
          <a:bodyPr/>
          <a:lstStyle/>
          <a:p>
            <a:endParaRPr lang="en-US"/>
          </a:p>
        </p:txBody>
      </p:sp>
      <p:sp>
        <p:nvSpPr>
          <p:cNvPr id="14" name="Text 11"/>
          <p:cNvSpPr/>
          <p:nvPr/>
        </p:nvSpPr>
        <p:spPr>
          <a:xfrm>
            <a:off x="5440680" y="2002536"/>
            <a:ext cx="1645920" cy="452628"/>
          </a:xfrm>
          <a:prstGeom prst="rect">
            <a:avLst/>
          </a:prstGeom>
          <a:noFill/>
          <a:ln/>
        </p:spPr>
        <p:txBody>
          <a:bodyPr wrap="square" lIns="0" tIns="0" rIns="0" bIns="0" rtlCol="0" anchor="b"/>
          <a:lstStyle/>
          <a:p>
            <a:pPr marL="0" indent="0" algn="ctr">
              <a:buNone/>
            </a:pPr>
            <a:r>
              <a:rPr lang="en-US" sz="2800" b="1" dirty="0">
                <a:solidFill>
                  <a:srgbClr val="FFFFFF"/>
                </a:solidFill>
              </a:rPr>
              <a:t>₹101</a:t>
            </a:r>
            <a:endParaRPr lang="en-US" sz="2800" dirty="0"/>
          </a:p>
        </p:txBody>
      </p:sp>
      <p:sp>
        <p:nvSpPr>
          <p:cNvPr id="15" name="Text 12"/>
          <p:cNvSpPr/>
          <p:nvPr/>
        </p:nvSpPr>
        <p:spPr>
          <a:xfrm>
            <a:off x="5440680" y="2345436"/>
            <a:ext cx="1645920" cy="329184"/>
          </a:xfrm>
          <a:prstGeom prst="rect">
            <a:avLst/>
          </a:prstGeom>
          <a:noFill/>
          <a:ln/>
        </p:spPr>
        <p:txBody>
          <a:bodyPr wrap="square" lIns="0" tIns="0" rIns="0" bIns="0" rtlCol="0" anchor="t"/>
          <a:lstStyle/>
          <a:p>
            <a:pPr marL="0" indent="0" algn="ctr">
              <a:buNone/>
            </a:pPr>
            <a:r>
              <a:rPr lang="en-US" sz="1000" dirty="0">
                <a:solidFill>
                  <a:srgbClr val="FFFFFF"/>
                </a:solidFill>
              </a:rPr>
              <a:t>Avg Unit Cost</a:t>
            </a:r>
            <a:endParaRPr lang="en-US" sz="1000" dirty="0"/>
          </a:p>
          <a:p>
            <a:pPr marL="0" indent="0" algn="ctr">
              <a:buNone/>
            </a:pPr>
            <a:r>
              <a:rPr lang="en-US" sz="1000" dirty="0">
                <a:solidFill>
                  <a:srgbClr val="FFFFFF"/>
                </a:solidFill>
              </a:rPr>
              <a:t>(Supplier)</a:t>
            </a:r>
            <a:endParaRPr lang="en-US" sz="1000" dirty="0"/>
          </a:p>
        </p:txBody>
      </p:sp>
      <p:sp>
        <p:nvSpPr>
          <p:cNvPr id="16" name="Shape 13"/>
          <p:cNvSpPr/>
          <p:nvPr/>
        </p:nvSpPr>
        <p:spPr>
          <a:xfrm>
            <a:off x="7223760" y="1892808"/>
            <a:ext cx="1645920" cy="822960"/>
          </a:xfrm>
          <a:prstGeom prst="rect">
            <a:avLst/>
          </a:prstGeom>
          <a:solidFill>
            <a:srgbClr val="1E8449"/>
          </a:solidFill>
          <a:ln w="12700">
            <a:solidFill>
              <a:srgbClr val="1E8449"/>
            </a:solidFill>
            <a:prstDash val="solid"/>
          </a:ln>
          <a:effectLst>
            <a:outerShdw blurRad="63500" dist="25400" dir="8100000" algn="bl" rotWithShape="0">
              <a:srgbClr val="000000">
                <a:alpha val="15000"/>
              </a:srgbClr>
            </a:outerShdw>
          </a:effectLst>
        </p:spPr>
        <p:txBody>
          <a:bodyPr/>
          <a:lstStyle/>
          <a:p>
            <a:endParaRPr lang="en-US"/>
          </a:p>
        </p:txBody>
      </p:sp>
      <p:sp>
        <p:nvSpPr>
          <p:cNvPr id="17" name="Text 14"/>
          <p:cNvSpPr/>
          <p:nvPr/>
        </p:nvSpPr>
        <p:spPr>
          <a:xfrm>
            <a:off x="7223760" y="2002536"/>
            <a:ext cx="1645920" cy="452628"/>
          </a:xfrm>
          <a:prstGeom prst="rect">
            <a:avLst/>
          </a:prstGeom>
          <a:noFill/>
          <a:ln/>
        </p:spPr>
        <p:txBody>
          <a:bodyPr wrap="square" lIns="0" tIns="0" rIns="0" bIns="0" rtlCol="0" anchor="b"/>
          <a:lstStyle/>
          <a:p>
            <a:pPr marL="0" indent="0" algn="ctr">
              <a:buNone/>
            </a:pPr>
            <a:r>
              <a:rPr lang="en-US" sz="2800" b="1" dirty="0">
                <a:solidFill>
                  <a:srgbClr val="FFFFFF"/>
                </a:solidFill>
              </a:rPr>
              <a:t>18.8×</a:t>
            </a:r>
            <a:endParaRPr lang="en-US" sz="2800" dirty="0"/>
          </a:p>
        </p:txBody>
      </p:sp>
      <p:sp>
        <p:nvSpPr>
          <p:cNvPr id="18" name="Text 15"/>
          <p:cNvSpPr/>
          <p:nvPr/>
        </p:nvSpPr>
        <p:spPr>
          <a:xfrm>
            <a:off x="7223760" y="2345436"/>
            <a:ext cx="1645920" cy="329184"/>
          </a:xfrm>
          <a:prstGeom prst="rect">
            <a:avLst/>
          </a:prstGeom>
          <a:noFill/>
          <a:ln/>
        </p:spPr>
        <p:txBody>
          <a:bodyPr wrap="square" lIns="0" tIns="0" rIns="0" bIns="0" rtlCol="0" anchor="t"/>
          <a:lstStyle/>
          <a:p>
            <a:pPr marL="0" indent="0" algn="ctr">
              <a:buNone/>
            </a:pPr>
            <a:r>
              <a:rPr lang="en-US" sz="1000" dirty="0">
                <a:solidFill>
                  <a:srgbClr val="FFFFFF"/>
                </a:solidFill>
              </a:rPr>
              <a:t>Avg Inventory</a:t>
            </a:r>
            <a:endParaRPr lang="en-US" sz="1000" dirty="0"/>
          </a:p>
          <a:p>
            <a:pPr marL="0" indent="0" algn="ctr">
              <a:buNone/>
            </a:pPr>
            <a:r>
              <a:rPr lang="en-US" sz="1000" dirty="0">
                <a:solidFill>
                  <a:srgbClr val="FFFFFF"/>
                </a:solidFill>
              </a:rPr>
              <a:t>Turnover Rate</a:t>
            </a:r>
            <a:endParaRPr lang="en-US" sz="1000" dirty="0"/>
          </a:p>
        </p:txBody>
      </p:sp>
      <p:sp>
        <p:nvSpPr>
          <p:cNvPr id="19" name="Shape 16"/>
          <p:cNvSpPr/>
          <p:nvPr/>
        </p:nvSpPr>
        <p:spPr>
          <a:xfrm>
            <a:off x="5440680" y="2871216"/>
            <a:ext cx="1645920" cy="822960"/>
          </a:xfrm>
          <a:prstGeom prst="rect">
            <a:avLst/>
          </a:prstGeom>
          <a:solidFill>
            <a:srgbClr val="F39C12"/>
          </a:solidFill>
          <a:ln w="12700">
            <a:solidFill>
              <a:srgbClr val="F39C12"/>
            </a:solidFill>
            <a:prstDash val="solid"/>
          </a:ln>
          <a:effectLst>
            <a:outerShdw blurRad="63500" dist="25400" dir="8100000" algn="bl" rotWithShape="0">
              <a:srgbClr val="000000">
                <a:alpha val="15000"/>
              </a:srgbClr>
            </a:outerShdw>
          </a:effectLst>
        </p:spPr>
        <p:txBody>
          <a:bodyPr/>
          <a:lstStyle/>
          <a:p>
            <a:endParaRPr lang="en-US"/>
          </a:p>
        </p:txBody>
      </p:sp>
      <p:sp>
        <p:nvSpPr>
          <p:cNvPr id="20" name="Text 17"/>
          <p:cNvSpPr/>
          <p:nvPr/>
        </p:nvSpPr>
        <p:spPr>
          <a:xfrm>
            <a:off x="5440680" y="2919169"/>
            <a:ext cx="1645920" cy="452628"/>
          </a:xfrm>
          <a:prstGeom prst="rect">
            <a:avLst/>
          </a:prstGeom>
          <a:noFill/>
          <a:ln/>
        </p:spPr>
        <p:txBody>
          <a:bodyPr wrap="square" lIns="0" tIns="0" rIns="0" bIns="0" rtlCol="0" anchor="b"/>
          <a:lstStyle/>
          <a:p>
            <a:pPr marL="0" indent="0" algn="ctr">
              <a:buNone/>
            </a:pPr>
            <a:r>
              <a:rPr lang="en-US" sz="2800" b="1" dirty="0">
                <a:solidFill>
                  <a:srgbClr val="FFFFFF"/>
                </a:solidFill>
              </a:rPr>
              <a:t>26 days</a:t>
            </a:r>
            <a:endParaRPr lang="en-US" sz="2800" dirty="0"/>
          </a:p>
        </p:txBody>
      </p:sp>
      <p:sp>
        <p:nvSpPr>
          <p:cNvPr id="21" name="Text 18"/>
          <p:cNvSpPr/>
          <p:nvPr/>
        </p:nvSpPr>
        <p:spPr>
          <a:xfrm>
            <a:off x="5440680" y="3323844"/>
            <a:ext cx="1645920" cy="329184"/>
          </a:xfrm>
          <a:prstGeom prst="rect">
            <a:avLst/>
          </a:prstGeom>
          <a:noFill/>
          <a:ln/>
        </p:spPr>
        <p:txBody>
          <a:bodyPr wrap="square" lIns="0" tIns="0" rIns="0" bIns="0" rtlCol="0" anchor="t"/>
          <a:lstStyle/>
          <a:p>
            <a:pPr marL="0" indent="0" algn="ctr">
              <a:buNone/>
            </a:pPr>
            <a:r>
              <a:rPr lang="en-US" sz="1000" dirty="0">
                <a:solidFill>
                  <a:srgbClr val="FFFFFF"/>
                </a:solidFill>
              </a:rPr>
              <a:t>Median Stock</a:t>
            </a:r>
            <a:endParaRPr lang="en-US" sz="1000" dirty="0"/>
          </a:p>
          <a:p>
            <a:pPr marL="0" indent="0" algn="ctr">
              <a:buNone/>
            </a:pPr>
            <a:r>
              <a:rPr lang="en-US" sz="1000" dirty="0">
                <a:solidFill>
                  <a:srgbClr val="FFFFFF"/>
                </a:solidFill>
              </a:rPr>
              <a:t>Cover Days</a:t>
            </a:r>
            <a:endParaRPr lang="en-US" sz="1000" dirty="0"/>
          </a:p>
        </p:txBody>
      </p:sp>
      <p:sp>
        <p:nvSpPr>
          <p:cNvPr id="22" name="Shape 19"/>
          <p:cNvSpPr/>
          <p:nvPr/>
        </p:nvSpPr>
        <p:spPr>
          <a:xfrm>
            <a:off x="7223760" y="2871216"/>
            <a:ext cx="1645920" cy="822960"/>
          </a:xfrm>
          <a:prstGeom prst="rect">
            <a:avLst/>
          </a:prstGeom>
          <a:solidFill>
            <a:srgbClr val="C0392B"/>
          </a:solidFill>
          <a:ln w="12700">
            <a:solidFill>
              <a:srgbClr val="C0392B"/>
            </a:solidFill>
            <a:prstDash val="solid"/>
          </a:ln>
          <a:effectLst>
            <a:outerShdw blurRad="63500" dist="25400" dir="8100000" algn="bl" rotWithShape="0">
              <a:srgbClr val="000000">
                <a:alpha val="15000"/>
              </a:srgbClr>
            </a:outerShdw>
          </a:effectLst>
        </p:spPr>
        <p:txBody>
          <a:bodyPr/>
          <a:lstStyle/>
          <a:p>
            <a:endParaRPr lang="en-US"/>
          </a:p>
        </p:txBody>
      </p:sp>
      <p:sp>
        <p:nvSpPr>
          <p:cNvPr id="23" name="Text 20"/>
          <p:cNvSpPr/>
          <p:nvPr/>
        </p:nvSpPr>
        <p:spPr>
          <a:xfrm>
            <a:off x="7223760" y="2980944"/>
            <a:ext cx="1645920" cy="452628"/>
          </a:xfrm>
          <a:prstGeom prst="rect">
            <a:avLst/>
          </a:prstGeom>
          <a:noFill/>
          <a:ln/>
        </p:spPr>
        <p:txBody>
          <a:bodyPr wrap="square" lIns="0" tIns="0" rIns="0" bIns="0" rtlCol="0" anchor="b"/>
          <a:lstStyle/>
          <a:p>
            <a:pPr marL="0" indent="0" algn="ctr">
              <a:buNone/>
            </a:pPr>
            <a:r>
              <a:rPr lang="en-US" sz="2800" b="1" dirty="0">
                <a:solidFill>
                  <a:srgbClr val="FFFFFF"/>
                </a:solidFill>
              </a:rPr>
              <a:t>1,681</a:t>
            </a:r>
            <a:endParaRPr lang="en-US" sz="2800" dirty="0"/>
          </a:p>
        </p:txBody>
      </p:sp>
      <p:sp>
        <p:nvSpPr>
          <p:cNvPr id="24" name="Text 21"/>
          <p:cNvSpPr/>
          <p:nvPr/>
        </p:nvSpPr>
        <p:spPr>
          <a:xfrm>
            <a:off x="7223760" y="3323844"/>
            <a:ext cx="1645920" cy="329184"/>
          </a:xfrm>
          <a:prstGeom prst="rect">
            <a:avLst/>
          </a:prstGeom>
          <a:noFill/>
          <a:ln/>
        </p:spPr>
        <p:txBody>
          <a:bodyPr wrap="square" lIns="0" tIns="0" rIns="0" bIns="0" rtlCol="0" anchor="t"/>
          <a:lstStyle/>
          <a:p>
            <a:pPr marL="0" indent="0" algn="ctr">
              <a:buNone/>
            </a:pPr>
            <a:r>
              <a:rPr lang="en-US" sz="1000" dirty="0">
                <a:solidFill>
                  <a:srgbClr val="FFFFFF"/>
                </a:solidFill>
              </a:rPr>
              <a:t>Total Return</a:t>
            </a:r>
            <a:endParaRPr lang="en-US" sz="1000" dirty="0"/>
          </a:p>
          <a:p>
            <a:pPr marL="0" indent="0" algn="ctr">
              <a:buNone/>
            </a:pPr>
            <a:r>
              <a:rPr lang="en-US" sz="1000" dirty="0">
                <a:solidFill>
                  <a:srgbClr val="FFFFFF"/>
                </a:solidFill>
              </a:rPr>
              <a:t>Orders</a:t>
            </a:r>
            <a:endParaRPr lang="en-US" sz="1000" dirty="0"/>
          </a:p>
        </p:txBody>
      </p:sp>
      <p:sp>
        <p:nvSpPr>
          <p:cNvPr id="25" name="Shape 22"/>
          <p:cNvSpPr/>
          <p:nvPr/>
        </p:nvSpPr>
        <p:spPr>
          <a:xfrm>
            <a:off x="274320" y="3822192"/>
            <a:ext cx="8595360" cy="822960"/>
          </a:xfrm>
          <a:prstGeom prst="rect">
            <a:avLst/>
          </a:prstGeom>
          <a:solidFill>
            <a:srgbClr val="0D2B5C">
              <a:alpha val="12000"/>
            </a:srgbClr>
          </a:solidFill>
          <a:ln w="12700">
            <a:solidFill>
              <a:srgbClr val="0E7C86"/>
            </a:solidFill>
            <a:prstDash val="solid"/>
          </a:ln>
        </p:spPr>
        <p:txBody>
          <a:bodyPr/>
          <a:lstStyle/>
          <a:p>
            <a:endParaRPr lang="en-US"/>
          </a:p>
        </p:txBody>
      </p:sp>
      <p:sp>
        <p:nvSpPr>
          <p:cNvPr id="26" name="Text 23"/>
          <p:cNvSpPr/>
          <p:nvPr/>
        </p:nvSpPr>
        <p:spPr>
          <a:xfrm>
            <a:off x="411480" y="3822192"/>
            <a:ext cx="8321040" cy="822960"/>
          </a:xfrm>
          <a:prstGeom prst="rect">
            <a:avLst/>
          </a:prstGeom>
          <a:noFill/>
          <a:ln/>
        </p:spPr>
        <p:txBody>
          <a:bodyPr wrap="square" rtlCol="0" anchor="ctr"/>
          <a:lstStyle/>
          <a:p>
            <a:pPr marL="171450" indent="-171450">
              <a:buFont typeface="Arial" panose="020B0604020202020204" pitchFamily="34" charset="0"/>
              <a:buChar char="•"/>
            </a:pPr>
            <a:r>
              <a:rPr lang="en-US" sz="1000" b="1" dirty="0">
                <a:solidFill>
                  <a:srgbClr val="2C3E50"/>
                </a:solidFill>
              </a:rPr>
              <a:t>All returns generate losses even 1 unit returned causes ₹96 loss. </a:t>
            </a:r>
          </a:p>
          <a:p>
            <a:pPr marL="171450" indent="-171450">
              <a:buFont typeface="Arial" panose="020B0604020202020204" pitchFamily="34" charset="0"/>
              <a:buChar char="•"/>
            </a:pPr>
            <a:r>
              <a:rPr lang="en-US" sz="1000" b="1" dirty="0">
                <a:solidFill>
                  <a:srgbClr val="2C3E50"/>
                </a:solidFill>
              </a:rPr>
              <a:t>2-unit returns create the steepest per-return loss at ₹147.59, likely involving high-cost medicines. </a:t>
            </a:r>
          </a:p>
          <a:p>
            <a:pPr marL="171450" indent="-171450">
              <a:buFont typeface="Arial" panose="020B0604020202020204" pitchFamily="34" charset="0"/>
              <a:buChar char="•"/>
            </a:pPr>
            <a:r>
              <a:rPr lang="en-US" sz="1000" b="1" dirty="0">
                <a:solidFill>
                  <a:srgbClr val="2C3E50"/>
                </a:solidFill>
              </a:rPr>
              <a:t>Avg inventory turnover of 18.8× suggests reasonable stock movement, but median stock cover of 26 days leaves little buffer for supply disruptions. </a:t>
            </a:r>
          </a:p>
          <a:p>
            <a:pPr marL="171450" indent="-171450">
              <a:buFont typeface="Arial" panose="020B0604020202020204" pitchFamily="34" charset="0"/>
              <a:buChar char="•"/>
            </a:pPr>
            <a:r>
              <a:rPr lang="en-US" sz="1000" b="1" dirty="0">
                <a:solidFill>
                  <a:srgbClr val="2C3E50"/>
                </a:solidFill>
              </a:rPr>
              <a:t>Unit costs range ₹5.16–₹199.88 with avg ₹101.10 high variance indicates procurement strategy inconsistency across drug categories.</a:t>
            </a:r>
            <a:endParaRPr lang="en-US" sz="1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Bar"/>
          <p:cNvSpPr/>
          <p:nvPr/>
        </p:nvSpPr>
        <p:spPr>
          <a:xfrm>
            <a:off x="0" y="0"/>
            <a:ext cx="228600" cy="5143500"/>
          </a:xfrm>
          <a:prstGeom prst="rect">
            <a:avLst/>
          </a:prstGeom>
          <a:solidFill>
            <a:srgbClr val="0E7C86"/>
          </a:solidFill>
          <a:ln w="0">
            <a:noFill/>
          </a:ln>
        </p:spPr>
        <p:txBody>
          <a:bodyPr/>
          <a:lstStyle/>
          <a:p>
            <a:endParaRPr lang="en-US"/>
          </a:p>
        </p:txBody>
      </p:sp>
      <p:sp>
        <p:nvSpPr>
          <p:cNvPr id="3" name="Title"/>
          <p:cNvSpPr/>
          <p:nvPr/>
        </p:nvSpPr>
        <p:spPr>
          <a:xfrm>
            <a:off x="304800" y="91440"/>
            <a:ext cx="6858000" cy="480060"/>
          </a:xfrm>
          <a:prstGeom prst="rect">
            <a:avLst/>
          </a:prstGeom>
          <a:noFill/>
          <a:ln>
            <a:noFill/>
          </a:ln>
        </p:spPr>
        <p:txBody>
          <a:bodyPr wrap="square" lIns="91440" tIns="45720" rIns="91440" bIns="45720" rtlCol="0" anchor="ctr"/>
          <a:lstStyle/>
          <a:p>
            <a:pPr algn="l">
              <a:buNone/>
            </a:pPr>
            <a:r>
              <a:rPr lang="en-US" sz="2000" b="1" dirty="0">
                <a:solidFill>
                  <a:srgbClr val="E8A838"/>
                </a:solidFill>
              </a:rPr>
              <a:t>Automation &amp; Database</a:t>
            </a:r>
          </a:p>
        </p:txBody>
      </p:sp>
      <p:sp>
        <p:nvSpPr>
          <p:cNvPr id="4" name="BOBadge"/>
          <p:cNvSpPr/>
          <p:nvPr/>
        </p:nvSpPr>
        <p:spPr>
          <a:xfrm>
            <a:off x="7620000" y="91440"/>
            <a:ext cx="1219200" cy="480060"/>
          </a:xfrm>
          <a:prstGeom prst="rect">
            <a:avLst/>
          </a:prstGeom>
          <a:solidFill>
            <a:srgbClr val="0E7C86"/>
          </a:solidFill>
          <a:ln w="0">
            <a:noFill/>
          </a:ln>
        </p:spPr>
        <p:txBody>
          <a:bodyPr wrap="square" lIns="91440" tIns="45720" rIns="91440" bIns="45720" rtlCol="0" anchor="ctr"/>
          <a:lstStyle/>
          <a:p>
            <a:pPr algn="ctr">
              <a:buNone/>
            </a:pPr>
            <a:r>
              <a:rPr lang="en-US" sz="1100" b="1" dirty="0">
                <a:solidFill>
                  <a:srgbClr val="FFFFFF"/>
                </a:solidFill>
              </a:rPr>
              <a:t>BO1 | BO2</a:t>
            </a:r>
          </a:p>
        </p:txBody>
      </p:sp>
      <p:sp>
        <p:nvSpPr>
          <p:cNvPr id="5" name="DividerLine"/>
          <p:cNvSpPr/>
          <p:nvPr/>
        </p:nvSpPr>
        <p:spPr>
          <a:xfrm>
            <a:off x="304800" y="594360"/>
            <a:ext cx="8534400" cy="22860"/>
          </a:xfrm>
          <a:prstGeom prst="rect">
            <a:avLst/>
          </a:prstGeom>
          <a:solidFill>
            <a:srgbClr val="E8A838"/>
          </a:solidFill>
          <a:ln w="0">
            <a:noFill/>
          </a:ln>
        </p:spPr>
        <p:txBody>
          <a:bodyPr/>
          <a:lstStyle/>
          <a:p>
            <a:endParaRPr lang="en-US"/>
          </a:p>
        </p:txBody>
      </p:sp>
      <p:sp>
        <p:nvSpPr>
          <p:cNvPr id="6" name="AutoHeader"/>
          <p:cNvSpPr/>
          <p:nvPr/>
        </p:nvSpPr>
        <p:spPr>
          <a:xfrm>
            <a:off x="304800" y="640080"/>
            <a:ext cx="4069080" cy="274638"/>
          </a:xfrm>
          <a:prstGeom prst="rect">
            <a:avLst/>
          </a:prstGeom>
          <a:solidFill>
            <a:srgbClr val="0E7C86"/>
          </a:solidFill>
          <a:ln w="0">
            <a:noFill/>
          </a:ln>
        </p:spPr>
        <p:txBody>
          <a:bodyPr wrap="square" lIns="91440" tIns="45720" rIns="91440" bIns="45720" rtlCol="0" anchor="ctr"/>
          <a:lstStyle/>
          <a:p>
            <a:pPr algn="ctr">
              <a:buNone/>
            </a:pPr>
            <a:r>
              <a:rPr lang="en-US" sz="1300" b="1" dirty="0">
                <a:solidFill>
                  <a:srgbClr val="FFFFFF"/>
                </a:solidFill>
              </a:rPr>
              <a:t>AUTOMATIONS IMPLEMENTED</a:t>
            </a:r>
          </a:p>
        </p:txBody>
      </p:sp>
      <p:sp>
        <p:nvSpPr>
          <p:cNvPr id="7" name="OutputHeader"/>
          <p:cNvSpPr/>
          <p:nvPr/>
        </p:nvSpPr>
        <p:spPr>
          <a:xfrm>
            <a:off x="4648200" y="640080"/>
            <a:ext cx="4191000" cy="274638"/>
          </a:xfrm>
          <a:prstGeom prst="rect">
            <a:avLst/>
          </a:prstGeom>
          <a:solidFill>
            <a:srgbClr val="1A5276"/>
          </a:solidFill>
          <a:ln w="0">
            <a:noFill/>
          </a:ln>
        </p:spPr>
        <p:txBody>
          <a:bodyPr wrap="square" lIns="91440" tIns="45720" rIns="91440" bIns="45720" rtlCol="0" anchor="ctr"/>
          <a:lstStyle/>
          <a:p>
            <a:pPr algn="ctr">
              <a:buNone/>
            </a:pPr>
            <a:r>
              <a:rPr lang="en-US" sz="1300" b="1" dirty="0">
                <a:solidFill>
                  <a:srgbClr val="FFFFFF"/>
                </a:solidFill>
              </a:rPr>
              <a:t>EVIDENCE: SAMPLE QUERY OUTPUTS</a:t>
            </a:r>
          </a:p>
        </p:txBody>
      </p:sp>
      <p:sp>
        <p:nvSpPr>
          <p:cNvPr id="10" name="CardProc"/>
          <p:cNvSpPr/>
          <p:nvPr/>
        </p:nvSpPr>
        <p:spPr>
          <a:xfrm>
            <a:off x="304800" y="941718"/>
            <a:ext cx="4069080" cy="86868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Stored Procedure: reorder_medicines()</a:t>
            </a:r>
          </a:p>
          <a:p>
            <a:pPr algn="l">
              <a:buNone/>
            </a:pPr>
            <a:r>
              <a:rPr lang="en-US" sz="900" b="0" dirty="0">
                <a:solidFill>
                  <a:srgbClr val="D5D8DC"/>
                </a:solidFill>
              </a:rPr>
              <a:t>Identifies medicines where Current_Stock &lt; Reorder_Level</a:t>
            </a:r>
          </a:p>
          <a:p>
            <a:pPr algn="l">
              <a:buNone/>
            </a:pPr>
            <a:r>
              <a:rPr lang="en-US" sz="900" b="0" dirty="0">
                <a:solidFill>
                  <a:srgbClr val="D5D8DC"/>
                </a:solidFill>
              </a:rPr>
              <a:t>Returns top 5 critical reorder candidates on demand</a:t>
            </a:r>
          </a:p>
          <a:p>
            <a:pPr algn="l">
              <a:buNone/>
            </a:pPr>
            <a:r>
              <a:rPr lang="en-US" sz="900" b="1" dirty="0">
                <a:solidFill>
                  <a:srgbClr val="82E0AA"/>
                </a:solidFill>
              </a:rPr>
              <a:t>Invoked via: CALL reorder_medicines();</a:t>
            </a:r>
          </a:p>
        </p:txBody>
      </p:sp>
      <p:sp>
        <p:nvSpPr>
          <p:cNvPr id="11" name="CardTrigger"/>
          <p:cNvSpPr/>
          <p:nvPr/>
        </p:nvSpPr>
        <p:spPr>
          <a:xfrm>
            <a:off x="304800" y="1856118"/>
            <a:ext cx="4069080" cy="86868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Trigger: low_stock_trigger (BEFORE UPDATE)</a:t>
            </a:r>
          </a:p>
          <a:p>
            <a:pPr algn="l">
              <a:buNone/>
            </a:pPr>
            <a:r>
              <a:rPr lang="en-US" sz="900" b="0" dirty="0">
                <a:solidFill>
                  <a:srgbClr val="D5D8DC"/>
                </a:solidFill>
              </a:rPr>
              <a:t>Fires automatically on every stock update event</a:t>
            </a:r>
          </a:p>
          <a:p>
            <a:pPr algn="l">
              <a:buNone/>
            </a:pPr>
            <a:r>
              <a:rPr lang="en-US" sz="900" b="0" dirty="0">
                <a:solidFill>
                  <a:srgbClr val="D5D8DC"/>
                </a:solidFill>
              </a:rPr>
              <a:t>Sets Stock_Status = Low Stock if stock falls below Min_Required</a:t>
            </a:r>
          </a:p>
          <a:p>
            <a:pPr algn="l">
              <a:buNone/>
            </a:pPr>
            <a:r>
              <a:rPr lang="en-US" sz="900" b="1" dirty="0">
                <a:solidFill>
                  <a:srgbClr val="F1948A"/>
                </a:solidFill>
              </a:rPr>
              <a:t>Real-time flag update — zero manual intervention</a:t>
            </a:r>
          </a:p>
        </p:txBody>
      </p:sp>
      <p:sp>
        <p:nvSpPr>
          <p:cNvPr id="12" name="CardEvent"/>
          <p:cNvSpPr/>
          <p:nvPr/>
        </p:nvSpPr>
        <p:spPr>
          <a:xfrm>
            <a:off x="304800" y="2770518"/>
            <a:ext cx="4069080" cy="86868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Event Scheduler: auto_low_stock_check</a:t>
            </a:r>
          </a:p>
          <a:p>
            <a:pPr algn="l">
              <a:buNone/>
            </a:pPr>
            <a:r>
              <a:rPr lang="en-US" sz="900" b="0" dirty="0">
                <a:solidFill>
                  <a:srgbClr val="D5D8DC"/>
                </a:solidFill>
              </a:rPr>
              <a:t>Scheduled MySQL event runs every 1 MINUTE automatically</a:t>
            </a:r>
          </a:p>
          <a:p>
            <a:pPr algn="l">
              <a:buNone/>
            </a:pPr>
            <a:r>
              <a:rPr lang="en-US" sz="900" b="0" dirty="0">
                <a:solidFill>
                  <a:srgbClr val="D5D8DC"/>
                </a:solidFill>
              </a:rPr>
              <a:t>Refreshes Stock_Status across all 841 medicines — no cron needed</a:t>
            </a:r>
          </a:p>
          <a:p>
            <a:pPr algn="l">
              <a:buNone/>
            </a:pPr>
            <a:r>
              <a:rPr lang="en-US" sz="900" b="1" dirty="0">
                <a:solidFill>
                  <a:srgbClr val="A8D8EA"/>
                </a:solidFill>
              </a:rPr>
              <a:t>Enabled via: SET GLOBAL event_scheduler = ON</a:t>
            </a:r>
          </a:p>
        </p:txBody>
      </p:sp>
      <p:sp>
        <p:nvSpPr>
          <p:cNvPr id="13" name="CardJoins"/>
          <p:cNvSpPr/>
          <p:nvPr/>
        </p:nvSpPr>
        <p:spPr>
          <a:xfrm>
            <a:off x="304800" y="3684918"/>
            <a:ext cx="4069080" cy="86868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Cross-Table JOIN Queries (5 Analyses)</a:t>
            </a:r>
          </a:p>
          <a:p>
            <a:pPr algn="l">
              <a:buNone/>
            </a:pPr>
            <a:r>
              <a:rPr lang="en-US" sz="900" b="0" dirty="0">
                <a:solidFill>
                  <a:srgbClr val="D5D8DC"/>
                </a:solidFill>
              </a:rPr>
              <a:t>Demand + Consumption (Patient_ID) — order-to-usage tracing</a:t>
            </a:r>
          </a:p>
          <a:p>
            <a:pPr algn="l">
              <a:buNone/>
            </a:pPr>
            <a:r>
              <a:rPr lang="en-US" sz="900" b="0" dirty="0">
                <a:solidFill>
                  <a:srgbClr val="D5D8DC"/>
                </a:solidFill>
              </a:rPr>
              <a:t>Demand + Inventory (DrugName) — stock vs demand gap check</a:t>
            </a:r>
          </a:p>
          <a:p>
            <a:pPr algn="l">
              <a:buNone/>
            </a:pPr>
            <a:r>
              <a:rPr lang="en-US" sz="900" b="0" dirty="0">
                <a:solidFill>
                  <a:srgbClr val="D5D8DC"/>
                </a:solidFill>
              </a:rPr>
              <a:t>Supplier + Inventory (Vendor_ID) — KPI vs shortage link</a:t>
            </a:r>
          </a:p>
        </p:txBody>
      </p:sp>
      <p:sp>
        <p:nvSpPr>
          <p:cNvPr id="20" name="Out1"/>
          <p:cNvSpPr/>
          <p:nvPr/>
        </p:nvSpPr>
        <p:spPr>
          <a:xfrm>
            <a:off x="4648200" y="941718"/>
            <a:ext cx="4191000" cy="86868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00" b="1" dirty="0">
                <a:solidFill>
                  <a:srgbClr val="A8D8EA"/>
                </a:solidFill>
              </a:rPr>
              <a:t>CALL reorder_medicines() — Top Results</a:t>
            </a:r>
          </a:p>
          <a:p>
            <a:pPr algn="l">
              <a:buNone/>
            </a:pPr>
            <a:r>
              <a:rPr lang="en-US" sz="820" b="0" dirty="0">
                <a:solidFill>
                  <a:srgbClr val="E8A838"/>
                </a:solidFill>
              </a:rPr>
              <a:t>Medicine_ID    |  DrugName         | Stock | Reorder</a:t>
            </a:r>
          </a:p>
          <a:p>
            <a:pPr algn="l">
              <a:buNone/>
            </a:pPr>
            <a:r>
              <a:rPr lang="en-US" sz="820" b="0" dirty="0">
                <a:solidFill>
                  <a:srgbClr val="D5D8DC"/>
                </a:solidFill>
              </a:rPr>
              <a:t>M07208F17   |  LIGNOCAINE HYDROCHLORIDE 2% INJ |    2   |   35</a:t>
            </a:r>
          </a:p>
          <a:p>
            <a:pPr algn="l">
              <a:buNone/>
            </a:pPr>
            <a:r>
              <a:rPr lang="en-US" sz="820" b="0" dirty="0">
                <a:solidFill>
                  <a:srgbClr val="D5D8DC"/>
                </a:solidFill>
              </a:rPr>
              <a:t>M09598F70   |  ADRENALINE INJ 1ML |  78  |  87</a:t>
            </a:r>
          </a:p>
          <a:p>
            <a:pPr algn="l">
              <a:buNone/>
            </a:pPr>
            <a:r>
              <a:rPr lang="en-US" sz="820" b="1" dirty="0">
                <a:solidFill>
                  <a:srgbClr val="F1948A"/>
                </a:solidFill>
              </a:rPr>
              <a:t>27 of 841 medicines flagged for urgent reorder</a:t>
            </a:r>
          </a:p>
        </p:txBody>
      </p:sp>
      <p:sp>
        <p:nvSpPr>
          <p:cNvPr id="21" name="Out2"/>
          <p:cNvSpPr/>
          <p:nvPr/>
        </p:nvSpPr>
        <p:spPr>
          <a:xfrm>
            <a:off x="4648200" y="1856118"/>
            <a:ext cx="4191000" cy="86868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00" b="1" dirty="0">
                <a:solidFill>
                  <a:srgbClr val="A8D8EA"/>
                </a:solidFill>
              </a:rPr>
              <a:t>Trigger Verification — M07208F17</a:t>
            </a:r>
          </a:p>
          <a:p>
            <a:pPr algn="l">
              <a:buNone/>
            </a:pPr>
            <a:r>
              <a:rPr lang="en-US" sz="820" b="0" dirty="0">
                <a:solidFill>
                  <a:srgbClr val="D5D8DC"/>
                </a:solidFill>
              </a:rPr>
              <a:t>After UPDATE Current_Stock = 5 (Min_Required = 30):</a:t>
            </a:r>
          </a:p>
          <a:p>
            <a:r>
              <a:rPr lang="en-US" sz="820" b="0" dirty="0" err="1">
                <a:solidFill>
                  <a:srgbClr val="E8A838"/>
                </a:solidFill>
              </a:rPr>
              <a:t>Medicine_ID</a:t>
            </a:r>
            <a:r>
              <a:rPr lang="en-US" sz="820" b="0" dirty="0">
                <a:solidFill>
                  <a:srgbClr val="E8A838"/>
                </a:solidFill>
              </a:rPr>
              <a:t>   |</a:t>
            </a:r>
            <a:r>
              <a:rPr lang="en-US" sz="820" dirty="0">
                <a:solidFill>
                  <a:srgbClr val="E8A838"/>
                </a:solidFill>
              </a:rPr>
              <a:t> </a:t>
            </a:r>
            <a:r>
              <a:rPr lang="en-US" sz="820" dirty="0" err="1">
                <a:solidFill>
                  <a:srgbClr val="E8A838"/>
                </a:solidFill>
              </a:rPr>
              <a:t>DrugName</a:t>
            </a:r>
            <a:r>
              <a:rPr lang="en-US" sz="820" dirty="0">
                <a:solidFill>
                  <a:srgbClr val="E8A838"/>
                </a:solidFill>
              </a:rPr>
              <a:t>       |</a:t>
            </a:r>
            <a:r>
              <a:rPr lang="en-US" sz="820" b="0" dirty="0">
                <a:solidFill>
                  <a:srgbClr val="E8A838"/>
                </a:solidFill>
              </a:rPr>
              <a:t>  Current_Stock  |  Stock_Status</a:t>
            </a:r>
          </a:p>
          <a:p>
            <a:r>
              <a:rPr lang="en-US" sz="820" b="0" dirty="0">
                <a:solidFill>
                  <a:srgbClr val="D5D8DC"/>
                </a:solidFill>
              </a:rPr>
              <a:t>M07208F17    | </a:t>
            </a:r>
            <a:r>
              <a:rPr lang="en-US" sz="820" dirty="0">
                <a:solidFill>
                  <a:srgbClr val="D5D8DC"/>
                </a:solidFill>
              </a:rPr>
              <a:t>|  LIGNOCAINE HYDROCHLORIDE 2% INJ |</a:t>
            </a:r>
            <a:r>
              <a:rPr lang="en-US" sz="820" b="0" dirty="0">
                <a:solidFill>
                  <a:srgbClr val="D5D8DC"/>
                </a:solidFill>
              </a:rPr>
              <a:t>     5     |   Low Stock</a:t>
            </a:r>
          </a:p>
          <a:p>
            <a:pPr algn="l">
              <a:buNone/>
            </a:pPr>
            <a:r>
              <a:rPr lang="en-US" sz="820" b="1" dirty="0">
                <a:solidFill>
                  <a:srgbClr val="82E0AA"/>
                </a:solidFill>
              </a:rPr>
              <a:t>Status auto-set instantly on stock write</a:t>
            </a:r>
          </a:p>
        </p:txBody>
      </p:sp>
      <p:sp>
        <p:nvSpPr>
          <p:cNvPr id="22" name="Out3"/>
          <p:cNvSpPr/>
          <p:nvPr/>
        </p:nvSpPr>
        <p:spPr>
          <a:xfrm>
            <a:off x="4648200" y="2770518"/>
            <a:ext cx="4191000" cy="86868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00" b="1" dirty="0">
                <a:solidFill>
                  <a:srgbClr val="A8D8EA"/>
                </a:solidFill>
              </a:rPr>
              <a:t>SHOW EVENTS — Scheduler Confirmation</a:t>
            </a:r>
          </a:p>
          <a:p>
            <a:pPr algn="l">
              <a:buNone/>
            </a:pPr>
            <a:r>
              <a:rPr lang="en-US" sz="820" b="0" dirty="0">
                <a:solidFill>
                  <a:srgbClr val="E8A838"/>
                </a:solidFill>
              </a:rPr>
              <a:t>Event Name      |  Status   |  Interval</a:t>
            </a:r>
          </a:p>
          <a:p>
            <a:pPr algn="l">
              <a:buNone/>
            </a:pPr>
            <a:r>
              <a:rPr lang="en-US" sz="820" b="0" dirty="0">
                <a:solidFill>
                  <a:srgbClr val="D5D8DC"/>
                </a:solidFill>
              </a:rPr>
              <a:t>auto_low_stock_check  |  ENABLED  |  1 MINUTE</a:t>
            </a:r>
          </a:p>
          <a:p>
            <a:pPr algn="l">
              <a:buNone/>
            </a:pPr>
            <a:r>
              <a:rPr lang="en-US" sz="820" b="0" dirty="0">
                <a:solidFill>
                  <a:srgbClr val="D5D8DC"/>
                </a:solidFill>
              </a:rPr>
              <a:t>Post 1-min: all Stock_Status rows auto-refreshed</a:t>
            </a:r>
          </a:p>
          <a:p>
            <a:pPr algn="l">
              <a:buNone/>
            </a:pPr>
            <a:r>
              <a:rPr lang="en-US" sz="820" b="1" dirty="0">
                <a:solidFill>
                  <a:srgbClr val="82E0AA"/>
                </a:solidFill>
              </a:rPr>
              <a:t>Zero-downtime continuous monitoring confirmed</a:t>
            </a:r>
          </a:p>
        </p:txBody>
      </p:sp>
      <p:sp>
        <p:nvSpPr>
          <p:cNvPr id="23" name="Out4"/>
          <p:cNvSpPr/>
          <p:nvPr/>
        </p:nvSpPr>
        <p:spPr>
          <a:xfrm>
            <a:off x="4648200" y="3684918"/>
            <a:ext cx="4191000" cy="86868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00" b="1" dirty="0">
                <a:solidFill>
                  <a:srgbClr val="A8D8EA"/>
                </a:solidFill>
              </a:rPr>
              <a:t>Supplier KPI vs Shortage — JOIN Output</a:t>
            </a:r>
          </a:p>
          <a:p>
            <a:pPr algn="l">
              <a:buNone/>
            </a:pPr>
            <a:r>
              <a:rPr lang="en-US" sz="820" b="0" dirty="0">
                <a:solidFill>
                  <a:srgbClr val="E8A838"/>
                </a:solidFill>
              </a:rPr>
              <a:t>Supplier       | Reliability | On-Time% | Shortages</a:t>
            </a:r>
          </a:p>
          <a:p>
            <a:pPr algn="l">
              <a:buNone/>
            </a:pPr>
            <a:r>
              <a:rPr lang="en-US" sz="820" b="0" dirty="0">
                <a:solidFill>
                  <a:srgbClr val="D5D8DC"/>
                </a:solidFill>
              </a:rPr>
              <a:t>Supplier_</a:t>
            </a:r>
            <a:r>
              <a:rPr lang="en-US" sz="820" dirty="0">
                <a:solidFill>
                  <a:srgbClr val="D5D8DC"/>
                </a:solidFill>
              </a:rPr>
              <a:t>219</a:t>
            </a:r>
            <a:r>
              <a:rPr lang="en-US" sz="820" b="0" dirty="0">
                <a:solidFill>
                  <a:srgbClr val="D5D8DC"/>
                </a:solidFill>
              </a:rPr>
              <a:t>  |     </a:t>
            </a:r>
            <a:r>
              <a:rPr lang="en-US" sz="820" dirty="0">
                <a:solidFill>
                  <a:srgbClr val="D5D8DC"/>
                </a:solidFill>
              </a:rPr>
              <a:t>4.6</a:t>
            </a:r>
            <a:r>
              <a:rPr lang="en-US" sz="820" b="0" dirty="0">
                <a:solidFill>
                  <a:srgbClr val="D5D8DC"/>
                </a:solidFill>
              </a:rPr>
              <a:t>      |    91%     |    2</a:t>
            </a:r>
          </a:p>
          <a:p>
            <a:pPr algn="l">
              <a:buNone/>
            </a:pPr>
            <a:r>
              <a:rPr lang="en-US" sz="820" b="0" dirty="0">
                <a:solidFill>
                  <a:srgbClr val="D5D8DC"/>
                </a:solidFill>
              </a:rPr>
              <a:t>Supplier_</a:t>
            </a:r>
            <a:r>
              <a:rPr lang="en-US" sz="820" dirty="0">
                <a:solidFill>
                  <a:srgbClr val="D5D8DC"/>
                </a:solidFill>
              </a:rPr>
              <a:t>1</a:t>
            </a:r>
            <a:r>
              <a:rPr lang="en-US" sz="820" b="0" dirty="0">
                <a:solidFill>
                  <a:srgbClr val="D5D8DC"/>
                </a:solidFill>
              </a:rPr>
              <a:t>  |     </a:t>
            </a:r>
            <a:r>
              <a:rPr lang="en-US" sz="820" dirty="0">
                <a:solidFill>
                  <a:srgbClr val="D5D8DC"/>
                </a:solidFill>
              </a:rPr>
              <a:t>4.2</a:t>
            </a:r>
            <a:r>
              <a:rPr lang="en-US" sz="820" b="0" dirty="0">
                <a:solidFill>
                  <a:srgbClr val="D5D8DC"/>
                </a:solidFill>
              </a:rPr>
              <a:t>       |    </a:t>
            </a:r>
            <a:r>
              <a:rPr lang="en-US" sz="820" dirty="0">
                <a:solidFill>
                  <a:srgbClr val="D5D8DC"/>
                </a:solidFill>
              </a:rPr>
              <a:t>75</a:t>
            </a:r>
            <a:r>
              <a:rPr lang="en-US" sz="820" b="0" dirty="0">
                <a:solidFill>
                  <a:srgbClr val="D5D8DC"/>
                </a:solidFill>
              </a:rPr>
              <a:t>%     |    </a:t>
            </a:r>
            <a:r>
              <a:rPr lang="en-US" sz="820" dirty="0">
                <a:solidFill>
                  <a:srgbClr val="D5D8DC"/>
                </a:solidFill>
              </a:rPr>
              <a:t>1</a:t>
            </a:r>
            <a:endParaRPr lang="en-US" sz="820" b="0" dirty="0">
              <a:solidFill>
                <a:srgbClr val="D5D8DC"/>
              </a:solidFill>
            </a:endParaRPr>
          </a:p>
          <a:p>
            <a:pPr algn="l">
              <a:buNone/>
            </a:pPr>
            <a:r>
              <a:rPr lang="en-US" sz="820" b="1" dirty="0">
                <a:solidFill>
                  <a:srgbClr val="F1948A"/>
                </a:solidFill>
              </a:rPr>
              <a:t>Low reliability directly linked to higher shortage count</a:t>
            </a:r>
          </a:p>
        </p:txBody>
      </p:sp>
      <p:sp>
        <p:nvSpPr>
          <p:cNvPr id="30" name="BottomBar"/>
          <p:cNvSpPr/>
          <p:nvPr/>
        </p:nvSpPr>
        <p:spPr>
          <a:xfrm>
            <a:off x="304800" y="4981320"/>
            <a:ext cx="8534400" cy="45720"/>
          </a:xfrm>
          <a:prstGeom prst="rect">
            <a:avLst/>
          </a:prstGeom>
          <a:solidFill>
            <a:srgbClr val="E8A838"/>
          </a:solidFill>
          <a:ln w="0">
            <a:no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0D2B5C"/>
        </a:solidFill>
        <a:effectLst/>
      </p:bgPr>
    </p:bg>
    <p:spTree>
      <p:nvGrpSpPr>
        <p:cNvPr id="1" name=""/>
        <p:cNvGrpSpPr/>
        <p:nvPr/>
      </p:nvGrpSpPr>
      <p:grpSpPr>
        <a:xfrm>
          <a:off x="0" y="0"/>
          <a:ext cx="0" cy="0"/>
          <a:chOff x="0" y="0"/>
          <a:chExt cx="0" cy="0"/>
        </a:xfrm>
      </p:grpSpPr>
      <p:sp>
        <p:nvSpPr>
          <p:cNvPr id="2" name="LeftBar"/>
          <p:cNvSpPr/>
          <p:nvPr/>
        </p:nvSpPr>
        <p:spPr>
          <a:xfrm>
            <a:off x="0" y="0"/>
            <a:ext cx="228600" cy="5143500"/>
          </a:xfrm>
          <a:prstGeom prst="rect">
            <a:avLst/>
          </a:prstGeom>
          <a:solidFill>
            <a:srgbClr val="0E7C86"/>
          </a:solidFill>
          <a:ln w="0">
            <a:noFill/>
          </a:ln>
        </p:spPr>
        <p:txBody>
          <a:bodyPr/>
          <a:lstStyle/>
          <a:p>
            <a:endParaRPr lang="en-US"/>
          </a:p>
        </p:txBody>
      </p:sp>
      <p:sp>
        <p:nvSpPr>
          <p:cNvPr id="3" name="Title"/>
          <p:cNvSpPr/>
          <p:nvPr/>
        </p:nvSpPr>
        <p:spPr>
          <a:xfrm>
            <a:off x="304800" y="91440"/>
            <a:ext cx="8534400" cy="480060"/>
          </a:xfrm>
          <a:prstGeom prst="rect">
            <a:avLst/>
          </a:prstGeom>
          <a:noFill/>
          <a:ln>
            <a:noFill/>
          </a:ln>
        </p:spPr>
        <p:txBody>
          <a:bodyPr wrap="square" lIns="91440" tIns="45720" rIns="91440" bIns="45720" rtlCol="0" anchor="ctr"/>
          <a:lstStyle/>
          <a:p>
            <a:pPr algn="l">
              <a:buNone/>
            </a:pPr>
            <a:r>
              <a:rPr lang="en-US" sz="2000" b="1" dirty="0">
                <a:solidFill>
                  <a:srgbClr val="E8A838"/>
                </a:solidFill>
              </a:rPr>
              <a:t>Statistical Summary</a:t>
            </a:r>
            <a:endParaRPr lang="en-US" sz="2000" b="0" dirty="0">
              <a:solidFill>
                <a:srgbClr val="FFFFFF"/>
              </a:solidFill>
            </a:endParaRPr>
          </a:p>
        </p:txBody>
      </p:sp>
      <p:sp>
        <p:nvSpPr>
          <p:cNvPr id="4" name="DividerLine"/>
          <p:cNvSpPr/>
          <p:nvPr/>
        </p:nvSpPr>
        <p:spPr>
          <a:xfrm>
            <a:off x="304800" y="594360"/>
            <a:ext cx="8534400" cy="22860"/>
          </a:xfrm>
          <a:prstGeom prst="rect">
            <a:avLst/>
          </a:prstGeom>
          <a:solidFill>
            <a:srgbClr val="E8A838"/>
          </a:solidFill>
          <a:ln w="0">
            <a:noFill/>
          </a:ln>
        </p:spPr>
        <p:txBody>
          <a:bodyPr/>
          <a:lstStyle/>
          <a:p>
            <a:endParaRPr lang="en-US"/>
          </a:p>
        </p:txBody>
      </p:sp>
      <p:sp>
        <p:nvSpPr>
          <p:cNvPr id="5" name="HypHeader"/>
          <p:cNvSpPr/>
          <p:nvPr/>
        </p:nvSpPr>
        <p:spPr>
          <a:xfrm>
            <a:off x="304800" y="640080"/>
            <a:ext cx="4069080" cy="274638"/>
          </a:xfrm>
          <a:prstGeom prst="rect">
            <a:avLst/>
          </a:prstGeom>
          <a:solidFill>
            <a:srgbClr val="0E7C86"/>
          </a:solidFill>
          <a:ln w="0">
            <a:noFill/>
          </a:ln>
        </p:spPr>
        <p:txBody>
          <a:bodyPr wrap="square" lIns="91440" tIns="45720" rIns="91440" bIns="45720" rtlCol="0" anchor="ctr"/>
          <a:lstStyle/>
          <a:p>
            <a:pPr algn="ctr">
              <a:buNone/>
            </a:pPr>
            <a:r>
              <a:rPr lang="en-US" sz="1300" b="1" dirty="0">
                <a:solidFill>
                  <a:srgbClr val="FFFFFF"/>
                </a:solidFill>
              </a:rPr>
              <a:t>HYPOTHESIS TESTS</a:t>
            </a:r>
          </a:p>
        </p:txBody>
      </p:sp>
      <p:sp>
        <p:nvSpPr>
          <p:cNvPr id="6" name="ProbHeader"/>
          <p:cNvSpPr/>
          <p:nvPr/>
        </p:nvSpPr>
        <p:spPr>
          <a:xfrm>
            <a:off x="4648200" y="640080"/>
            <a:ext cx="4191000" cy="274638"/>
          </a:xfrm>
          <a:prstGeom prst="rect">
            <a:avLst/>
          </a:prstGeom>
          <a:solidFill>
            <a:srgbClr val="1A5276"/>
          </a:solidFill>
          <a:ln w="0">
            <a:noFill/>
          </a:ln>
        </p:spPr>
        <p:txBody>
          <a:bodyPr wrap="square" lIns="91440" tIns="45720" rIns="91440" bIns="45720" rtlCol="0" anchor="ctr"/>
          <a:lstStyle/>
          <a:p>
            <a:pPr algn="ctr">
              <a:buNone/>
            </a:pPr>
            <a:r>
              <a:rPr lang="en-US" sz="1300" b="1" dirty="0">
                <a:solidFill>
                  <a:srgbClr val="FFFFFF"/>
                </a:solidFill>
              </a:rPr>
              <a:t>PROBABILITY FINDINGS</a:t>
            </a:r>
          </a:p>
        </p:txBody>
      </p:sp>
      <p:sp>
        <p:nvSpPr>
          <p:cNvPr id="10" name="H1Card"/>
          <p:cNvSpPr/>
          <p:nvPr/>
        </p:nvSpPr>
        <p:spPr>
          <a:xfrm>
            <a:off x="304800" y="941718"/>
            <a:ext cx="4069080" cy="77616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Test 1: Region vs Stockout Flag</a:t>
            </a:r>
          </a:p>
          <a:p>
            <a:pPr algn="l">
              <a:buNone/>
            </a:pPr>
            <a:r>
              <a:rPr lang="en-US" sz="950" b="0" dirty="0">
                <a:solidFill>
                  <a:srgbClr val="A8D8EA"/>
                </a:solidFill>
              </a:rPr>
              <a:t>Chi² = 20.11  |  p = 0.3265  |  DOF = 18</a:t>
            </a:r>
          </a:p>
          <a:p>
            <a:pPr algn="l">
              <a:buNone/>
            </a:pPr>
            <a:r>
              <a:rPr lang="en-US" sz="950" b="1" dirty="0">
                <a:solidFill>
                  <a:srgbClr val="F1948A"/>
                </a:solidFill>
              </a:rPr>
              <a:t>FAIL TO REJECT H0</a:t>
            </a:r>
          </a:p>
          <a:p>
            <a:pPr algn="l">
              <a:buNone/>
            </a:pPr>
            <a:r>
              <a:rPr lang="en-US" sz="950" b="0" dirty="0">
                <a:solidFill>
                  <a:srgbClr val="D5D8DC"/>
                </a:solidFill>
              </a:rPr>
              <a:t>Stockout is independent of region</a:t>
            </a:r>
          </a:p>
        </p:txBody>
      </p:sp>
      <p:sp>
        <p:nvSpPr>
          <p:cNvPr id="11" name="H2Card"/>
          <p:cNvSpPr/>
          <p:nvPr/>
        </p:nvSpPr>
        <p:spPr>
          <a:xfrm>
            <a:off x="304800" y="1763238"/>
            <a:ext cx="4069080" cy="77616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Test 2: Wastage Flag vs Stockout Flag</a:t>
            </a:r>
          </a:p>
          <a:p>
            <a:pPr algn="l">
              <a:buNone/>
            </a:pPr>
            <a:r>
              <a:rPr lang="en-US" sz="950" b="0" dirty="0">
                <a:solidFill>
                  <a:srgbClr val="A8D8EA"/>
                </a:solidFill>
              </a:rPr>
              <a:t>Chi² = 1941.85  |  p ≈ 0.0000  |  DOF = 1</a:t>
            </a:r>
          </a:p>
          <a:p>
            <a:pPr algn="l">
              <a:buNone/>
            </a:pPr>
            <a:r>
              <a:rPr lang="en-US" sz="950" b="1" dirty="0">
                <a:solidFill>
                  <a:srgbClr val="82E0AA"/>
                </a:solidFill>
              </a:rPr>
              <a:t>REJECT H0</a:t>
            </a:r>
          </a:p>
          <a:p>
            <a:pPr algn="l">
              <a:buNone/>
            </a:pPr>
            <a:r>
              <a:rPr lang="en-US" sz="950" b="0" dirty="0">
                <a:solidFill>
                  <a:srgbClr val="D5D8DC"/>
                </a:solidFill>
              </a:rPr>
              <a:t>Wastage and stockout are strongly related</a:t>
            </a:r>
          </a:p>
        </p:txBody>
      </p:sp>
      <p:sp>
        <p:nvSpPr>
          <p:cNvPr id="12" name="H3Card"/>
          <p:cNvSpPr/>
          <p:nvPr/>
        </p:nvSpPr>
        <p:spPr>
          <a:xfrm>
            <a:off x="304800" y="2584758"/>
            <a:ext cx="4069080" cy="77616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Test 3: Daily Consumption vs Stockout </a:t>
            </a:r>
          </a:p>
          <a:p>
            <a:pPr algn="l">
              <a:buNone/>
            </a:pPr>
            <a:r>
              <a:rPr lang="en-US" sz="950" b="0" dirty="0">
                <a:solidFill>
                  <a:srgbClr val="A8D8EA"/>
                </a:solidFill>
              </a:rPr>
              <a:t>T = 1.0816  |  p = 0.2795  |  α = 0.05</a:t>
            </a:r>
          </a:p>
          <a:p>
            <a:pPr algn="l">
              <a:buNone/>
            </a:pPr>
            <a:r>
              <a:rPr lang="en-US" sz="950" b="1" dirty="0">
                <a:solidFill>
                  <a:srgbClr val="F1948A"/>
                </a:solidFill>
              </a:rPr>
              <a:t>FAIL TO REJECT H0</a:t>
            </a:r>
          </a:p>
          <a:p>
            <a:pPr algn="l">
              <a:buNone/>
            </a:pPr>
            <a:r>
              <a:rPr lang="en-US" sz="950" b="0" dirty="0">
                <a:solidFill>
                  <a:srgbClr val="D5D8DC"/>
                </a:solidFill>
              </a:rPr>
              <a:t>Consumption not significantly different by stockout status</a:t>
            </a:r>
          </a:p>
        </p:txBody>
      </p:sp>
      <p:sp>
        <p:nvSpPr>
          <p:cNvPr id="13" name="H4Card"/>
          <p:cNvSpPr/>
          <p:nvPr/>
        </p:nvSpPr>
        <p:spPr>
          <a:xfrm>
            <a:off x="304800" y="3406278"/>
            <a:ext cx="4069080" cy="77616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Test 4: Returned Orders vs Profit </a:t>
            </a:r>
          </a:p>
          <a:p>
            <a:pPr algn="l">
              <a:buNone/>
            </a:pPr>
            <a:r>
              <a:rPr lang="en-US" sz="950" b="0" dirty="0">
                <a:solidFill>
                  <a:srgbClr val="A8D8EA"/>
                </a:solidFill>
              </a:rPr>
              <a:t>T = -27.7046  |  p = 0.0000  |  α = 0.05</a:t>
            </a:r>
          </a:p>
          <a:p>
            <a:pPr algn="l">
              <a:buNone/>
            </a:pPr>
            <a:r>
              <a:rPr lang="en-US" sz="950" b="1" dirty="0">
                <a:solidFill>
                  <a:srgbClr val="82E0AA"/>
                </a:solidFill>
              </a:rPr>
              <a:t>REJECT H0</a:t>
            </a:r>
          </a:p>
          <a:p>
            <a:pPr algn="l">
              <a:buNone/>
            </a:pPr>
            <a:r>
              <a:rPr lang="en-US" sz="950" b="0" dirty="0">
                <a:solidFill>
                  <a:srgbClr val="D5D8DC"/>
                </a:solidFill>
              </a:rPr>
              <a:t>Returned orders have significantly lower profit</a:t>
            </a:r>
          </a:p>
        </p:txBody>
      </p:sp>
      <p:sp>
        <p:nvSpPr>
          <p:cNvPr id="14" name="H5Card"/>
          <p:cNvSpPr/>
          <p:nvPr/>
        </p:nvSpPr>
        <p:spPr>
          <a:xfrm>
            <a:off x="304800" y="4227798"/>
            <a:ext cx="4069080" cy="685800"/>
          </a:xfrm>
          <a:prstGeom prst="rect">
            <a:avLst/>
          </a:prstGeom>
          <a:solidFill>
            <a:srgbClr val="122A4D"/>
          </a:solidFill>
          <a:ln w="19050">
            <a:solidFill>
              <a:srgbClr val="0E7C86"/>
            </a:solidFill>
          </a:ln>
        </p:spPr>
        <p:txBody>
          <a:bodyPr wrap="square" lIns="91440" tIns="91440" rIns="91440" bIns="91440" rtlCol="0" anchor="t"/>
          <a:lstStyle/>
          <a:p>
            <a:pPr algn="l">
              <a:buNone/>
            </a:pPr>
            <a:r>
              <a:rPr lang="en-US" sz="1050" b="1" dirty="0">
                <a:solidFill>
                  <a:srgbClr val="E8A838"/>
                </a:solidFill>
              </a:rPr>
              <a:t>Test 5: Category vs Below Reorder Level</a:t>
            </a:r>
          </a:p>
          <a:p>
            <a:pPr algn="l">
              <a:buNone/>
            </a:pPr>
            <a:r>
              <a:rPr lang="en-US" sz="950" b="0" dirty="0">
                <a:solidFill>
                  <a:srgbClr val="A8D8EA"/>
                </a:solidFill>
              </a:rPr>
              <a:t>Chi² = 1.6637  |  p = 0.7973  |  DOF = 4</a:t>
            </a:r>
          </a:p>
          <a:p>
            <a:pPr algn="l">
              <a:buNone/>
            </a:pPr>
            <a:r>
              <a:rPr lang="en-US" sz="950" b="1" dirty="0">
                <a:solidFill>
                  <a:srgbClr val="F1948A"/>
                </a:solidFill>
              </a:rPr>
              <a:t>FAIL TO REJECT H0 — Reorder level independent of category</a:t>
            </a:r>
          </a:p>
        </p:txBody>
      </p:sp>
      <p:sp>
        <p:nvSpPr>
          <p:cNvPr id="20" name="Prob1"/>
          <p:cNvSpPr/>
          <p:nvPr/>
        </p:nvSpPr>
        <p:spPr>
          <a:xfrm>
            <a:off x="4648200" y="1666551"/>
            <a:ext cx="4191000" cy="68580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50" b="1" dirty="0">
                <a:solidFill>
                  <a:srgbClr val="A8D8EA"/>
                </a:solidFill>
              </a:rPr>
              <a:t>Stockout &amp; Wastage Probability</a:t>
            </a:r>
          </a:p>
          <a:p>
            <a:pPr algn="l">
              <a:buNone/>
            </a:pPr>
            <a:r>
              <a:rPr lang="en-US" sz="950" b="0" dirty="0">
                <a:solidFill>
                  <a:srgbClr val="D5D8DC"/>
                </a:solidFill>
              </a:rPr>
              <a:t>Avg P(Stockout) = 0.028 — 3% of all medicine records</a:t>
            </a:r>
          </a:p>
          <a:p>
            <a:pPr algn="l">
              <a:buNone/>
            </a:pPr>
            <a:r>
              <a:rPr lang="en-US" sz="950" b="0" dirty="0">
                <a:solidFill>
                  <a:srgbClr val="D5D8DC"/>
                </a:solidFill>
              </a:rPr>
              <a:t>Avg P(Wastage) = 0.144 — 5x higher than stockout</a:t>
            </a:r>
          </a:p>
          <a:p>
            <a:pPr algn="l">
              <a:buNone/>
            </a:pPr>
            <a:r>
              <a:rPr lang="en-US" sz="950" b="1" dirty="0">
                <a:solidFill>
                  <a:srgbClr val="F1948A"/>
                </a:solidFill>
              </a:rPr>
              <a:t>P(Stockout | Wastage=1) = 0.935</a:t>
            </a:r>
          </a:p>
        </p:txBody>
      </p:sp>
      <p:sp>
        <p:nvSpPr>
          <p:cNvPr id="21" name="Prob2"/>
          <p:cNvSpPr/>
          <p:nvPr/>
        </p:nvSpPr>
        <p:spPr>
          <a:xfrm>
            <a:off x="4648200" y="954908"/>
            <a:ext cx="4191000" cy="68580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50" b="1" dirty="0">
                <a:solidFill>
                  <a:srgbClr val="A8D8EA"/>
                </a:solidFill>
              </a:rPr>
              <a:t>Regional Stockout Probability</a:t>
            </a:r>
          </a:p>
          <a:p>
            <a:pPr algn="l">
              <a:buNone/>
            </a:pPr>
            <a:r>
              <a:rPr lang="en-US" sz="950" b="0" dirty="0">
                <a:solidFill>
                  <a:srgbClr val="D5D8DC"/>
                </a:solidFill>
              </a:rPr>
              <a:t>Highest: Coimbatore (0.043) — Lowest: Surat (0.011)</a:t>
            </a:r>
          </a:p>
          <a:p>
            <a:pPr algn="l">
              <a:buNone/>
            </a:pPr>
            <a:r>
              <a:rPr lang="en-US" sz="950" b="0" dirty="0">
                <a:solidFill>
                  <a:srgbClr val="D5D8DC"/>
                </a:solidFill>
              </a:rPr>
              <a:t>Worst Wastage: Kanpur (0.174)</a:t>
            </a:r>
          </a:p>
          <a:p>
            <a:pPr algn="l">
              <a:buNone/>
            </a:pPr>
            <a:r>
              <a:rPr lang="en-US" sz="950" b="1" dirty="0">
                <a:solidFill>
                  <a:srgbClr val="F1948A"/>
                </a:solidFill>
              </a:rPr>
              <a:t>Parenteral: Stockout Risk=0.039, Expiry Risk=0.923</a:t>
            </a:r>
          </a:p>
        </p:txBody>
      </p:sp>
      <p:sp>
        <p:nvSpPr>
          <p:cNvPr id="22" name="Prob3"/>
          <p:cNvSpPr/>
          <p:nvPr/>
        </p:nvSpPr>
        <p:spPr>
          <a:xfrm>
            <a:off x="4648200" y="2404038"/>
            <a:ext cx="4191000" cy="86868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50" b="1" dirty="0">
                <a:solidFill>
                  <a:srgbClr val="A8D8EA"/>
                </a:solidFill>
              </a:rPr>
              <a:t>P(Below Reorder Level) by Category</a:t>
            </a:r>
          </a:p>
          <a:p>
            <a:pPr algn="l">
              <a:buNone/>
            </a:pPr>
            <a:r>
              <a:rPr lang="en-US" sz="950" b="0" dirty="0">
                <a:solidFill>
                  <a:srgbClr val="D5D8DC"/>
                </a:solidFill>
              </a:rPr>
              <a:t>Avg P(Below Reorder) = 0.032 — 3.2% of 841 medicines</a:t>
            </a:r>
          </a:p>
          <a:p>
            <a:pPr algn="l">
              <a:buNone/>
            </a:pPr>
            <a:r>
              <a:rPr lang="en-US" sz="950" b="1" dirty="0">
                <a:solidFill>
                  <a:srgbClr val="F1948A"/>
                </a:solidFill>
              </a:rPr>
              <a:t>Parenteral (0.044) — highest, direct ICU risk</a:t>
            </a:r>
          </a:p>
          <a:p>
            <a:pPr algn="l">
              <a:buNone/>
            </a:pPr>
            <a:r>
              <a:rPr lang="en-US" sz="950" b="0" dirty="0">
                <a:solidFill>
                  <a:srgbClr val="D5D8DC"/>
                </a:solidFill>
              </a:rPr>
              <a:t>Bulk/Raw (0.038)  |  Other (0.031)  |  Oral (0.022)</a:t>
            </a:r>
          </a:p>
          <a:p>
            <a:pPr algn="l">
              <a:buNone/>
            </a:pPr>
            <a:r>
              <a:rPr lang="en-US" sz="950" b="0" dirty="0">
                <a:solidFill>
                  <a:srgbClr val="82E0AA"/>
                </a:solidFill>
              </a:rPr>
              <a:t>Oral Liquid (0.000) — best managed</a:t>
            </a:r>
          </a:p>
        </p:txBody>
      </p:sp>
      <p:sp>
        <p:nvSpPr>
          <p:cNvPr id="23" name="Prob4"/>
          <p:cNvSpPr/>
          <p:nvPr/>
        </p:nvSpPr>
        <p:spPr>
          <a:xfrm>
            <a:off x="4648200" y="3318078"/>
            <a:ext cx="4191000" cy="776160"/>
          </a:xfrm>
          <a:prstGeom prst="rect">
            <a:avLst/>
          </a:prstGeom>
          <a:solidFill>
            <a:srgbClr val="0D2340"/>
          </a:solidFill>
          <a:ln w="19050">
            <a:solidFill>
              <a:srgbClr val="1A5276"/>
            </a:solidFill>
          </a:ln>
        </p:spPr>
        <p:txBody>
          <a:bodyPr wrap="square" lIns="91440" tIns="91440" rIns="91440" bIns="91440" rtlCol="0" anchor="t"/>
          <a:lstStyle/>
          <a:p>
            <a:pPr algn="l">
              <a:buNone/>
            </a:pPr>
            <a:r>
              <a:rPr lang="en-US" sz="1050" b="1" dirty="0">
                <a:solidFill>
                  <a:srgbClr val="A8D8EA"/>
                </a:solidFill>
              </a:rPr>
              <a:t>Supplier Poor Performance</a:t>
            </a:r>
          </a:p>
          <a:p>
            <a:pPr algn="l">
              <a:buNone/>
            </a:pPr>
            <a:r>
              <a:rPr lang="en-US" sz="950" b="0" dirty="0">
                <a:solidFill>
                  <a:srgbClr val="D5D8DC"/>
                </a:solidFill>
              </a:rPr>
              <a:t>Avg P(Poor Supplier) = 0.200 — 1 in 5 underperform</a:t>
            </a:r>
          </a:p>
          <a:p>
            <a:pPr algn="l">
              <a:buNone/>
            </a:pPr>
            <a:r>
              <a:rPr lang="en-US" sz="950" b="1" dirty="0">
                <a:solidFill>
                  <a:srgbClr val="F1948A"/>
                </a:solidFill>
              </a:rPr>
              <a:t>Worst: Chennai (0.242)  |  Best: Lucknow (0.125)</a:t>
            </a:r>
          </a:p>
          <a:p>
            <a:pPr algn="l">
              <a:buNone/>
            </a:pPr>
            <a:r>
              <a:rPr lang="en-US" sz="950" b="0" dirty="0">
                <a:solidFill>
                  <a:srgbClr val="D5D8DC"/>
                </a:solidFill>
              </a:rPr>
              <a:t>Delhi (0.236) &amp; Mumbai (0.228) also high-risk metros</a:t>
            </a:r>
          </a:p>
        </p:txBody>
      </p:sp>
      <p:sp>
        <p:nvSpPr>
          <p:cNvPr id="30" name="BottomBar"/>
          <p:cNvSpPr/>
          <p:nvPr/>
        </p:nvSpPr>
        <p:spPr>
          <a:xfrm>
            <a:off x="304800" y="4981320"/>
            <a:ext cx="8534400" cy="45720"/>
          </a:xfrm>
          <a:prstGeom prst="rect">
            <a:avLst/>
          </a:prstGeom>
          <a:solidFill>
            <a:srgbClr val="E8A838"/>
          </a:solidFill>
          <a:ln w="0">
            <a:no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493776"/>
          </a:xfrm>
          <a:prstGeom prst="rect">
            <a:avLst/>
          </a:prstGeom>
          <a:solidFill>
            <a:srgbClr val="0E7C86"/>
          </a:solidFill>
          <a:ln w="12700">
            <a:solidFill>
              <a:srgbClr val="0E7C86"/>
            </a:solidFill>
            <a:prstDash val="solid"/>
          </a:ln>
        </p:spPr>
        <p:txBody>
          <a:bodyPr/>
          <a:lstStyle/>
          <a:p>
            <a:endParaRPr lang="en-US" sz="1350" dirty="0"/>
          </a:p>
        </p:txBody>
      </p:sp>
      <p:sp>
        <p:nvSpPr>
          <p:cNvPr id="3" name="Text 1"/>
          <p:cNvSpPr/>
          <p:nvPr/>
        </p:nvSpPr>
        <p:spPr>
          <a:xfrm>
            <a:off x="240030" y="0"/>
            <a:ext cx="7200900" cy="493776"/>
          </a:xfrm>
          <a:prstGeom prst="rect">
            <a:avLst/>
          </a:prstGeom>
          <a:noFill/>
          <a:ln/>
        </p:spPr>
        <p:txBody>
          <a:bodyPr wrap="square" lIns="0" tIns="0" rIns="0" bIns="0" rtlCol="0" anchor="ctr"/>
          <a:lstStyle/>
          <a:p>
            <a:r>
              <a:rPr lang="en-US" sz="1650" b="1" dirty="0">
                <a:solidFill>
                  <a:srgbClr val="FFFFFF"/>
                </a:solidFill>
                <a:latin typeface="Calibri" pitchFamily="34" charset="0"/>
                <a:ea typeface="Calibri" pitchFamily="34" charset="-122"/>
                <a:cs typeface="Calibri" pitchFamily="34" charset="-120"/>
              </a:rPr>
              <a:t>Machine Learning: Consumption Prediction – Linear Regression &amp; KNN Regressor</a:t>
            </a:r>
            <a:endParaRPr lang="en-US" sz="1650" dirty="0"/>
          </a:p>
        </p:txBody>
      </p:sp>
      <p:sp>
        <p:nvSpPr>
          <p:cNvPr id="4" name="Shape 2"/>
          <p:cNvSpPr/>
          <p:nvPr/>
        </p:nvSpPr>
        <p:spPr>
          <a:xfrm>
            <a:off x="7955280" y="82296"/>
            <a:ext cx="480060" cy="315468"/>
          </a:xfrm>
          <a:prstGeom prst="rect">
            <a:avLst/>
          </a:prstGeom>
          <a:solidFill>
            <a:srgbClr val="0D2B5C"/>
          </a:solidFill>
          <a:ln w="12700">
            <a:solidFill>
              <a:srgbClr val="0D2B5C"/>
            </a:solidFill>
            <a:prstDash val="solid"/>
          </a:ln>
        </p:spPr>
        <p:txBody>
          <a:bodyPr/>
          <a:lstStyle/>
          <a:p>
            <a:endParaRPr lang="en-US" sz="1350"/>
          </a:p>
        </p:txBody>
      </p:sp>
      <p:sp>
        <p:nvSpPr>
          <p:cNvPr id="5" name="Text 3"/>
          <p:cNvSpPr/>
          <p:nvPr/>
        </p:nvSpPr>
        <p:spPr>
          <a:xfrm>
            <a:off x="7955280" y="82296"/>
            <a:ext cx="480060" cy="315468"/>
          </a:xfrm>
          <a:prstGeom prst="rect">
            <a:avLst/>
          </a:prstGeom>
          <a:noFill/>
          <a:ln/>
        </p:spPr>
        <p:txBody>
          <a:bodyPr wrap="square" lIns="0" tIns="0" rIns="0" bIns="0" rtlCol="0" anchor="ctr"/>
          <a:lstStyle/>
          <a:p>
            <a:pPr algn="ctr"/>
            <a:r>
              <a:rPr lang="en-US" sz="825" b="1" dirty="0">
                <a:solidFill>
                  <a:srgbClr val="FFFFFF"/>
                </a:solidFill>
                <a:latin typeface="Calibri" pitchFamily="34" charset="0"/>
                <a:ea typeface="Calibri" pitchFamily="34" charset="-122"/>
                <a:cs typeface="Calibri" pitchFamily="34" charset="-120"/>
              </a:rPr>
              <a:t>BO2</a:t>
            </a:r>
            <a:endParaRPr lang="en-US" sz="825" dirty="0"/>
          </a:p>
        </p:txBody>
      </p:sp>
      <p:sp>
        <p:nvSpPr>
          <p:cNvPr id="6" name="Shape 4"/>
          <p:cNvSpPr/>
          <p:nvPr/>
        </p:nvSpPr>
        <p:spPr>
          <a:xfrm>
            <a:off x="8490204" y="82296"/>
            <a:ext cx="480060" cy="315468"/>
          </a:xfrm>
          <a:prstGeom prst="rect">
            <a:avLst/>
          </a:prstGeom>
          <a:solidFill>
            <a:srgbClr val="0D2B5C"/>
          </a:solidFill>
          <a:ln w="12700">
            <a:solidFill>
              <a:srgbClr val="0D2B5C"/>
            </a:solidFill>
            <a:prstDash val="solid"/>
          </a:ln>
        </p:spPr>
        <p:txBody>
          <a:bodyPr/>
          <a:lstStyle/>
          <a:p>
            <a:endParaRPr lang="en-US" sz="1350"/>
          </a:p>
        </p:txBody>
      </p:sp>
      <p:sp>
        <p:nvSpPr>
          <p:cNvPr id="7" name="Text 5"/>
          <p:cNvSpPr/>
          <p:nvPr/>
        </p:nvSpPr>
        <p:spPr>
          <a:xfrm>
            <a:off x="8490204" y="82296"/>
            <a:ext cx="480060" cy="315468"/>
          </a:xfrm>
          <a:prstGeom prst="rect">
            <a:avLst/>
          </a:prstGeom>
          <a:noFill/>
          <a:ln/>
        </p:spPr>
        <p:txBody>
          <a:bodyPr wrap="square" lIns="0" tIns="0" rIns="0" bIns="0" rtlCol="0" anchor="ctr"/>
          <a:lstStyle/>
          <a:p>
            <a:pPr algn="ctr"/>
            <a:r>
              <a:rPr lang="en-US" sz="825" b="1" dirty="0">
                <a:solidFill>
                  <a:srgbClr val="FFFFFF"/>
                </a:solidFill>
                <a:latin typeface="Calibri" pitchFamily="34" charset="0"/>
                <a:ea typeface="Calibri" pitchFamily="34" charset="-122"/>
                <a:cs typeface="Calibri" pitchFamily="34" charset="-120"/>
              </a:rPr>
              <a:t>BO4</a:t>
            </a:r>
            <a:endParaRPr lang="en-US" sz="825" dirty="0"/>
          </a:p>
        </p:txBody>
      </p:sp>
      <p:sp>
        <p:nvSpPr>
          <p:cNvPr id="8" name="Shape 6"/>
          <p:cNvSpPr/>
          <p:nvPr/>
        </p:nvSpPr>
        <p:spPr>
          <a:xfrm>
            <a:off x="205740" y="562356"/>
            <a:ext cx="8709660" cy="342900"/>
          </a:xfrm>
          <a:prstGeom prst="rect">
            <a:avLst/>
          </a:prstGeom>
          <a:solidFill>
            <a:srgbClr val="0D2B5C">
              <a:alpha val="90000"/>
            </a:srgbClr>
          </a:solidFill>
          <a:ln w="12700">
            <a:solidFill>
              <a:srgbClr val="0D2B5C"/>
            </a:solidFill>
            <a:prstDash val="solid"/>
          </a:ln>
        </p:spPr>
        <p:txBody>
          <a:bodyPr/>
          <a:lstStyle/>
          <a:p>
            <a:endParaRPr lang="en-US" sz="1350"/>
          </a:p>
        </p:txBody>
      </p:sp>
      <p:sp>
        <p:nvSpPr>
          <p:cNvPr id="9" name="Text 7"/>
          <p:cNvSpPr/>
          <p:nvPr/>
        </p:nvSpPr>
        <p:spPr>
          <a:xfrm>
            <a:off x="205740" y="562356"/>
            <a:ext cx="8709660" cy="342900"/>
          </a:xfrm>
          <a:prstGeom prst="rect">
            <a:avLst/>
          </a:prstGeom>
          <a:noFill/>
          <a:ln/>
        </p:spPr>
        <p:txBody>
          <a:bodyPr wrap="square" lIns="0" tIns="76200" rIns="76200" bIns="0" rtlCol="0" anchor="ctr"/>
          <a:lstStyle/>
          <a:p>
            <a:r>
              <a:rPr lang="en-US" sz="788" b="1" dirty="0">
                <a:solidFill>
                  <a:srgbClr val="FFFFFF"/>
                </a:solidFill>
                <a:latin typeface="Calibri" pitchFamily="34" charset="0"/>
                <a:ea typeface="Calibri" pitchFamily="34" charset="-122"/>
                <a:cs typeface="Calibri" pitchFamily="34" charset="-120"/>
              </a:rPr>
              <a:t>Both Models — Same Features (X): </a:t>
            </a:r>
            <a:r>
              <a:rPr lang="en-US" sz="788" dirty="0">
                <a:solidFill>
                  <a:srgbClr val="BDD7EE"/>
                </a:solidFill>
                <a:latin typeface="Calibri" pitchFamily="34" charset="0"/>
                <a:ea typeface="Calibri" pitchFamily="34" charset="-122"/>
                <a:cs typeface="Calibri" pitchFamily="34" charset="-120"/>
              </a:rPr>
              <a:t>Stockout_Flag  |  Wastage_Rate  |  Daily_Consumption_Units  |  Bed_Days  |  Wastage_Flag</a:t>
            </a:r>
            <a:r>
              <a:rPr lang="en-US" sz="788" b="1" dirty="0">
                <a:solidFill>
                  <a:srgbClr val="FFFFFF"/>
                </a:solidFill>
                <a:latin typeface="Calibri" pitchFamily="34" charset="0"/>
                <a:ea typeface="Calibri" pitchFamily="34" charset="-122"/>
                <a:cs typeface="Calibri" pitchFamily="34" charset="-120"/>
              </a:rPr>
              <a:t>     Target (y): </a:t>
            </a:r>
            <a:r>
              <a:rPr lang="en-US" sz="788" dirty="0">
                <a:solidFill>
                  <a:srgbClr val="BDD7EE"/>
                </a:solidFill>
                <a:latin typeface="Calibri" pitchFamily="34" charset="0"/>
                <a:ea typeface="Calibri" pitchFamily="34" charset="-122"/>
                <a:cs typeface="Calibri" pitchFamily="34" charset="-120"/>
              </a:rPr>
              <a:t>Total_Consumption  |  Split: 80/20</a:t>
            </a:r>
            <a:endParaRPr lang="en-US" sz="788" dirty="0"/>
          </a:p>
        </p:txBody>
      </p:sp>
      <p:sp>
        <p:nvSpPr>
          <p:cNvPr id="10" name="Shape 8"/>
          <p:cNvSpPr/>
          <p:nvPr/>
        </p:nvSpPr>
        <p:spPr>
          <a:xfrm>
            <a:off x="205740" y="973836"/>
            <a:ext cx="2743200" cy="2983230"/>
          </a:xfrm>
          <a:prstGeom prst="rect">
            <a:avLst/>
          </a:prstGeom>
          <a:solidFill>
            <a:srgbClr val="FFFFFF"/>
          </a:solidFill>
          <a:ln w="12700">
            <a:solidFill>
              <a:srgbClr val="CBD5E0"/>
            </a:solidFill>
            <a:prstDash val="solid"/>
          </a:ln>
          <a:effectLst>
            <a:outerShdw blurRad="50800" dist="25400" dir="8100000" algn="bl" rotWithShape="0">
              <a:srgbClr val="000000">
                <a:alpha val="8000"/>
              </a:srgbClr>
            </a:outerShdw>
          </a:effectLst>
        </p:spPr>
        <p:txBody>
          <a:bodyPr/>
          <a:lstStyle/>
          <a:p>
            <a:endParaRPr lang="en-US" sz="1350"/>
          </a:p>
        </p:txBody>
      </p:sp>
      <p:sp>
        <p:nvSpPr>
          <p:cNvPr id="11" name="Shape 9"/>
          <p:cNvSpPr/>
          <p:nvPr/>
        </p:nvSpPr>
        <p:spPr>
          <a:xfrm>
            <a:off x="205740" y="973836"/>
            <a:ext cx="2743200" cy="288036"/>
          </a:xfrm>
          <a:prstGeom prst="rect">
            <a:avLst/>
          </a:prstGeom>
          <a:solidFill>
            <a:srgbClr val="0D2B5C"/>
          </a:solidFill>
          <a:ln w="12700">
            <a:solidFill>
              <a:srgbClr val="0D2B5C"/>
            </a:solidFill>
            <a:prstDash val="solid"/>
          </a:ln>
        </p:spPr>
        <p:txBody>
          <a:bodyPr/>
          <a:lstStyle/>
          <a:p>
            <a:endParaRPr lang="en-US" sz="1350"/>
          </a:p>
        </p:txBody>
      </p:sp>
      <p:sp>
        <p:nvSpPr>
          <p:cNvPr id="12" name="Text 10"/>
          <p:cNvSpPr/>
          <p:nvPr/>
        </p:nvSpPr>
        <p:spPr>
          <a:xfrm>
            <a:off x="288036" y="973836"/>
            <a:ext cx="2640330" cy="288036"/>
          </a:xfrm>
          <a:prstGeom prst="rect">
            <a:avLst/>
          </a:prstGeom>
          <a:noFill/>
          <a:ln/>
        </p:spPr>
        <p:txBody>
          <a:bodyPr wrap="square" lIns="0" tIns="0" rIns="0" bIns="0" rtlCol="0" anchor="ctr"/>
          <a:lstStyle/>
          <a:p>
            <a:r>
              <a:rPr lang="en-US" sz="750" b="1" dirty="0">
                <a:solidFill>
                  <a:srgbClr val="FFFFFF"/>
                </a:solidFill>
                <a:latin typeface="Calibri" pitchFamily="34" charset="0"/>
                <a:ea typeface="Calibri" pitchFamily="34" charset="-122"/>
                <a:cs typeface="Calibri" pitchFamily="34" charset="-120"/>
              </a:rPr>
              <a:t>LINEAR REGRESSION — Consumption Prediction</a:t>
            </a:r>
            <a:endParaRPr lang="en-US" sz="750" dirty="0"/>
          </a:p>
        </p:txBody>
      </p:sp>
      <p:sp>
        <p:nvSpPr>
          <p:cNvPr id="13" name="Shape 11"/>
          <p:cNvSpPr/>
          <p:nvPr/>
        </p:nvSpPr>
        <p:spPr>
          <a:xfrm>
            <a:off x="308610" y="1330452"/>
            <a:ext cx="809244" cy="377190"/>
          </a:xfrm>
          <a:prstGeom prst="rect">
            <a:avLst/>
          </a:prstGeom>
          <a:solidFill>
            <a:srgbClr val="E8EEF8"/>
          </a:solidFill>
          <a:ln w="12700">
            <a:solidFill>
              <a:srgbClr val="0D2B5C"/>
            </a:solidFill>
            <a:prstDash val="solid"/>
          </a:ln>
        </p:spPr>
        <p:txBody>
          <a:bodyPr/>
          <a:lstStyle/>
          <a:p>
            <a:endParaRPr lang="en-US" sz="1350"/>
          </a:p>
        </p:txBody>
      </p:sp>
      <p:sp>
        <p:nvSpPr>
          <p:cNvPr id="14" name="Text 12"/>
          <p:cNvSpPr/>
          <p:nvPr/>
        </p:nvSpPr>
        <p:spPr>
          <a:xfrm>
            <a:off x="308610" y="1330452"/>
            <a:ext cx="809244" cy="377190"/>
          </a:xfrm>
          <a:prstGeom prst="rect">
            <a:avLst/>
          </a:prstGeom>
          <a:noFill/>
          <a:ln/>
        </p:spPr>
        <p:txBody>
          <a:bodyPr wrap="square" lIns="0" tIns="0" rIns="0" bIns="0" rtlCol="0" anchor="ctr"/>
          <a:lstStyle/>
          <a:p>
            <a:pPr algn="ctr"/>
            <a:r>
              <a:rPr lang="en-US" sz="600" b="1" dirty="0">
                <a:solidFill>
                  <a:srgbClr val="0D2B5C"/>
                </a:solidFill>
                <a:latin typeface="Calibri" pitchFamily="34" charset="0"/>
                <a:ea typeface="Calibri" pitchFamily="34" charset="-122"/>
                <a:cs typeface="Calibri" pitchFamily="34" charset="-120"/>
              </a:rPr>
              <a:t>R²
</a:t>
            </a:r>
            <a:endParaRPr lang="en-US" sz="600" dirty="0"/>
          </a:p>
          <a:p>
            <a:pPr algn="ctr"/>
            <a:r>
              <a:rPr lang="en-US" sz="1125" b="1" dirty="0">
                <a:solidFill>
                  <a:srgbClr val="0D2B5C"/>
                </a:solidFill>
                <a:latin typeface="Calibri" pitchFamily="34" charset="0"/>
                <a:ea typeface="Calibri" pitchFamily="34" charset="-122"/>
                <a:cs typeface="Calibri" pitchFamily="34" charset="-120"/>
              </a:rPr>
              <a:t>0.55</a:t>
            </a:r>
            <a:endParaRPr lang="en-US" sz="600" dirty="0"/>
          </a:p>
        </p:txBody>
      </p:sp>
      <p:sp>
        <p:nvSpPr>
          <p:cNvPr id="15" name="Shape 13"/>
          <p:cNvSpPr/>
          <p:nvPr/>
        </p:nvSpPr>
        <p:spPr>
          <a:xfrm>
            <a:off x="1186434" y="1330452"/>
            <a:ext cx="809244" cy="377190"/>
          </a:xfrm>
          <a:prstGeom prst="rect">
            <a:avLst/>
          </a:prstGeom>
          <a:solidFill>
            <a:srgbClr val="E8EEF8"/>
          </a:solidFill>
          <a:ln w="12700">
            <a:solidFill>
              <a:srgbClr val="0D2B5C"/>
            </a:solidFill>
            <a:prstDash val="solid"/>
          </a:ln>
        </p:spPr>
        <p:txBody>
          <a:bodyPr/>
          <a:lstStyle/>
          <a:p>
            <a:endParaRPr lang="en-US" sz="1350"/>
          </a:p>
        </p:txBody>
      </p:sp>
      <p:sp>
        <p:nvSpPr>
          <p:cNvPr id="16" name="Text 14"/>
          <p:cNvSpPr/>
          <p:nvPr/>
        </p:nvSpPr>
        <p:spPr>
          <a:xfrm>
            <a:off x="1186434" y="1330452"/>
            <a:ext cx="809244" cy="377190"/>
          </a:xfrm>
          <a:prstGeom prst="rect">
            <a:avLst/>
          </a:prstGeom>
          <a:noFill/>
          <a:ln/>
        </p:spPr>
        <p:txBody>
          <a:bodyPr wrap="square" lIns="0" tIns="0" rIns="0" bIns="0" rtlCol="0" anchor="ctr"/>
          <a:lstStyle/>
          <a:p>
            <a:pPr algn="ctr"/>
            <a:r>
              <a:rPr lang="en-US" sz="600" b="1" dirty="0">
                <a:solidFill>
                  <a:srgbClr val="0D2B5C"/>
                </a:solidFill>
                <a:latin typeface="Calibri" pitchFamily="34" charset="0"/>
                <a:ea typeface="Calibri" pitchFamily="34" charset="-122"/>
                <a:cs typeface="Calibri" pitchFamily="34" charset="-120"/>
              </a:rPr>
              <a:t>MAE
</a:t>
            </a:r>
            <a:endParaRPr lang="en-US" sz="600" dirty="0"/>
          </a:p>
          <a:p>
            <a:pPr algn="ctr"/>
            <a:r>
              <a:rPr lang="en-US" sz="1125" b="1" dirty="0">
                <a:solidFill>
                  <a:srgbClr val="0D2B5C"/>
                </a:solidFill>
                <a:latin typeface="Calibri" pitchFamily="34" charset="0"/>
                <a:ea typeface="Calibri" pitchFamily="34" charset="-122"/>
                <a:cs typeface="Calibri" pitchFamily="34" charset="-120"/>
              </a:rPr>
              <a:t>1.75</a:t>
            </a:r>
            <a:endParaRPr lang="en-US" sz="600" dirty="0"/>
          </a:p>
        </p:txBody>
      </p:sp>
      <p:sp>
        <p:nvSpPr>
          <p:cNvPr id="17" name="Shape 15"/>
          <p:cNvSpPr/>
          <p:nvPr/>
        </p:nvSpPr>
        <p:spPr>
          <a:xfrm>
            <a:off x="2064258" y="1330452"/>
            <a:ext cx="809244" cy="377190"/>
          </a:xfrm>
          <a:prstGeom prst="rect">
            <a:avLst/>
          </a:prstGeom>
          <a:solidFill>
            <a:srgbClr val="E8EEF8"/>
          </a:solidFill>
          <a:ln w="12700">
            <a:solidFill>
              <a:srgbClr val="0D2B5C"/>
            </a:solidFill>
            <a:prstDash val="solid"/>
          </a:ln>
        </p:spPr>
        <p:txBody>
          <a:bodyPr/>
          <a:lstStyle/>
          <a:p>
            <a:endParaRPr lang="en-US" sz="1350"/>
          </a:p>
        </p:txBody>
      </p:sp>
      <p:sp>
        <p:nvSpPr>
          <p:cNvPr id="18" name="Text 16"/>
          <p:cNvSpPr/>
          <p:nvPr/>
        </p:nvSpPr>
        <p:spPr>
          <a:xfrm>
            <a:off x="2064258" y="1330452"/>
            <a:ext cx="809244" cy="377190"/>
          </a:xfrm>
          <a:prstGeom prst="rect">
            <a:avLst/>
          </a:prstGeom>
          <a:noFill/>
          <a:ln/>
        </p:spPr>
        <p:txBody>
          <a:bodyPr wrap="square" lIns="0" tIns="0" rIns="0" bIns="0" rtlCol="0" anchor="ctr"/>
          <a:lstStyle/>
          <a:p>
            <a:pPr algn="ctr"/>
            <a:r>
              <a:rPr lang="en-US" sz="600" b="1" dirty="0">
                <a:solidFill>
                  <a:srgbClr val="0D2B5C"/>
                </a:solidFill>
                <a:latin typeface="Calibri" pitchFamily="34" charset="0"/>
                <a:ea typeface="Calibri" pitchFamily="34" charset="-122"/>
                <a:cs typeface="Calibri" pitchFamily="34" charset="-120"/>
              </a:rPr>
              <a:t>MSE
</a:t>
            </a:r>
            <a:endParaRPr lang="en-US" sz="600" dirty="0"/>
          </a:p>
          <a:p>
            <a:pPr algn="ctr"/>
            <a:r>
              <a:rPr lang="en-US" sz="1125" b="1" dirty="0">
                <a:solidFill>
                  <a:srgbClr val="0D2B5C"/>
                </a:solidFill>
                <a:latin typeface="Calibri" pitchFamily="34" charset="0"/>
                <a:ea typeface="Calibri" pitchFamily="34" charset="-122"/>
                <a:cs typeface="Calibri" pitchFamily="34" charset="-120"/>
              </a:rPr>
              <a:t>36.58</a:t>
            </a:r>
            <a:endParaRPr lang="en-US" sz="600" dirty="0"/>
          </a:p>
        </p:txBody>
      </p:sp>
      <p:sp>
        <p:nvSpPr>
          <p:cNvPr id="19" name="Text 17"/>
          <p:cNvSpPr/>
          <p:nvPr/>
        </p:nvSpPr>
        <p:spPr>
          <a:xfrm>
            <a:off x="288036" y="1776222"/>
            <a:ext cx="2571750" cy="1577340"/>
          </a:xfrm>
          <a:prstGeom prst="rect">
            <a:avLst/>
          </a:prstGeom>
          <a:noFill/>
          <a:ln/>
        </p:spPr>
        <p:txBody>
          <a:bodyPr wrap="square" lIns="38100" tIns="38100" rIns="0" bIns="0" rtlCol="0" anchor="t"/>
          <a:lstStyle/>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Model underestimates high-consumption (ICU) cases</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95%+ predictions within ±10 units — reliable for routine planning</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Linear assumption limits accuracy for complex demand interactions</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Key drivers: Daily Consumption Units, Bed Days &amp; Wastage Rate</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R²=0.55: remaining 45% variance from ICU outliers &amp; patient-level variability not in features</a:t>
            </a:r>
            <a:endParaRPr lang="en-US" sz="713" dirty="0"/>
          </a:p>
        </p:txBody>
      </p:sp>
      <p:sp>
        <p:nvSpPr>
          <p:cNvPr id="20" name="Shape 18"/>
          <p:cNvSpPr/>
          <p:nvPr/>
        </p:nvSpPr>
        <p:spPr>
          <a:xfrm>
            <a:off x="288036" y="3374136"/>
            <a:ext cx="2571750" cy="493776"/>
          </a:xfrm>
          <a:prstGeom prst="rect">
            <a:avLst/>
          </a:prstGeom>
          <a:solidFill>
            <a:srgbClr val="E8EEF8"/>
          </a:solidFill>
          <a:ln w="12700">
            <a:solidFill>
              <a:srgbClr val="0D2B5C"/>
            </a:solidFill>
            <a:prstDash val="solid"/>
          </a:ln>
        </p:spPr>
        <p:txBody>
          <a:bodyPr/>
          <a:lstStyle/>
          <a:p>
            <a:endParaRPr lang="en-US" sz="1350"/>
          </a:p>
        </p:txBody>
      </p:sp>
      <p:sp>
        <p:nvSpPr>
          <p:cNvPr id="21" name="Text 19"/>
          <p:cNvSpPr/>
          <p:nvPr/>
        </p:nvSpPr>
        <p:spPr>
          <a:xfrm>
            <a:off x="329184" y="3374136"/>
            <a:ext cx="2489454" cy="493776"/>
          </a:xfrm>
          <a:prstGeom prst="rect">
            <a:avLst/>
          </a:prstGeom>
          <a:noFill/>
          <a:ln/>
        </p:spPr>
        <p:txBody>
          <a:bodyPr wrap="square" lIns="0" tIns="38100" rIns="38100" bIns="0" rtlCol="0" anchor="ctr"/>
          <a:lstStyle/>
          <a:p>
            <a:r>
              <a:rPr lang="en-US" sz="638" i="1" dirty="0">
                <a:solidFill>
                  <a:srgbClr val="0D2B5C"/>
                </a:solidFill>
                <a:latin typeface="Calibri" pitchFamily="34" charset="0"/>
                <a:ea typeface="Calibri" pitchFamily="34" charset="-122"/>
                <a:cs typeface="Calibri" pitchFamily="34" charset="-120"/>
              </a:rPr>
              <a:t>Insight: Stockout_Flag &amp; Wastage_Rate interactions drive errors — a non-linear model is needed for ICU-level accuracy.</a:t>
            </a:r>
            <a:endParaRPr lang="en-US" sz="638" dirty="0"/>
          </a:p>
        </p:txBody>
      </p:sp>
      <p:sp>
        <p:nvSpPr>
          <p:cNvPr id="22" name="Shape 20"/>
          <p:cNvSpPr/>
          <p:nvPr/>
        </p:nvSpPr>
        <p:spPr>
          <a:xfrm>
            <a:off x="3154680" y="973836"/>
            <a:ext cx="2743200" cy="2983230"/>
          </a:xfrm>
          <a:prstGeom prst="rect">
            <a:avLst/>
          </a:prstGeom>
          <a:solidFill>
            <a:srgbClr val="FFFFFF"/>
          </a:solidFill>
          <a:ln w="12700">
            <a:solidFill>
              <a:srgbClr val="CBD5E0"/>
            </a:solidFill>
            <a:prstDash val="solid"/>
          </a:ln>
          <a:effectLst>
            <a:outerShdw blurRad="50800" dist="25400" dir="8100000" algn="bl" rotWithShape="0">
              <a:srgbClr val="000000">
                <a:alpha val="8000"/>
              </a:srgbClr>
            </a:outerShdw>
          </a:effectLst>
        </p:spPr>
        <p:txBody>
          <a:bodyPr/>
          <a:lstStyle/>
          <a:p>
            <a:endParaRPr lang="en-US" sz="1350"/>
          </a:p>
        </p:txBody>
      </p:sp>
      <p:sp>
        <p:nvSpPr>
          <p:cNvPr id="23" name="Shape 21"/>
          <p:cNvSpPr/>
          <p:nvPr/>
        </p:nvSpPr>
        <p:spPr>
          <a:xfrm>
            <a:off x="3154680" y="973836"/>
            <a:ext cx="2743200" cy="288036"/>
          </a:xfrm>
          <a:prstGeom prst="rect">
            <a:avLst/>
          </a:prstGeom>
          <a:solidFill>
            <a:srgbClr val="0E7C86"/>
          </a:solidFill>
          <a:ln w="12700">
            <a:solidFill>
              <a:srgbClr val="0E7C86"/>
            </a:solidFill>
            <a:prstDash val="solid"/>
          </a:ln>
        </p:spPr>
        <p:txBody>
          <a:bodyPr/>
          <a:lstStyle/>
          <a:p>
            <a:endParaRPr lang="en-US" sz="1350"/>
          </a:p>
        </p:txBody>
      </p:sp>
      <p:sp>
        <p:nvSpPr>
          <p:cNvPr id="24" name="Text 22"/>
          <p:cNvSpPr/>
          <p:nvPr/>
        </p:nvSpPr>
        <p:spPr>
          <a:xfrm>
            <a:off x="3236976" y="973836"/>
            <a:ext cx="2640330" cy="288036"/>
          </a:xfrm>
          <a:prstGeom prst="rect">
            <a:avLst/>
          </a:prstGeom>
          <a:noFill/>
          <a:ln/>
        </p:spPr>
        <p:txBody>
          <a:bodyPr wrap="square" lIns="0" tIns="0" rIns="0" bIns="0" rtlCol="0" anchor="ctr"/>
          <a:lstStyle/>
          <a:p>
            <a:r>
              <a:rPr lang="en-US" sz="750" b="1" dirty="0">
                <a:solidFill>
                  <a:srgbClr val="FFFFFF"/>
                </a:solidFill>
                <a:latin typeface="Calibri" pitchFamily="34" charset="0"/>
                <a:ea typeface="Calibri" pitchFamily="34" charset="-122"/>
                <a:cs typeface="Calibri" pitchFamily="34" charset="-120"/>
              </a:rPr>
              <a:t>KNN REGRESSOR — Consumption Prediction (K=5)</a:t>
            </a:r>
            <a:endParaRPr lang="en-US" sz="750" dirty="0"/>
          </a:p>
        </p:txBody>
      </p:sp>
      <p:sp>
        <p:nvSpPr>
          <p:cNvPr id="25" name="Shape 23"/>
          <p:cNvSpPr/>
          <p:nvPr/>
        </p:nvSpPr>
        <p:spPr>
          <a:xfrm>
            <a:off x="3257550" y="1330452"/>
            <a:ext cx="809244" cy="377190"/>
          </a:xfrm>
          <a:prstGeom prst="rect">
            <a:avLst/>
          </a:prstGeom>
          <a:solidFill>
            <a:srgbClr val="E8F9FC"/>
          </a:solidFill>
          <a:ln w="12700">
            <a:solidFill>
              <a:srgbClr val="0E7C86"/>
            </a:solidFill>
            <a:prstDash val="solid"/>
          </a:ln>
        </p:spPr>
        <p:txBody>
          <a:bodyPr/>
          <a:lstStyle/>
          <a:p>
            <a:endParaRPr lang="en-US" sz="1350"/>
          </a:p>
        </p:txBody>
      </p:sp>
      <p:sp>
        <p:nvSpPr>
          <p:cNvPr id="26" name="Text 24"/>
          <p:cNvSpPr/>
          <p:nvPr/>
        </p:nvSpPr>
        <p:spPr>
          <a:xfrm>
            <a:off x="3257550" y="1330452"/>
            <a:ext cx="809244" cy="377190"/>
          </a:xfrm>
          <a:prstGeom prst="rect">
            <a:avLst/>
          </a:prstGeom>
          <a:noFill/>
          <a:ln/>
        </p:spPr>
        <p:txBody>
          <a:bodyPr wrap="square" lIns="0" tIns="0" rIns="0" bIns="0" rtlCol="0" anchor="ctr"/>
          <a:lstStyle/>
          <a:p>
            <a:pPr algn="ctr"/>
            <a:r>
              <a:rPr lang="en-US" sz="600" b="1" dirty="0">
                <a:solidFill>
                  <a:srgbClr val="0E7C86"/>
                </a:solidFill>
                <a:latin typeface="Calibri" pitchFamily="34" charset="0"/>
                <a:ea typeface="Calibri" pitchFamily="34" charset="-122"/>
                <a:cs typeface="Calibri" pitchFamily="34" charset="-120"/>
              </a:rPr>
              <a:t>R²
</a:t>
            </a:r>
            <a:endParaRPr lang="en-US" sz="600" dirty="0"/>
          </a:p>
          <a:p>
            <a:pPr algn="ctr"/>
            <a:r>
              <a:rPr lang="en-US" sz="1125" b="1" dirty="0">
                <a:solidFill>
                  <a:srgbClr val="0E7C86"/>
                </a:solidFill>
                <a:latin typeface="Calibri" pitchFamily="34" charset="0"/>
                <a:ea typeface="Calibri" pitchFamily="34" charset="-122"/>
                <a:cs typeface="Calibri" pitchFamily="34" charset="-120"/>
              </a:rPr>
              <a:t>0.80</a:t>
            </a:r>
            <a:endParaRPr lang="en-US" sz="600" dirty="0"/>
          </a:p>
        </p:txBody>
      </p:sp>
      <p:sp>
        <p:nvSpPr>
          <p:cNvPr id="27" name="Shape 25"/>
          <p:cNvSpPr/>
          <p:nvPr/>
        </p:nvSpPr>
        <p:spPr>
          <a:xfrm>
            <a:off x="4135374" y="1330452"/>
            <a:ext cx="809244" cy="377190"/>
          </a:xfrm>
          <a:prstGeom prst="rect">
            <a:avLst/>
          </a:prstGeom>
          <a:solidFill>
            <a:srgbClr val="E8F9FC"/>
          </a:solidFill>
          <a:ln w="12700">
            <a:solidFill>
              <a:srgbClr val="0E7C86"/>
            </a:solidFill>
            <a:prstDash val="solid"/>
          </a:ln>
        </p:spPr>
        <p:txBody>
          <a:bodyPr/>
          <a:lstStyle/>
          <a:p>
            <a:endParaRPr lang="en-US" sz="1350"/>
          </a:p>
        </p:txBody>
      </p:sp>
      <p:sp>
        <p:nvSpPr>
          <p:cNvPr id="28" name="Text 26"/>
          <p:cNvSpPr/>
          <p:nvPr/>
        </p:nvSpPr>
        <p:spPr>
          <a:xfrm>
            <a:off x="4135374" y="1330452"/>
            <a:ext cx="809244" cy="377190"/>
          </a:xfrm>
          <a:prstGeom prst="rect">
            <a:avLst/>
          </a:prstGeom>
          <a:noFill/>
          <a:ln/>
        </p:spPr>
        <p:txBody>
          <a:bodyPr wrap="square" lIns="0" tIns="0" rIns="0" bIns="0" rtlCol="0" anchor="ctr"/>
          <a:lstStyle/>
          <a:p>
            <a:pPr algn="ctr"/>
            <a:r>
              <a:rPr lang="en-US" sz="600" b="1" dirty="0">
                <a:solidFill>
                  <a:srgbClr val="0E7C86"/>
                </a:solidFill>
                <a:latin typeface="Calibri" pitchFamily="34" charset="0"/>
                <a:ea typeface="Calibri" pitchFamily="34" charset="-122"/>
                <a:cs typeface="Calibri" pitchFamily="34" charset="-120"/>
              </a:rPr>
              <a:t>MAE
</a:t>
            </a:r>
            <a:endParaRPr lang="en-US" sz="600" dirty="0"/>
          </a:p>
          <a:p>
            <a:pPr algn="ctr"/>
            <a:r>
              <a:rPr lang="en-US" sz="1125" b="1" dirty="0">
                <a:solidFill>
                  <a:srgbClr val="0E7C86"/>
                </a:solidFill>
                <a:latin typeface="Calibri" pitchFamily="34" charset="0"/>
                <a:ea typeface="Calibri" pitchFamily="34" charset="-122"/>
                <a:cs typeface="Calibri" pitchFamily="34" charset="-120"/>
              </a:rPr>
              <a:t>0.28</a:t>
            </a:r>
            <a:endParaRPr lang="en-US" sz="600" dirty="0"/>
          </a:p>
        </p:txBody>
      </p:sp>
      <p:sp>
        <p:nvSpPr>
          <p:cNvPr id="29" name="Shape 27"/>
          <p:cNvSpPr/>
          <p:nvPr/>
        </p:nvSpPr>
        <p:spPr>
          <a:xfrm>
            <a:off x="5013198" y="1330452"/>
            <a:ext cx="809244" cy="377190"/>
          </a:xfrm>
          <a:prstGeom prst="rect">
            <a:avLst/>
          </a:prstGeom>
          <a:solidFill>
            <a:srgbClr val="E8F9FC"/>
          </a:solidFill>
          <a:ln w="12700">
            <a:solidFill>
              <a:srgbClr val="0E7C86"/>
            </a:solidFill>
            <a:prstDash val="solid"/>
          </a:ln>
        </p:spPr>
        <p:txBody>
          <a:bodyPr/>
          <a:lstStyle/>
          <a:p>
            <a:endParaRPr lang="en-US" sz="1350"/>
          </a:p>
        </p:txBody>
      </p:sp>
      <p:sp>
        <p:nvSpPr>
          <p:cNvPr id="30" name="Text 28"/>
          <p:cNvSpPr/>
          <p:nvPr/>
        </p:nvSpPr>
        <p:spPr>
          <a:xfrm>
            <a:off x="5013198" y="1330452"/>
            <a:ext cx="809244" cy="377190"/>
          </a:xfrm>
          <a:prstGeom prst="rect">
            <a:avLst/>
          </a:prstGeom>
          <a:noFill/>
          <a:ln/>
        </p:spPr>
        <p:txBody>
          <a:bodyPr wrap="square" lIns="0" tIns="0" rIns="0" bIns="0" rtlCol="0" anchor="ctr"/>
          <a:lstStyle/>
          <a:p>
            <a:pPr algn="ctr"/>
            <a:r>
              <a:rPr lang="en-US" sz="600" b="1" dirty="0">
                <a:solidFill>
                  <a:srgbClr val="0E7C86"/>
                </a:solidFill>
                <a:latin typeface="Calibri" pitchFamily="34" charset="0"/>
                <a:ea typeface="Calibri" pitchFamily="34" charset="-122"/>
                <a:cs typeface="Calibri" pitchFamily="34" charset="-120"/>
              </a:rPr>
              <a:t>MSE
</a:t>
            </a:r>
            <a:endParaRPr lang="en-US" sz="600" dirty="0"/>
          </a:p>
          <a:p>
            <a:pPr algn="ctr"/>
            <a:r>
              <a:rPr lang="en-US" sz="1125" b="1" dirty="0">
                <a:solidFill>
                  <a:srgbClr val="0E7C86"/>
                </a:solidFill>
                <a:latin typeface="Calibri" pitchFamily="34" charset="0"/>
                <a:ea typeface="Calibri" pitchFamily="34" charset="-122"/>
                <a:cs typeface="Calibri" pitchFamily="34" charset="-120"/>
              </a:rPr>
              <a:t>15.60</a:t>
            </a:r>
            <a:endParaRPr lang="en-US" sz="600" dirty="0"/>
          </a:p>
        </p:txBody>
      </p:sp>
      <p:sp>
        <p:nvSpPr>
          <p:cNvPr id="31" name="Text 29"/>
          <p:cNvSpPr/>
          <p:nvPr/>
        </p:nvSpPr>
        <p:spPr>
          <a:xfrm>
            <a:off x="3236976" y="1776222"/>
            <a:ext cx="2571750" cy="1577340"/>
          </a:xfrm>
          <a:prstGeom prst="rect">
            <a:avLst/>
          </a:prstGeom>
          <a:noFill/>
          <a:ln/>
        </p:spPr>
        <p:txBody>
          <a:bodyPr wrap="square" lIns="38100" tIns="38100" rIns="0" bIns="0" rtlCol="0" anchor="t"/>
          <a:lstStyle/>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Finds 5 most similar historical records to predict consumption</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R²=0.80: explains 80% of variance — significantly stronger than LR</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MAE=0.28 — predictions off by less than 1 unit on average</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Captures non-linear patterns across drug types, wastage &amp; patient stay</a:t>
            </a:r>
            <a:endParaRPr lang="en-US" sz="713" dirty="0"/>
          </a:p>
          <a:p>
            <a:pPr marL="257175" indent="-257175">
              <a:buSzPct val="100000"/>
              <a:buChar char="•"/>
            </a:pPr>
            <a:r>
              <a:rPr lang="en-US" sz="713" dirty="0">
                <a:solidFill>
                  <a:srgbClr val="2C3E50"/>
                </a:solidFill>
                <a:latin typeface="Calibri" pitchFamily="34" charset="0"/>
                <a:ea typeface="Calibri" pitchFamily="34" charset="-122"/>
                <a:cs typeface="Calibri" pitchFamily="34" charset="-120"/>
              </a:rPr>
              <a:t>Key drivers: Daily Consumption Units, Bed Days &amp; Wastage Flag</a:t>
            </a:r>
            <a:endParaRPr lang="en-US" sz="713" dirty="0"/>
          </a:p>
        </p:txBody>
      </p:sp>
      <p:sp>
        <p:nvSpPr>
          <p:cNvPr id="32" name="Shape 30"/>
          <p:cNvSpPr/>
          <p:nvPr/>
        </p:nvSpPr>
        <p:spPr>
          <a:xfrm>
            <a:off x="3236976" y="3374136"/>
            <a:ext cx="2571750" cy="493776"/>
          </a:xfrm>
          <a:prstGeom prst="rect">
            <a:avLst/>
          </a:prstGeom>
          <a:solidFill>
            <a:srgbClr val="E8F9FC"/>
          </a:solidFill>
          <a:ln w="12700">
            <a:solidFill>
              <a:srgbClr val="0E7C86"/>
            </a:solidFill>
            <a:prstDash val="solid"/>
          </a:ln>
        </p:spPr>
        <p:txBody>
          <a:bodyPr/>
          <a:lstStyle/>
          <a:p>
            <a:endParaRPr lang="en-US" sz="1350"/>
          </a:p>
        </p:txBody>
      </p:sp>
      <p:sp>
        <p:nvSpPr>
          <p:cNvPr id="33" name="Text 31"/>
          <p:cNvSpPr/>
          <p:nvPr/>
        </p:nvSpPr>
        <p:spPr>
          <a:xfrm>
            <a:off x="3278124" y="3374136"/>
            <a:ext cx="2489454" cy="493776"/>
          </a:xfrm>
          <a:prstGeom prst="rect">
            <a:avLst/>
          </a:prstGeom>
          <a:noFill/>
          <a:ln/>
        </p:spPr>
        <p:txBody>
          <a:bodyPr wrap="square" lIns="0" tIns="38100" rIns="38100" bIns="0" rtlCol="0" anchor="ctr"/>
          <a:lstStyle/>
          <a:p>
            <a:r>
              <a:rPr lang="en-US" sz="638" i="1" dirty="0">
                <a:solidFill>
                  <a:srgbClr val="0E7C86"/>
                </a:solidFill>
                <a:latin typeface="Calibri" pitchFamily="34" charset="0"/>
                <a:ea typeface="Calibri" pitchFamily="34" charset="-122"/>
                <a:cs typeface="Calibri" pitchFamily="34" charset="-120"/>
              </a:rPr>
              <a:t>Insight: KNN's pattern-matching naturally handles binary + continuous feature mix — medicine demand is non-linear by nature.</a:t>
            </a:r>
            <a:endParaRPr lang="en-US" sz="638" dirty="0"/>
          </a:p>
        </p:txBody>
      </p:sp>
      <p:sp>
        <p:nvSpPr>
          <p:cNvPr id="34" name="Shape 32"/>
          <p:cNvSpPr/>
          <p:nvPr/>
        </p:nvSpPr>
        <p:spPr>
          <a:xfrm>
            <a:off x="6103620" y="973836"/>
            <a:ext cx="2811780" cy="1577340"/>
          </a:xfrm>
          <a:prstGeom prst="rect">
            <a:avLst/>
          </a:prstGeom>
          <a:solidFill>
            <a:srgbClr val="FFFFFF"/>
          </a:solidFill>
          <a:ln w="12700">
            <a:solidFill>
              <a:srgbClr val="CBD5E0"/>
            </a:solidFill>
            <a:prstDash val="solid"/>
          </a:ln>
          <a:effectLst>
            <a:outerShdw blurRad="50800" dist="25400" dir="8100000" algn="bl" rotWithShape="0">
              <a:srgbClr val="000000">
                <a:alpha val="8000"/>
              </a:srgbClr>
            </a:outerShdw>
          </a:effectLst>
        </p:spPr>
        <p:txBody>
          <a:bodyPr/>
          <a:lstStyle/>
          <a:p>
            <a:endParaRPr lang="en-US" sz="1350"/>
          </a:p>
        </p:txBody>
      </p:sp>
      <p:sp>
        <p:nvSpPr>
          <p:cNvPr id="35" name="Shape 33"/>
          <p:cNvSpPr/>
          <p:nvPr/>
        </p:nvSpPr>
        <p:spPr>
          <a:xfrm>
            <a:off x="6103620" y="973836"/>
            <a:ext cx="2811780" cy="288036"/>
          </a:xfrm>
          <a:prstGeom prst="rect">
            <a:avLst/>
          </a:prstGeom>
          <a:solidFill>
            <a:srgbClr val="2C3E50"/>
          </a:solidFill>
          <a:ln w="12700">
            <a:solidFill>
              <a:srgbClr val="2C3E50"/>
            </a:solidFill>
            <a:prstDash val="solid"/>
          </a:ln>
        </p:spPr>
        <p:txBody>
          <a:bodyPr/>
          <a:lstStyle/>
          <a:p>
            <a:endParaRPr lang="en-US" sz="1350"/>
          </a:p>
        </p:txBody>
      </p:sp>
      <p:sp>
        <p:nvSpPr>
          <p:cNvPr id="36" name="Text 34"/>
          <p:cNvSpPr/>
          <p:nvPr/>
        </p:nvSpPr>
        <p:spPr>
          <a:xfrm>
            <a:off x="6185916" y="973836"/>
            <a:ext cx="2708910" cy="288036"/>
          </a:xfrm>
          <a:prstGeom prst="rect">
            <a:avLst/>
          </a:prstGeom>
          <a:noFill/>
          <a:ln/>
        </p:spPr>
        <p:txBody>
          <a:bodyPr wrap="square" lIns="0" tIns="0" rIns="0" bIns="0" rtlCol="0" anchor="ctr"/>
          <a:lstStyle/>
          <a:p>
            <a:r>
              <a:rPr lang="en-US" sz="750" b="1" dirty="0">
                <a:solidFill>
                  <a:srgbClr val="FFFFFF"/>
                </a:solidFill>
                <a:latin typeface="Calibri" pitchFamily="34" charset="0"/>
                <a:ea typeface="Calibri" pitchFamily="34" charset="-122"/>
                <a:cs typeface="Calibri" pitchFamily="34" charset="-120"/>
              </a:rPr>
              <a:t>MODEL COMPARISON</a:t>
            </a:r>
            <a:endParaRPr lang="en-US" sz="750" dirty="0"/>
          </a:p>
        </p:txBody>
      </p:sp>
      <p:graphicFrame>
        <p:nvGraphicFramePr>
          <p:cNvPr id="37" name="Table 0"/>
          <p:cNvGraphicFramePr>
            <a:graphicFrameLocks noGrp="1"/>
          </p:cNvGraphicFramePr>
          <p:nvPr/>
        </p:nvGraphicFramePr>
        <p:xfrm>
          <a:off x="6185916" y="1316736"/>
          <a:ext cx="2606040" cy="1165860"/>
        </p:xfrm>
        <a:graphic>
          <a:graphicData uri="http://schemas.openxmlformats.org/drawingml/2006/table">
            <a:tbl>
              <a:tblPr/>
              <a:tblGrid>
                <a:gridCol w="9601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33172">
                <a:tc>
                  <a:txBody>
                    <a:bodyPr/>
                    <a:lstStyle/>
                    <a:p>
                      <a:pPr marL="0" indent="0">
                        <a:buNone/>
                      </a:pPr>
                      <a:r>
                        <a:rPr lang="en-US" sz="700" b="1" dirty="0">
                          <a:solidFill>
                            <a:srgbClr val="FFFFFF"/>
                          </a:solidFill>
                          <a:latin typeface="Calibri" pitchFamily="34" charset="0"/>
                          <a:ea typeface="Calibri" pitchFamily="34" charset="-122"/>
                          <a:cs typeface="Calibri" pitchFamily="34" charset="-120"/>
                        </a:rPr>
                        <a:t>Metric</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A5568"/>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Linear Reg</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A5568"/>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KNN (K=5)</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A5568"/>
                    </a:solidFill>
                  </a:tcPr>
                </a:tc>
                <a:extLst>
                  <a:ext uri="{0D108BD9-81ED-4DB2-BD59-A6C34878D82A}">
                    <a16:rowId xmlns:a16="http://schemas.microsoft.com/office/drawing/2014/main" val="10000"/>
                  </a:ext>
                </a:extLst>
              </a:tr>
              <a:tr h="233172">
                <a:tc>
                  <a:txBody>
                    <a:bodyPr/>
                    <a:lstStyle/>
                    <a:p>
                      <a:pPr marL="0" indent="0">
                        <a:buNone/>
                      </a:pPr>
                      <a:r>
                        <a:rPr lang="en-US" sz="700" dirty="0">
                          <a:solidFill>
                            <a:srgbClr val="2C3E50"/>
                          </a:solidFill>
                          <a:latin typeface="Calibri" pitchFamily="34" charset="0"/>
                          <a:ea typeface="Calibri" pitchFamily="34" charset="-122"/>
                          <a:cs typeface="Calibri" pitchFamily="34" charset="-120"/>
                        </a:rPr>
                        <a:t>R² Score</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700" b="1" dirty="0">
                          <a:solidFill>
                            <a:srgbClr val="C0392B"/>
                          </a:solidFill>
                          <a:latin typeface="Calibri" pitchFamily="34" charset="0"/>
                          <a:ea typeface="Calibri" pitchFamily="34" charset="-122"/>
                          <a:cs typeface="Calibri" pitchFamily="34" charset="-120"/>
                        </a:rPr>
                        <a:t>0.55</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700" b="1" dirty="0">
                          <a:solidFill>
                            <a:srgbClr val="1A7A4A"/>
                          </a:solidFill>
                          <a:latin typeface="Calibri" pitchFamily="34" charset="0"/>
                          <a:ea typeface="Calibri" pitchFamily="34" charset="-122"/>
                          <a:cs typeface="Calibri" pitchFamily="34" charset="-120"/>
                        </a:rPr>
                        <a:t>0.80 ✓</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33172">
                <a:tc>
                  <a:txBody>
                    <a:bodyPr/>
                    <a:lstStyle/>
                    <a:p>
                      <a:pPr marL="0" indent="0">
                        <a:buNone/>
                      </a:pPr>
                      <a:r>
                        <a:rPr lang="en-US" sz="700" dirty="0">
                          <a:solidFill>
                            <a:srgbClr val="2C3E50"/>
                          </a:solidFill>
                          <a:latin typeface="Calibri" pitchFamily="34" charset="0"/>
                          <a:ea typeface="Calibri" pitchFamily="34" charset="-122"/>
                          <a:cs typeface="Calibri" pitchFamily="34" charset="-120"/>
                        </a:rPr>
                        <a:t>MAE</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700" b="1" dirty="0">
                          <a:solidFill>
                            <a:srgbClr val="C0392B"/>
                          </a:solidFill>
                          <a:latin typeface="Calibri" pitchFamily="34" charset="0"/>
                          <a:ea typeface="Calibri" pitchFamily="34" charset="-122"/>
                          <a:cs typeface="Calibri" pitchFamily="34" charset="-120"/>
                        </a:rPr>
                        <a:t>1.75</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700" b="1" dirty="0">
                          <a:solidFill>
                            <a:srgbClr val="1A7A4A"/>
                          </a:solidFill>
                          <a:latin typeface="Calibri" pitchFamily="34" charset="0"/>
                          <a:ea typeface="Calibri" pitchFamily="34" charset="-122"/>
                          <a:cs typeface="Calibri" pitchFamily="34" charset="-120"/>
                        </a:rPr>
                        <a:t>0.28 ✓</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33172">
                <a:tc>
                  <a:txBody>
                    <a:bodyPr/>
                    <a:lstStyle/>
                    <a:p>
                      <a:pPr marL="0" indent="0">
                        <a:buNone/>
                      </a:pPr>
                      <a:r>
                        <a:rPr lang="en-US" sz="700" dirty="0">
                          <a:solidFill>
                            <a:srgbClr val="2C3E50"/>
                          </a:solidFill>
                          <a:latin typeface="Calibri" pitchFamily="34" charset="0"/>
                          <a:ea typeface="Calibri" pitchFamily="34" charset="-122"/>
                          <a:cs typeface="Calibri" pitchFamily="34" charset="-120"/>
                        </a:rPr>
                        <a:t>MSE</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700" b="1" dirty="0">
                          <a:solidFill>
                            <a:srgbClr val="C0392B"/>
                          </a:solidFill>
                          <a:latin typeface="Calibri" pitchFamily="34" charset="0"/>
                          <a:ea typeface="Calibri" pitchFamily="34" charset="-122"/>
                          <a:cs typeface="Calibri" pitchFamily="34" charset="-120"/>
                        </a:rPr>
                        <a:t>36.58</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700" b="1" dirty="0">
                          <a:solidFill>
                            <a:srgbClr val="1A7A4A"/>
                          </a:solidFill>
                          <a:latin typeface="Calibri" pitchFamily="34" charset="0"/>
                          <a:ea typeface="Calibri" pitchFamily="34" charset="-122"/>
                          <a:cs typeface="Calibri" pitchFamily="34" charset="-120"/>
                        </a:rPr>
                        <a:t>15.60 ✓</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33172">
                <a:tc>
                  <a:txBody>
                    <a:bodyPr/>
                    <a:lstStyle/>
                    <a:p>
                      <a:pPr marL="0" indent="0">
                        <a:buNone/>
                      </a:pPr>
                      <a:r>
                        <a:rPr lang="en-US" sz="700" dirty="0">
                          <a:solidFill>
                            <a:srgbClr val="2C3E50"/>
                          </a:solidFill>
                          <a:latin typeface="Calibri" pitchFamily="34" charset="0"/>
                          <a:ea typeface="Calibri" pitchFamily="34" charset="-122"/>
                          <a:cs typeface="Calibri" pitchFamily="34" charset="-120"/>
                        </a:rPr>
                        <a:t>ICU Cases</a:t>
                      </a:r>
                      <a:endParaRPr lang="en-US" sz="7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600" dirty="0">
                          <a:solidFill>
                            <a:srgbClr val="C0392B"/>
                          </a:solidFill>
                          <a:latin typeface="Calibri" pitchFamily="34" charset="0"/>
                          <a:ea typeface="Calibri" pitchFamily="34" charset="-122"/>
                          <a:cs typeface="Calibri" pitchFamily="34" charset="-120"/>
                        </a:rPr>
                        <a:t>Underestimates</a:t>
                      </a:r>
                      <a:endParaRPr lang="en-US" sz="6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600" dirty="0">
                          <a:solidFill>
                            <a:srgbClr val="1A7A4A"/>
                          </a:solidFill>
                          <a:latin typeface="Calibri" pitchFamily="34" charset="0"/>
                          <a:ea typeface="Calibri" pitchFamily="34" charset="-122"/>
                          <a:cs typeface="Calibri" pitchFamily="34" charset="-120"/>
                        </a:rPr>
                        <a:t>Handles Better</a:t>
                      </a:r>
                      <a:endParaRPr lang="en-US" sz="600" dirty="0">
                        <a:latin typeface="Calibri" charset="0"/>
                        <a:ea typeface="Calibri" charset="0"/>
                        <a:cs typeface="Calibri" charset="0"/>
                      </a:endParaRPr>
                    </a:p>
                  </a:txBody>
                  <a:tcPr marL="68580" marR="68580" marT="34290" marB="3429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8" name="Shape 35"/>
          <p:cNvSpPr/>
          <p:nvPr/>
        </p:nvSpPr>
        <p:spPr>
          <a:xfrm>
            <a:off x="6103620" y="2654046"/>
            <a:ext cx="2811780" cy="1303020"/>
          </a:xfrm>
          <a:prstGeom prst="rect">
            <a:avLst/>
          </a:prstGeom>
          <a:solidFill>
            <a:srgbClr val="E8F5ED"/>
          </a:solidFill>
          <a:ln w="19050">
            <a:solidFill>
              <a:srgbClr val="1A7A4A"/>
            </a:solidFill>
            <a:prstDash val="solid"/>
          </a:ln>
          <a:effectLst>
            <a:outerShdw blurRad="50800" dist="25400" dir="8100000" algn="bl" rotWithShape="0">
              <a:srgbClr val="000000">
                <a:alpha val="8000"/>
              </a:srgbClr>
            </a:outerShdw>
          </a:effectLst>
        </p:spPr>
        <p:txBody>
          <a:bodyPr/>
          <a:lstStyle/>
          <a:p>
            <a:endParaRPr lang="en-US" sz="1350"/>
          </a:p>
        </p:txBody>
      </p:sp>
      <p:sp>
        <p:nvSpPr>
          <p:cNvPr id="39" name="Shape 36"/>
          <p:cNvSpPr/>
          <p:nvPr/>
        </p:nvSpPr>
        <p:spPr>
          <a:xfrm>
            <a:off x="6103620" y="2654046"/>
            <a:ext cx="2811780" cy="288036"/>
          </a:xfrm>
          <a:prstGeom prst="rect">
            <a:avLst/>
          </a:prstGeom>
          <a:solidFill>
            <a:srgbClr val="1A7A4A"/>
          </a:solidFill>
          <a:ln w="12700">
            <a:solidFill>
              <a:srgbClr val="1A7A4A"/>
            </a:solidFill>
            <a:prstDash val="solid"/>
          </a:ln>
        </p:spPr>
        <p:txBody>
          <a:bodyPr/>
          <a:lstStyle/>
          <a:p>
            <a:endParaRPr lang="en-US" sz="1350"/>
          </a:p>
        </p:txBody>
      </p:sp>
      <p:sp>
        <p:nvSpPr>
          <p:cNvPr id="40" name="Text 37"/>
          <p:cNvSpPr/>
          <p:nvPr/>
        </p:nvSpPr>
        <p:spPr>
          <a:xfrm>
            <a:off x="6172200" y="2654046"/>
            <a:ext cx="2708910" cy="288036"/>
          </a:xfrm>
          <a:prstGeom prst="rect">
            <a:avLst/>
          </a:prstGeom>
          <a:noFill/>
          <a:ln/>
        </p:spPr>
        <p:txBody>
          <a:bodyPr wrap="square" lIns="0" tIns="0" rIns="0" bIns="0" rtlCol="0" anchor="ctr"/>
          <a:lstStyle/>
          <a:p>
            <a:r>
              <a:rPr lang="en-US" sz="750" b="1" dirty="0">
                <a:solidFill>
                  <a:srgbClr val="FFFFFF"/>
                </a:solidFill>
                <a:latin typeface="Calibri" pitchFamily="34" charset="0"/>
                <a:ea typeface="Calibri" pitchFamily="34" charset="-122"/>
                <a:cs typeface="Calibri" pitchFamily="34" charset="-120"/>
              </a:rPr>
              <a:t>✅  PREFERRED MODEL — KNN Regressor (K=5)</a:t>
            </a:r>
            <a:endParaRPr lang="en-US" sz="750" dirty="0"/>
          </a:p>
        </p:txBody>
      </p:sp>
      <p:sp>
        <p:nvSpPr>
          <p:cNvPr id="41" name="Text 38"/>
          <p:cNvSpPr/>
          <p:nvPr/>
        </p:nvSpPr>
        <p:spPr>
          <a:xfrm>
            <a:off x="6185916" y="2996946"/>
            <a:ext cx="2640330" cy="891540"/>
          </a:xfrm>
          <a:prstGeom prst="rect">
            <a:avLst/>
          </a:prstGeom>
          <a:noFill/>
          <a:ln/>
        </p:spPr>
        <p:txBody>
          <a:bodyPr wrap="square" lIns="19050" tIns="38100" rIns="0" bIns="0" rtlCol="0" anchor="t"/>
          <a:lstStyle/>
          <a:p>
            <a:pPr marL="257175" indent="-257175">
              <a:buSzPct val="100000"/>
              <a:buChar char="•"/>
            </a:pPr>
            <a:r>
              <a:rPr lang="en-US" sz="675" dirty="0">
                <a:solidFill>
                  <a:srgbClr val="2C3E50"/>
                </a:solidFill>
                <a:latin typeface="Calibri" pitchFamily="34" charset="0"/>
                <a:ea typeface="Calibri" pitchFamily="34" charset="-122"/>
                <a:cs typeface="Calibri" pitchFamily="34" charset="-120"/>
              </a:rPr>
              <a:t>25% higher R² (0.80 vs 0.55) across same features &amp; split</a:t>
            </a:r>
            <a:endParaRPr lang="en-US" sz="675" dirty="0"/>
          </a:p>
          <a:p>
            <a:pPr marL="257175" indent="-257175">
              <a:buSzPct val="100000"/>
              <a:buChar char="•"/>
            </a:pPr>
            <a:r>
              <a:rPr lang="en-US" sz="675" dirty="0">
                <a:solidFill>
                  <a:srgbClr val="2C3E50"/>
                </a:solidFill>
                <a:latin typeface="Calibri" pitchFamily="34" charset="0"/>
                <a:ea typeface="Calibri" pitchFamily="34" charset="-122"/>
                <a:cs typeface="Calibri" pitchFamily="34" charset="-120"/>
              </a:rPr>
              <a:t>6× lower MAE (0.28 vs 1.75) — reliable for daily stock planning</a:t>
            </a:r>
            <a:endParaRPr lang="en-US" sz="675" dirty="0"/>
          </a:p>
          <a:p>
            <a:pPr marL="257175" indent="-257175">
              <a:buSzPct val="100000"/>
              <a:buChar char="•"/>
            </a:pPr>
            <a:r>
              <a:rPr lang="en-US" sz="675" dirty="0">
                <a:solidFill>
                  <a:srgbClr val="2C3E50"/>
                </a:solidFill>
                <a:latin typeface="Calibri" pitchFamily="34" charset="0"/>
                <a:ea typeface="Calibri" pitchFamily="34" charset="-122"/>
                <a:cs typeface="Calibri" pitchFamily="34" charset="-120"/>
              </a:rPr>
              <a:t>MSE reduced by 57% — far fewer large prediction errors</a:t>
            </a:r>
            <a:endParaRPr lang="en-US" sz="675" dirty="0"/>
          </a:p>
          <a:p>
            <a:pPr marL="257175" indent="-257175">
              <a:buSzPct val="100000"/>
              <a:buChar char="•"/>
            </a:pPr>
            <a:r>
              <a:rPr lang="en-US" sz="675" dirty="0">
                <a:solidFill>
                  <a:srgbClr val="2C3E50"/>
                </a:solidFill>
                <a:latin typeface="Calibri" pitchFamily="34" charset="0"/>
                <a:ea typeface="Calibri" pitchFamily="34" charset="-122"/>
                <a:cs typeface="Calibri" pitchFamily="34" charset="-120"/>
              </a:rPr>
              <a:t>Supports BO2: accurate Total Consumption forecasts per drug &amp; facility</a:t>
            </a:r>
            <a:endParaRPr lang="en-US" sz="675" dirty="0"/>
          </a:p>
        </p:txBody>
      </p:sp>
      <p:sp>
        <p:nvSpPr>
          <p:cNvPr id="42" name="Shape 39"/>
          <p:cNvSpPr/>
          <p:nvPr/>
        </p:nvSpPr>
        <p:spPr>
          <a:xfrm>
            <a:off x="205740" y="4032504"/>
            <a:ext cx="8709660" cy="925830"/>
          </a:xfrm>
          <a:prstGeom prst="rect">
            <a:avLst/>
          </a:prstGeom>
          <a:solidFill>
            <a:srgbClr val="FFFFFF"/>
          </a:solidFill>
          <a:ln w="6350">
            <a:solidFill>
              <a:srgbClr val="CBD5E0"/>
            </a:solidFill>
            <a:prstDash val="solid"/>
          </a:ln>
          <a:effectLst>
            <a:outerShdw blurRad="38100" dist="12700" dir="16200000" algn="bl" rotWithShape="0">
              <a:srgbClr val="000000">
                <a:alpha val="6000"/>
              </a:srgbClr>
            </a:outerShdw>
          </a:effectLst>
        </p:spPr>
        <p:txBody>
          <a:bodyPr/>
          <a:lstStyle/>
          <a:p>
            <a:endParaRPr lang="en-US" sz="1350"/>
          </a:p>
        </p:txBody>
      </p:sp>
      <p:sp>
        <p:nvSpPr>
          <p:cNvPr id="43" name="Text 40"/>
          <p:cNvSpPr/>
          <p:nvPr/>
        </p:nvSpPr>
        <p:spPr>
          <a:xfrm>
            <a:off x="308610" y="4046220"/>
            <a:ext cx="8503920" cy="891540"/>
          </a:xfrm>
          <a:prstGeom prst="rect">
            <a:avLst/>
          </a:prstGeom>
          <a:noFill/>
          <a:ln/>
        </p:spPr>
        <p:txBody>
          <a:bodyPr wrap="square" lIns="38100" tIns="38100" rIns="0" bIns="0" rtlCol="0" anchor="t"/>
          <a:lstStyle/>
          <a:p>
            <a:pPr marL="257175" indent="-257175">
              <a:buSzPct val="100000"/>
              <a:buChar char="•"/>
            </a:pPr>
            <a:r>
              <a:rPr lang="en-US" sz="675" b="1" dirty="0">
                <a:solidFill>
                  <a:srgbClr val="2C3E50"/>
                </a:solidFill>
                <a:latin typeface="Calibri" pitchFamily="34" charset="0"/>
                <a:ea typeface="Calibri" pitchFamily="34" charset="-122"/>
                <a:cs typeface="Calibri" pitchFamily="34" charset="-120"/>
              </a:rPr>
              <a:t>KNN outperforms Linear Regression across all 3 error metrics using identical 5 features and 80/20 data split.</a:t>
            </a:r>
            <a:endParaRPr lang="en-US" sz="675" dirty="0"/>
          </a:p>
          <a:p>
            <a:pPr marL="257175" indent="-257175">
              <a:buSzPct val="100000"/>
              <a:buChar char="•"/>
            </a:pPr>
            <a:r>
              <a:rPr lang="en-US" sz="675" dirty="0">
                <a:solidFill>
                  <a:srgbClr val="2C3E50"/>
                </a:solidFill>
                <a:latin typeface="Calibri" pitchFamily="34" charset="0"/>
                <a:ea typeface="Calibri" pitchFamily="34" charset="-122"/>
                <a:cs typeface="Calibri" pitchFamily="34" charset="-120"/>
              </a:rPr>
              <a:t>Linear Regression's linear assumption fails for medicine consumption — demand varies non-linearly by drug type, patient profile and wastage behaviour.</a:t>
            </a:r>
            <a:endParaRPr lang="en-US" sz="675" dirty="0"/>
          </a:p>
          <a:p>
            <a:pPr marL="257175" indent="-257175">
              <a:buSzPct val="100000"/>
              <a:buChar char="•"/>
            </a:pPr>
            <a:r>
              <a:rPr lang="en-US" sz="675" dirty="0">
                <a:solidFill>
                  <a:srgbClr val="2C3E50"/>
                </a:solidFill>
                <a:latin typeface="Calibri" pitchFamily="34" charset="0"/>
                <a:ea typeface="Calibri" pitchFamily="34" charset="-122"/>
                <a:cs typeface="Calibri" pitchFamily="34" charset="-120"/>
              </a:rPr>
              <a:t>For ICU/critical care medicines, both models need additional features (diagnosis type, department) to further improve prediction accuracy.</a:t>
            </a:r>
            <a:endParaRPr lang="en-US" sz="675"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493776"/>
          </a:xfrm>
          <a:prstGeom prst="rect">
            <a:avLst/>
          </a:prstGeom>
          <a:solidFill>
            <a:srgbClr val="0D2B5C"/>
          </a:solidFill>
          <a:ln w="12700">
            <a:solidFill>
              <a:srgbClr val="0D2B5C"/>
            </a:solidFill>
            <a:prstDash val="solid"/>
          </a:ln>
        </p:spPr>
        <p:txBody>
          <a:bodyPr/>
          <a:lstStyle/>
          <a:p>
            <a:endParaRPr lang="en-US" sz="1350"/>
          </a:p>
        </p:txBody>
      </p:sp>
      <p:sp>
        <p:nvSpPr>
          <p:cNvPr id="3" name="Text 1"/>
          <p:cNvSpPr/>
          <p:nvPr/>
        </p:nvSpPr>
        <p:spPr>
          <a:xfrm>
            <a:off x="240030" y="0"/>
            <a:ext cx="7680960" cy="493776"/>
          </a:xfrm>
          <a:prstGeom prst="rect">
            <a:avLst/>
          </a:prstGeom>
          <a:noFill/>
          <a:ln/>
        </p:spPr>
        <p:txBody>
          <a:bodyPr wrap="square" lIns="0" tIns="0" rIns="0" bIns="0" rtlCol="0" anchor="ctr"/>
          <a:lstStyle/>
          <a:p>
            <a:r>
              <a:rPr lang="en-US" sz="1500" b="1" dirty="0">
                <a:solidFill>
                  <a:srgbClr val="FFFFFF"/>
                </a:solidFill>
                <a:latin typeface="Calibri" pitchFamily="34" charset="0"/>
                <a:ea typeface="Calibri" pitchFamily="34" charset="-122"/>
                <a:cs typeface="Calibri" pitchFamily="34" charset="-120"/>
              </a:rPr>
              <a:t>Machine Learning: Stockout Classification — Logistic Regression</a:t>
            </a:r>
            <a:endParaRPr lang="en-US" sz="1500" dirty="0"/>
          </a:p>
        </p:txBody>
      </p:sp>
      <p:sp>
        <p:nvSpPr>
          <p:cNvPr id="4" name="Shape 2"/>
          <p:cNvSpPr/>
          <p:nvPr/>
        </p:nvSpPr>
        <p:spPr>
          <a:xfrm>
            <a:off x="7968996" y="89154"/>
            <a:ext cx="466344" cy="301752"/>
          </a:xfrm>
          <a:prstGeom prst="rect">
            <a:avLst/>
          </a:prstGeom>
          <a:solidFill>
            <a:srgbClr val="0E7C86"/>
          </a:solidFill>
          <a:ln w="12700">
            <a:solidFill>
              <a:srgbClr val="0E7C86"/>
            </a:solidFill>
            <a:prstDash val="solid"/>
          </a:ln>
        </p:spPr>
        <p:txBody>
          <a:bodyPr/>
          <a:lstStyle/>
          <a:p>
            <a:endParaRPr lang="en-US" sz="1350"/>
          </a:p>
        </p:txBody>
      </p:sp>
      <p:sp>
        <p:nvSpPr>
          <p:cNvPr id="5" name="Text 3"/>
          <p:cNvSpPr/>
          <p:nvPr/>
        </p:nvSpPr>
        <p:spPr>
          <a:xfrm>
            <a:off x="7968996" y="89154"/>
            <a:ext cx="466344" cy="301752"/>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BO2</a:t>
            </a:r>
            <a:endParaRPr lang="en-US" sz="750" dirty="0"/>
          </a:p>
        </p:txBody>
      </p:sp>
      <p:sp>
        <p:nvSpPr>
          <p:cNvPr id="6" name="Shape 4"/>
          <p:cNvSpPr/>
          <p:nvPr/>
        </p:nvSpPr>
        <p:spPr>
          <a:xfrm>
            <a:off x="8503920" y="89154"/>
            <a:ext cx="466344" cy="301752"/>
          </a:xfrm>
          <a:prstGeom prst="rect">
            <a:avLst/>
          </a:prstGeom>
          <a:solidFill>
            <a:srgbClr val="0E7C86"/>
          </a:solidFill>
          <a:ln w="12700">
            <a:solidFill>
              <a:srgbClr val="0E7C86"/>
            </a:solidFill>
            <a:prstDash val="solid"/>
          </a:ln>
        </p:spPr>
        <p:txBody>
          <a:bodyPr/>
          <a:lstStyle/>
          <a:p>
            <a:endParaRPr lang="en-US" sz="1350"/>
          </a:p>
        </p:txBody>
      </p:sp>
      <p:sp>
        <p:nvSpPr>
          <p:cNvPr id="7" name="Text 5"/>
          <p:cNvSpPr/>
          <p:nvPr/>
        </p:nvSpPr>
        <p:spPr>
          <a:xfrm>
            <a:off x="8503920" y="89154"/>
            <a:ext cx="466344" cy="301752"/>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BO4</a:t>
            </a:r>
            <a:endParaRPr lang="en-US" sz="750" dirty="0"/>
          </a:p>
        </p:txBody>
      </p:sp>
      <p:sp>
        <p:nvSpPr>
          <p:cNvPr id="8" name="Shape 6"/>
          <p:cNvSpPr/>
          <p:nvPr/>
        </p:nvSpPr>
        <p:spPr>
          <a:xfrm>
            <a:off x="205740" y="562356"/>
            <a:ext cx="8709660" cy="274320"/>
          </a:xfrm>
          <a:prstGeom prst="rect">
            <a:avLst/>
          </a:prstGeom>
          <a:solidFill>
            <a:srgbClr val="0D2B5C"/>
          </a:solidFill>
          <a:ln w="12700">
            <a:solidFill>
              <a:srgbClr val="0D2B5C"/>
            </a:solidFill>
            <a:prstDash val="solid"/>
          </a:ln>
        </p:spPr>
        <p:txBody>
          <a:bodyPr/>
          <a:lstStyle/>
          <a:p>
            <a:endParaRPr lang="en-US" sz="1350"/>
          </a:p>
        </p:txBody>
      </p:sp>
      <p:sp>
        <p:nvSpPr>
          <p:cNvPr id="9" name="Text 7"/>
          <p:cNvSpPr/>
          <p:nvPr/>
        </p:nvSpPr>
        <p:spPr>
          <a:xfrm>
            <a:off x="308610" y="562356"/>
            <a:ext cx="8503920" cy="274320"/>
          </a:xfrm>
          <a:prstGeom prst="rect">
            <a:avLst/>
          </a:prstGeom>
          <a:noFill/>
          <a:ln/>
        </p:spPr>
        <p:txBody>
          <a:bodyPr wrap="square" lIns="0" tIns="0" rIns="0" bIns="0" rtlCol="0" anchor="ctr"/>
          <a:lstStyle/>
          <a:p>
            <a:r>
              <a:rPr lang="en-US" sz="788" b="1" dirty="0">
                <a:solidFill>
                  <a:srgbClr val="FFFFFF"/>
                </a:solidFill>
                <a:latin typeface="Calibri" pitchFamily="34" charset="0"/>
                <a:ea typeface="Calibri" pitchFamily="34" charset="-122"/>
                <a:cs typeface="Calibri" pitchFamily="34" charset="-120"/>
              </a:rPr>
              <a:t>LOGISTIC REGRESSION — Stockout Risk Prediction  (Binary Classification  |  class_weight='balanced'  |  max_iter=1000)</a:t>
            </a:r>
            <a:endParaRPr lang="en-US" sz="788" dirty="0"/>
          </a:p>
        </p:txBody>
      </p:sp>
      <p:sp>
        <p:nvSpPr>
          <p:cNvPr id="10" name="Shape 8"/>
          <p:cNvSpPr/>
          <p:nvPr/>
        </p:nvSpPr>
        <p:spPr>
          <a:xfrm>
            <a:off x="205740" y="891540"/>
            <a:ext cx="8709660" cy="274320"/>
          </a:xfrm>
          <a:prstGeom prst="rect">
            <a:avLst/>
          </a:prstGeom>
          <a:solidFill>
            <a:srgbClr val="E8EEF8"/>
          </a:solidFill>
          <a:ln w="9525">
            <a:solidFill>
              <a:srgbClr val="0D2B5C"/>
            </a:solidFill>
            <a:prstDash val="solid"/>
          </a:ln>
        </p:spPr>
        <p:txBody>
          <a:bodyPr/>
          <a:lstStyle/>
          <a:p>
            <a:endParaRPr lang="en-US" sz="1350"/>
          </a:p>
        </p:txBody>
      </p:sp>
      <p:sp>
        <p:nvSpPr>
          <p:cNvPr id="11" name="Text 9"/>
          <p:cNvSpPr/>
          <p:nvPr/>
        </p:nvSpPr>
        <p:spPr>
          <a:xfrm>
            <a:off x="308610" y="891540"/>
            <a:ext cx="8503920" cy="274320"/>
          </a:xfrm>
          <a:prstGeom prst="rect">
            <a:avLst/>
          </a:prstGeom>
          <a:noFill/>
          <a:ln/>
        </p:spPr>
        <p:txBody>
          <a:bodyPr wrap="square" lIns="0" tIns="0" rIns="0" bIns="0" rtlCol="0" anchor="ctr"/>
          <a:lstStyle/>
          <a:p>
            <a:r>
              <a:rPr lang="en-US" sz="713" b="1" dirty="0">
                <a:solidFill>
                  <a:srgbClr val="0D2B5C"/>
                </a:solidFill>
                <a:latin typeface="Calibri" pitchFamily="34" charset="0"/>
                <a:ea typeface="Calibri" pitchFamily="34" charset="-122"/>
                <a:cs typeface="Calibri" pitchFamily="34" charset="-120"/>
              </a:rPr>
              <a:t>Features (X): </a:t>
            </a:r>
            <a:r>
              <a:rPr lang="en-US" sz="713" dirty="0">
                <a:solidFill>
                  <a:srgbClr val="2C3E50"/>
                </a:solidFill>
                <a:latin typeface="Calibri" pitchFamily="34" charset="0"/>
                <a:ea typeface="Calibri" pitchFamily="34" charset="-122"/>
                <a:cs typeface="Calibri" pitchFamily="34" charset="-120"/>
              </a:rPr>
              <a:t>Wastage_Flag  |  Daily_Consumption_Units  |  Wastage_Units  |  Bed_Days</a:t>
            </a:r>
            <a:r>
              <a:rPr lang="en-US" sz="713" b="1" dirty="0">
                <a:solidFill>
                  <a:srgbClr val="0D2B5C"/>
                </a:solidFill>
                <a:latin typeface="Calibri" pitchFamily="34" charset="0"/>
                <a:ea typeface="Calibri" pitchFamily="34" charset="-122"/>
                <a:cs typeface="Calibri" pitchFamily="34" charset="-120"/>
              </a:rPr>
              <a:t>     Target (y): </a:t>
            </a:r>
            <a:r>
              <a:rPr lang="en-US" sz="713" dirty="0">
                <a:solidFill>
                  <a:srgbClr val="2C3E50"/>
                </a:solidFill>
                <a:latin typeface="Calibri" pitchFamily="34" charset="0"/>
                <a:ea typeface="Calibri" pitchFamily="34" charset="-122"/>
                <a:cs typeface="Calibri" pitchFamily="34" charset="-120"/>
              </a:rPr>
              <a:t>Stockout_Flag  |  Split: 80/20  |  Stratified  |  Scaler: StandardScaler</a:t>
            </a:r>
            <a:endParaRPr lang="en-US" sz="713" dirty="0"/>
          </a:p>
        </p:txBody>
      </p:sp>
      <p:sp>
        <p:nvSpPr>
          <p:cNvPr id="12" name="Shape 10"/>
          <p:cNvSpPr/>
          <p:nvPr/>
        </p:nvSpPr>
        <p:spPr>
          <a:xfrm>
            <a:off x="205740" y="1248156"/>
            <a:ext cx="1645920" cy="514350"/>
          </a:xfrm>
          <a:prstGeom prst="rect">
            <a:avLst/>
          </a:prstGeom>
          <a:solidFill>
            <a:srgbClr val="E8EEF8"/>
          </a:solidFill>
          <a:ln w="15240">
            <a:solidFill>
              <a:srgbClr val="0D2B5C"/>
            </a:solidFill>
            <a:prstDash val="solid"/>
          </a:ln>
          <a:effectLst>
            <a:outerShdw blurRad="50800" dist="25400" dir="8100000" algn="bl" rotWithShape="0">
              <a:srgbClr val="000000">
                <a:alpha val="8000"/>
              </a:srgbClr>
            </a:outerShdw>
          </a:effectLst>
        </p:spPr>
        <p:txBody>
          <a:bodyPr/>
          <a:lstStyle/>
          <a:p>
            <a:endParaRPr lang="en-US" sz="1350"/>
          </a:p>
        </p:txBody>
      </p:sp>
      <p:sp>
        <p:nvSpPr>
          <p:cNvPr id="13" name="Text 11"/>
          <p:cNvSpPr/>
          <p:nvPr/>
        </p:nvSpPr>
        <p:spPr>
          <a:xfrm>
            <a:off x="205740" y="1261872"/>
            <a:ext cx="1645920" cy="301752"/>
          </a:xfrm>
          <a:prstGeom prst="rect">
            <a:avLst/>
          </a:prstGeom>
          <a:noFill/>
          <a:ln/>
        </p:spPr>
        <p:txBody>
          <a:bodyPr wrap="square" lIns="0" tIns="0" rIns="0" bIns="0" rtlCol="0" anchor="ctr"/>
          <a:lstStyle/>
          <a:p>
            <a:pPr algn="ctr"/>
            <a:r>
              <a:rPr lang="en-US" sz="1500" b="1" dirty="0">
                <a:solidFill>
                  <a:srgbClr val="0D2B5C"/>
                </a:solidFill>
                <a:latin typeface="Calibri" pitchFamily="34" charset="0"/>
                <a:ea typeface="Calibri" pitchFamily="34" charset="-122"/>
                <a:cs typeface="Calibri" pitchFamily="34" charset="-120"/>
              </a:rPr>
              <a:t>88%</a:t>
            </a:r>
            <a:endParaRPr lang="en-US" sz="1500" dirty="0"/>
          </a:p>
        </p:txBody>
      </p:sp>
      <p:sp>
        <p:nvSpPr>
          <p:cNvPr id="14" name="Text 12"/>
          <p:cNvSpPr/>
          <p:nvPr/>
        </p:nvSpPr>
        <p:spPr>
          <a:xfrm>
            <a:off x="2057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Accuracy</a:t>
            </a:r>
            <a:endParaRPr lang="en-US" sz="638" dirty="0"/>
          </a:p>
        </p:txBody>
      </p:sp>
      <p:sp>
        <p:nvSpPr>
          <p:cNvPr id="15" name="Shape 13"/>
          <p:cNvSpPr/>
          <p:nvPr/>
        </p:nvSpPr>
        <p:spPr>
          <a:xfrm>
            <a:off x="1920240" y="1248156"/>
            <a:ext cx="1645920" cy="514350"/>
          </a:xfrm>
          <a:prstGeom prst="rect">
            <a:avLst/>
          </a:prstGeom>
          <a:solidFill>
            <a:srgbClr val="E8F5ED"/>
          </a:solidFill>
          <a:ln w="15240">
            <a:solidFill>
              <a:srgbClr val="1A7A4A"/>
            </a:solidFill>
            <a:prstDash val="solid"/>
          </a:ln>
          <a:effectLst>
            <a:outerShdw blurRad="50800" dist="25400" dir="8100000" algn="bl" rotWithShape="0">
              <a:srgbClr val="000000">
                <a:alpha val="8000"/>
              </a:srgbClr>
            </a:outerShdw>
          </a:effectLst>
        </p:spPr>
        <p:txBody>
          <a:bodyPr/>
          <a:lstStyle/>
          <a:p>
            <a:endParaRPr lang="en-US" sz="1350"/>
          </a:p>
        </p:txBody>
      </p:sp>
      <p:sp>
        <p:nvSpPr>
          <p:cNvPr id="16" name="Text 14"/>
          <p:cNvSpPr/>
          <p:nvPr/>
        </p:nvSpPr>
        <p:spPr>
          <a:xfrm>
            <a:off x="1920240" y="1261872"/>
            <a:ext cx="1645920" cy="301752"/>
          </a:xfrm>
          <a:prstGeom prst="rect">
            <a:avLst/>
          </a:prstGeom>
          <a:noFill/>
          <a:ln/>
        </p:spPr>
        <p:txBody>
          <a:bodyPr wrap="square" lIns="0" tIns="0" rIns="0" bIns="0" rtlCol="0" anchor="ctr"/>
          <a:lstStyle/>
          <a:p>
            <a:pPr algn="ctr"/>
            <a:r>
              <a:rPr lang="en-US" sz="1500" b="1" dirty="0">
                <a:solidFill>
                  <a:srgbClr val="1A7A4A"/>
                </a:solidFill>
                <a:latin typeface="Calibri" pitchFamily="34" charset="0"/>
                <a:ea typeface="Calibri" pitchFamily="34" charset="-122"/>
                <a:cs typeface="Calibri" pitchFamily="34" charset="-120"/>
              </a:rPr>
              <a:t>1.00</a:t>
            </a:r>
            <a:endParaRPr lang="en-US" sz="1500" dirty="0"/>
          </a:p>
        </p:txBody>
      </p:sp>
      <p:sp>
        <p:nvSpPr>
          <p:cNvPr id="17" name="Text 15"/>
          <p:cNvSpPr/>
          <p:nvPr/>
        </p:nvSpPr>
        <p:spPr>
          <a:xfrm>
            <a:off x="19202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Recall (Stockout)</a:t>
            </a:r>
            <a:endParaRPr lang="en-US" sz="638" dirty="0"/>
          </a:p>
        </p:txBody>
      </p:sp>
      <p:sp>
        <p:nvSpPr>
          <p:cNvPr id="18" name="Shape 16"/>
          <p:cNvSpPr/>
          <p:nvPr/>
        </p:nvSpPr>
        <p:spPr>
          <a:xfrm>
            <a:off x="3634740" y="1248156"/>
            <a:ext cx="1645920" cy="514350"/>
          </a:xfrm>
          <a:prstGeom prst="rect">
            <a:avLst/>
          </a:prstGeom>
          <a:solidFill>
            <a:srgbClr val="FEFCE8"/>
          </a:solidFill>
          <a:ln w="15240">
            <a:solidFill>
              <a:srgbClr val="B7791F"/>
            </a:solidFill>
            <a:prstDash val="solid"/>
          </a:ln>
          <a:effectLst>
            <a:outerShdw blurRad="50800" dist="25400" dir="8100000" algn="bl" rotWithShape="0">
              <a:srgbClr val="000000">
                <a:alpha val="8000"/>
              </a:srgbClr>
            </a:outerShdw>
          </a:effectLst>
        </p:spPr>
        <p:txBody>
          <a:bodyPr/>
          <a:lstStyle/>
          <a:p>
            <a:endParaRPr lang="en-US" sz="1350"/>
          </a:p>
        </p:txBody>
      </p:sp>
      <p:sp>
        <p:nvSpPr>
          <p:cNvPr id="19" name="Text 17"/>
          <p:cNvSpPr/>
          <p:nvPr/>
        </p:nvSpPr>
        <p:spPr>
          <a:xfrm>
            <a:off x="3634740" y="1261872"/>
            <a:ext cx="1645920" cy="301752"/>
          </a:xfrm>
          <a:prstGeom prst="rect">
            <a:avLst/>
          </a:prstGeom>
          <a:noFill/>
          <a:ln/>
        </p:spPr>
        <p:txBody>
          <a:bodyPr wrap="square" lIns="0" tIns="0" rIns="0" bIns="0" rtlCol="0" anchor="ctr"/>
          <a:lstStyle/>
          <a:p>
            <a:pPr algn="ctr"/>
            <a:r>
              <a:rPr lang="en-US" sz="1500" b="1" dirty="0">
                <a:solidFill>
                  <a:srgbClr val="B7791F"/>
                </a:solidFill>
                <a:latin typeface="Calibri" pitchFamily="34" charset="0"/>
                <a:ea typeface="Calibri" pitchFamily="34" charset="-122"/>
                <a:cs typeface="Calibri" pitchFamily="34" charset="-120"/>
              </a:rPr>
              <a:t>0.20</a:t>
            </a:r>
            <a:endParaRPr lang="en-US" sz="1500" dirty="0"/>
          </a:p>
        </p:txBody>
      </p:sp>
      <p:sp>
        <p:nvSpPr>
          <p:cNvPr id="20" name="Text 18"/>
          <p:cNvSpPr/>
          <p:nvPr/>
        </p:nvSpPr>
        <p:spPr>
          <a:xfrm>
            <a:off x="36347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Precision</a:t>
            </a:r>
            <a:endParaRPr lang="en-US" sz="638" dirty="0"/>
          </a:p>
        </p:txBody>
      </p:sp>
      <p:sp>
        <p:nvSpPr>
          <p:cNvPr id="21" name="Shape 19"/>
          <p:cNvSpPr/>
          <p:nvPr/>
        </p:nvSpPr>
        <p:spPr>
          <a:xfrm>
            <a:off x="5349240" y="1248156"/>
            <a:ext cx="1645920" cy="514350"/>
          </a:xfrm>
          <a:prstGeom prst="rect">
            <a:avLst/>
          </a:prstGeom>
          <a:solidFill>
            <a:srgbClr val="FEFCE8"/>
          </a:solidFill>
          <a:ln w="15240">
            <a:solidFill>
              <a:srgbClr val="B7791F"/>
            </a:solidFill>
            <a:prstDash val="solid"/>
          </a:ln>
          <a:effectLst>
            <a:outerShdw blurRad="50800" dist="25400" dir="8100000" algn="bl" rotWithShape="0">
              <a:srgbClr val="000000">
                <a:alpha val="8000"/>
              </a:srgbClr>
            </a:outerShdw>
          </a:effectLst>
        </p:spPr>
        <p:txBody>
          <a:bodyPr/>
          <a:lstStyle/>
          <a:p>
            <a:endParaRPr lang="en-US" sz="1350"/>
          </a:p>
        </p:txBody>
      </p:sp>
      <p:sp>
        <p:nvSpPr>
          <p:cNvPr id="22" name="Text 20"/>
          <p:cNvSpPr/>
          <p:nvPr/>
        </p:nvSpPr>
        <p:spPr>
          <a:xfrm>
            <a:off x="5349240" y="1261872"/>
            <a:ext cx="1645920" cy="301752"/>
          </a:xfrm>
          <a:prstGeom prst="rect">
            <a:avLst/>
          </a:prstGeom>
          <a:noFill/>
          <a:ln/>
        </p:spPr>
        <p:txBody>
          <a:bodyPr wrap="square" lIns="0" tIns="0" rIns="0" bIns="0" rtlCol="0" anchor="ctr"/>
          <a:lstStyle/>
          <a:p>
            <a:pPr algn="ctr"/>
            <a:r>
              <a:rPr lang="en-US" sz="1500" b="1" dirty="0">
                <a:solidFill>
                  <a:srgbClr val="B7791F"/>
                </a:solidFill>
                <a:latin typeface="Calibri" pitchFamily="34" charset="0"/>
                <a:ea typeface="Calibri" pitchFamily="34" charset="-122"/>
                <a:cs typeface="Calibri" pitchFamily="34" charset="-120"/>
              </a:rPr>
              <a:t>0.33</a:t>
            </a:r>
            <a:endParaRPr lang="en-US" sz="1500" dirty="0"/>
          </a:p>
        </p:txBody>
      </p:sp>
      <p:sp>
        <p:nvSpPr>
          <p:cNvPr id="23" name="Text 21"/>
          <p:cNvSpPr/>
          <p:nvPr/>
        </p:nvSpPr>
        <p:spPr>
          <a:xfrm>
            <a:off x="53492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F1 Score</a:t>
            </a:r>
            <a:endParaRPr lang="en-US" sz="638" dirty="0"/>
          </a:p>
        </p:txBody>
      </p:sp>
      <p:sp>
        <p:nvSpPr>
          <p:cNvPr id="24" name="Shape 22"/>
          <p:cNvSpPr/>
          <p:nvPr/>
        </p:nvSpPr>
        <p:spPr>
          <a:xfrm>
            <a:off x="7063740" y="1248156"/>
            <a:ext cx="1645920" cy="514350"/>
          </a:xfrm>
          <a:prstGeom prst="rect">
            <a:avLst/>
          </a:prstGeom>
          <a:solidFill>
            <a:srgbClr val="E8F5ED"/>
          </a:solidFill>
          <a:ln w="15240">
            <a:solidFill>
              <a:srgbClr val="1A7A4A"/>
            </a:solidFill>
            <a:prstDash val="solid"/>
          </a:ln>
          <a:effectLst>
            <a:outerShdw blurRad="50800" dist="25400" dir="8100000" algn="bl" rotWithShape="0">
              <a:srgbClr val="000000">
                <a:alpha val="8000"/>
              </a:srgbClr>
            </a:outerShdw>
          </a:effectLst>
        </p:spPr>
        <p:txBody>
          <a:bodyPr/>
          <a:lstStyle/>
          <a:p>
            <a:endParaRPr lang="en-US" sz="1350"/>
          </a:p>
        </p:txBody>
      </p:sp>
      <p:sp>
        <p:nvSpPr>
          <p:cNvPr id="25" name="Text 23"/>
          <p:cNvSpPr/>
          <p:nvPr/>
        </p:nvSpPr>
        <p:spPr>
          <a:xfrm>
            <a:off x="7063740" y="1261872"/>
            <a:ext cx="1645920" cy="301752"/>
          </a:xfrm>
          <a:prstGeom prst="rect">
            <a:avLst/>
          </a:prstGeom>
          <a:noFill/>
          <a:ln/>
        </p:spPr>
        <p:txBody>
          <a:bodyPr wrap="square" lIns="0" tIns="0" rIns="0" bIns="0" rtlCol="0" anchor="ctr"/>
          <a:lstStyle/>
          <a:p>
            <a:pPr algn="ctr"/>
            <a:r>
              <a:rPr lang="en-US" sz="1500" b="1" dirty="0">
                <a:solidFill>
                  <a:srgbClr val="1A7A4A"/>
                </a:solidFill>
                <a:latin typeface="Calibri" pitchFamily="34" charset="0"/>
                <a:ea typeface="Calibri" pitchFamily="34" charset="-122"/>
                <a:cs typeface="Calibri" pitchFamily="34" charset="-120"/>
              </a:rPr>
              <a:t>0.9881</a:t>
            </a:r>
            <a:endParaRPr lang="en-US" sz="1500" dirty="0"/>
          </a:p>
        </p:txBody>
      </p:sp>
      <p:sp>
        <p:nvSpPr>
          <p:cNvPr id="26" name="Text 24"/>
          <p:cNvSpPr/>
          <p:nvPr/>
        </p:nvSpPr>
        <p:spPr>
          <a:xfrm>
            <a:off x="70637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ROC-AUC</a:t>
            </a:r>
            <a:endParaRPr lang="en-US" sz="638" dirty="0"/>
          </a:p>
        </p:txBody>
      </p:sp>
      <p:sp>
        <p:nvSpPr>
          <p:cNvPr id="27" name="Shape 25"/>
          <p:cNvSpPr/>
          <p:nvPr/>
        </p:nvSpPr>
        <p:spPr>
          <a:xfrm>
            <a:off x="205740" y="1865376"/>
            <a:ext cx="2743200" cy="1817370"/>
          </a:xfrm>
          <a:prstGeom prst="rect">
            <a:avLst/>
          </a:prstGeom>
          <a:solidFill>
            <a:srgbClr val="FFFFFF"/>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28" name="Shape 26"/>
          <p:cNvSpPr/>
          <p:nvPr/>
        </p:nvSpPr>
        <p:spPr>
          <a:xfrm>
            <a:off x="205740" y="1865376"/>
            <a:ext cx="2743200" cy="260604"/>
          </a:xfrm>
          <a:prstGeom prst="rect">
            <a:avLst/>
          </a:prstGeom>
          <a:solidFill>
            <a:srgbClr val="0D2B5C"/>
          </a:solidFill>
          <a:ln w="12700">
            <a:solidFill>
              <a:srgbClr val="0D2B5C"/>
            </a:solidFill>
            <a:prstDash val="solid"/>
          </a:ln>
        </p:spPr>
        <p:txBody>
          <a:bodyPr/>
          <a:lstStyle/>
          <a:p>
            <a:endParaRPr lang="en-US" sz="1350"/>
          </a:p>
        </p:txBody>
      </p:sp>
      <p:sp>
        <p:nvSpPr>
          <p:cNvPr id="29" name="Text 27"/>
          <p:cNvSpPr/>
          <p:nvPr/>
        </p:nvSpPr>
        <p:spPr>
          <a:xfrm>
            <a:off x="205740" y="1865376"/>
            <a:ext cx="2743200" cy="260604"/>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Confusion Matrix</a:t>
            </a:r>
            <a:endParaRPr lang="en-US" sz="750" dirty="0"/>
          </a:p>
        </p:txBody>
      </p:sp>
      <p:sp>
        <p:nvSpPr>
          <p:cNvPr id="30" name="Text 28"/>
          <p:cNvSpPr/>
          <p:nvPr/>
        </p:nvSpPr>
        <p:spPr>
          <a:xfrm>
            <a:off x="226314" y="2160270"/>
            <a:ext cx="857250" cy="425196"/>
          </a:xfrm>
          <a:prstGeom prst="rect">
            <a:avLst/>
          </a:prstGeom>
          <a:noFill/>
          <a:ln/>
        </p:spPr>
        <p:txBody>
          <a:bodyPr wrap="square" lIns="0" tIns="0" rIns="0" bIns="0" rtlCol="0" anchor="ctr"/>
          <a:lstStyle/>
          <a:p>
            <a:pPr algn="ctr"/>
            <a:endParaRPr lang="en-US" sz="563" dirty="0"/>
          </a:p>
        </p:txBody>
      </p:sp>
      <p:sp>
        <p:nvSpPr>
          <p:cNvPr id="31" name="Text 29"/>
          <p:cNvSpPr/>
          <p:nvPr/>
        </p:nvSpPr>
        <p:spPr>
          <a:xfrm>
            <a:off x="1117854" y="2160270"/>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Pred: No Stockout</a:t>
            </a:r>
            <a:endParaRPr lang="en-US" sz="563" dirty="0"/>
          </a:p>
        </p:txBody>
      </p:sp>
      <p:sp>
        <p:nvSpPr>
          <p:cNvPr id="32" name="Text 30"/>
          <p:cNvSpPr/>
          <p:nvPr/>
        </p:nvSpPr>
        <p:spPr>
          <a:xfrm>
            <a:off x="2009394" y="2160270"/>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Pred: Stockout</a:t>
            </a:r>
            <a:endParaRPr lang="en-US" sz="563" dirty="0"/>
          </a:p>
        </p:txBody>
      </p:sp>
      <p:sp>
        <p:nvSpPr>
          <p:cNvPr id="33" name="Text 31"/>
          <p:cNvSpPr/>
          <p:nvPr/>
        </p:nvSpPr>
        <p:spPr>
          <a:xfrm>
            <a:off x="226314" y="2626614"/>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Act: No Stockout</a:t>
            </a:r>
            <a:endParaRPr lang="en-US" sz="563" dirty="0"/>
          </a:p>
        </p:txBody>
      </p:sp>
      <p:sp>
        <p:nvSpPr>
          <p:cNvPr id="34" name="Shape 32"/>
          <p:cNvSpPr/>
          <p:nvPr/>
        </p:nvSpPr>
        <p:spPr>
          <a:xfrm>
            <a:off x="1117854" y="2626614"/>
            <a:ext cx="857250" cy="425196"/>
          </a:xfrm>
          <a:prstGeom prst="rect">
            <a:avLst/>
          </a:prstGeom>
          <a:solidFill>
            <a:srgbClr val="E8F5ED"/>
          </a:solidFill>
          <a:ln w="6350">
            <a:solidFill>
              <a:srgbClr val="E2E8F0"/>
            </a:solidFill>
            <a:prstDash val="solid"/>
          </a:ln>
        </p:spPr>
        <p:txBody>
          <a:bodyPr/>
          <a:lstStyle/>
          <a:p>
            <a:endParaRPr lang="en-US" sz="1350"/>
          </a:p>
        </p:txBody>
      </p:sp>
      <p:sp>
        <p:nvSpPr>
          <p:cNvPr id="35" name="Text 33"/>
          <p:cNvSpPr/>
          <p:nvPr/>
        </p:nvSpPr>
        <p:spPr>
          <a:xfrm>
            <a:off x="1117854" y="2626614"/>
            <a:ext cx="857250" cy="425196"/>
          </a:xfrm>
          <a:prstGeom prst="rect">
            <a:avLst/>
          </a:prstGeom>
          <a:noFill/>
          <a:ln/>
        </p:spPr>
        <p:txBody>
          <a:bodyPr wrap="square" lIns="0" tIns="0" rIns="0" bIns="0" rtlCol="0" anchor="ctr"/>
          <a:lstStyle/>
          <a:p>
            <a:pPr algn="ctr"/>
            <a:r>
              <a:rPr lang="en-US" sz="750" b="1" dirty="0">
                <a:solidFill>
                  <a:srgbClr val="1A7A4A"/>
                </a:solidFill>
                <a:latin typeface="Calibri" pitchFamily="34" charset="0"/>
                <a:ea typeface="Calibri" pitchFamily="34" charset="-122"/>
                <a:cs typeface="Calibri" pitchFamily="34" charset="-120"/>
              </a:rPr>
              <a:t>TN = 1,900</a:t>
            </a:r>
            <a:endParaRPr lang="en-US" sz="750" dirty="0"/>
          </a:p>
        </p:txBody>
      </p:sp>
      <p:sp>
        <p:nvSpPr>
          <p:cNvPr id="36" name="Shape 34"/>
          <p:cNvSpPr/>
          <p:nvPr/>
        </p:nvSpPr>
        <p:spPr>
          <a:xfrm>
            <a:off x="2009394" y="2626614"/>
            <a:ext cx="857250" cy="425196"/>
          </a:xfrm>
          <a:prstGeom prst="rect">
            <a:avLst/>
          </a:prstGeom>
          <a:solidFill>
            <a:srgbClr val="FDEDEC"/>
          </a:solidFill>
          <a:ln w="6350">
            <a:solidFill>
              <a:srgbClr val="E2E8F0"/>
            </a:solidFill>
            <a:prstDash val="solid"/>
          </a:ln>
        </p:spPr>
        <p:txBody>
          <a:bodyPr/>
          <a:lstStyle/>
          <a:p>
            <a:endParaRPr lang="en-US" sz="1350"/>
          </a:p>
        </p:txBody>
      </p:sp>
      <p:sp>
        <p:nvSpPr>
          <p:cNvPr id="37" name="Text 35"/>
          <p:cNvSpPr/>
          <p:nvPr/>
        </p:nvSpPr>
        <p:spPr>
          <a:xfrm>
            <a:off x="2009394" y="2626614"/>
            <a:ext cx="857250" cy="425196"/>
          </a:xfrm>
          <a:prstGeom prst="rect">
            <a:avLst/>
          </a:prstGeom>
          <a:noFill/>
          <a:ln/>
        </p:spPr>
        <p:txBody>
          <a:bodyPr wrap="square" lIns="0" tIns="0" rIns="0" bIns="0" rtlCol="0" anchor="ctr"/>
          <a:lstStyle/>
          <a:p>
            <a:pPr algn="ctr"/>
            <a:r>
              <a:rPr lang="en-US" sz="750" dirty="0">
                <a:solidFill>
                  <a:srgbClr val="C0392B"/>
                </a:solidFill>
                <a:latin typeface="Calibri" pitchFamily="34" charset="0"/>
                <a:ea typeface="Calibri" pitchFamily="34" charset="-122"/>
                <a:cs typeface="Calibri" pitchFamily="34" charset="-120"/>
              </a:rPr>
              <a:t>FP = 260</a:t>
            </a:r>
            <a:endParaRPr lang="en-US" sz="750" dirty="0"/>
          </a:p>
        </p:txBody>
      </p:sp>
      <p:sp>
        <p:nvSpPr>
          <p:cNvPr id="38" name="Text 36"/>
          <p:cNvSpPr/>
          <p:nvPr/>
        </p:nvSpPr>
        <p:spPr>
          <a:xfrm>
            <a:off x="226314" y="3092958"/>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Act: Stockout</a:t>
            </a:r>
            <a:endParaRPr lang="en-US" sz="563" dirty="0"/>
          </a:p>
        </p:txBody>
      </p:sp>
      <p:sp>
        <p:nvSpPr>
          <p:cNvPr id="39" name="Shape 37"/>
          <p:cNvSpPr/>
          <p:nvPr/>
        </p:nvSpPr>
        <p:spPr>
          <a:xfrm>
            <a:off x="1117854" y="3092958"/>
            <a:ext cx="857250" cy="425196"/>
          </a:xfrm>
          <a:prstGeom prst="rect">
            <a:avLst/>
          </a:prstGeom>
          <a:solidFill>
            <a:srgbClr val="FDEDEC"/>
          </a:solidFill>
          <a:ln w="6350">
            <a:solidFill>
              <a:srgbClr val="E2E8F0"/>
            </a:solidFill>
            <a:prstDash val="solid"/>
          </a:ln>
        </p:spPr>
        <p:txBody>
          <a:bodyPr/>
          <a:lstStyle/>
          <a:p>
            <a:endParaRPr lang="en-US" sz="1350"/>
          </a:p>
        </p:txBody>
      </p:sp>
      <p:sp>
        <p:nvSpPr>
          <p:cNvPr id="40" name="Text 38"/>
          <p:cNvSpPr/>
          <p:nvPr/>
        </p:nvSpPr>
        <p:spPr>
          <a:xfrm>
            <a:off x="1117854" y="3092958"/>
            <a:ext cx="857250" cy="425196"/>
          </a:xfrm>
          <a:prstGeom prst="rect">
            <a:avLst/>
          </a:prstGeom>
          <a:noFill/>
          <a:ln/>
        </p:spPr>
        <p:txBody>
          <a:bodyPr wrap="square" lIns="0" tIns="0" rIns="0" bIns="0" rtlCol="0" anchor="ctr"/>
          <a:lstStyle/>
          <a:p>
            <a:pPr algn="ctr"/>
            <a:r>
              <a:rPr lang="en-US" sz="750" dirty="0">
                <a:solidFill>
                  <a:srgbClr val="C0392B"/>
                </a:solidFill>
                <a:latin typeface="Calibri" pitchFamily="34" charset="0"/>
                <a:ea typeface="Calibri" pitchFamily="34" charset="-122"/>
                <a:cs typeface="Calibri" pitchFamily="34" charset="-120"/>
              </a:rPr>
              <a:t>FN = 0 ✓</a:t>
            </a:r>
            <a:endParaRPr lang="en-US" sz="750" dirty="0"/>
          </a:p>
        </p:txBody>
      </p:sp>
      <p:sp>
        <p:nvSpPr>
          <p:cNvPr id="41" name="Shape 39"/>
          <p:cNvSpPr/>
          <p:nvPr/>
        </p:nvSpPr>
        <p:spPr>
          <a:xfrm>
            <a:off x="2009394" y="3092958"/>
            <a:ext cx="857250" cy="425196"/>
          </a:xfrm>
          <a:prstGeom prst="rect">
            <a:avLst/>
          </a:prstGeom>
          <a:solidFill>
            <a:srgbClr val="E8F5ED"/>
          </a:solidFill>
          <a:ln w="6350">
            <a:solidFill>
              <a:srgbClr val="E2E8F0"/>
            </a:solidFill>
            <a:prstDash val="solid"/>
          </a:ln>
        </p:spPr>
        <p:txBody>
          <a:bodyPr/>
          <a:lstStyle/>
          <a:p>
            <a:endParaRPr lang="en-US" sz="1350"/>
          </a:p>
        </p:txBody>
      </p:sp>
      <p:sp>
        <p:nvSpPr>
          <p:cNvPr id="42" name="Text 40"/>
          <p:cNvSpPr/>
          <p:nvPr/>
        </p:nvSpPr>
        <p:spPr>
          <a:xfrm>
            <a:off x="2009394" y="3092958"/>
            <a:ext cx="857250" cy="425196"/>
          </a:xfrm>
          <a:prstGeom prst="rect">
            <a:avLst/>
          </a:prstGeom>
          <a:noFill/>
          <a:ln/>
        </p:spPr>
        <p:txBody>
          <a:bodyPr wrap="square" lIns="0" tIns="0" rIns="0" bIns="0" rtlCol="0" anchor="ctr"/>
          <a:lstStyle/>
          <a:p>
            <a:pPr algn="ctr"/>
            <a:r>
              <a:rPr lang="en-US" sz="750" b="1" dirty="0">
                <a:solidFill>
                  <a:srgbClr val="1A7A4A"/>
                </a:solidFill>
                <a:latin typeface="Calibri" pitchFamily="34" charset="0"/>
                <a:ea typeface="Calibri" pitchFamily="34" charset="-122"/>
                <a:cs typeface="Calibri" pitchFamily="34" charset="-120"/>
              </a:rPr>
              <a:t>TP = 63</a:t>
            </a:r>
            <a:endParaRPr lang="en-US" sz="750" dirty="0"/>
          </a:p>
        </p:txBody>
      </p:sp>
      <p:sp>
        <p:nvSpPr>
          <p:cNvPr id="43" name="Shape 41"/>
          <p:cNvSpPr/>
          <p:nvPr/>
        </p:nvSpPr>
        <p:spPr>
          <a:xfrm>
            <a:off x="3120390" y="1865376"/>
            <a:ext cx="3188970" cy="1817370"/>
          </a:xfrm>
          <a:prstGeom prst="rect">
            <a:avLst/>
          </a:prstGeom>
          <a:solidFill>
            <a:srgbClr val="FFFFFF"/>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44" name="Shape 42"/>
          <p:cNvSpPr/>
          <p:nvPr/>
        </p:nvSpPr>
        <p:spPr>
          <a:xfrm>
            <a:off x="3120390" y="1865376"/>
            <a:ext cx="3188970" cy="260604"/>
          </a:xfrm>
          <a:prstGeom prst="rect">
            <a:avLst/>
          </a:prstGeom>
          <a:solidFill>
            <a:srgbClr val="0D2B5C"/>
          </a:solidFill>
          <a:ln w="12700">
            <a:solidFill>
              <a:srgbClr val="0D2B5C"/>
            </a:solidFill>
            <a:prstDash val="solid"/>
          </a:ln>
        </p:spPr>
        <p:txBody>
          <a:bodyPr/>
          <a:lstStyle/>
          <a:p>
            <a:endParaRPr lang="en-US" sz="1350"/>
          </a:p>
        </p:txBody>
      </p:sp>
      <p:sp>
        <p:nvSpPr>
          <p:cNvPr id="45" name="Text 43"/>
          <p:cNvSpPr/>
          <p:nvPr/>
        </p:nvSpPr>
        <p:spPr>
          <a:xfrm>
            <a:off x="3120390" y="1865376"/>
            <a:ext cx="3188970" cy="260604"/>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Model Observations</a:t>
            </a:r>
            <a:endParaRPr lang="en-US" sz="750" dirty="0"/>
          </a:p>
        </p:txBody>
      </p:sp>
      <p:sp>
        <p:nvSpPr>
          <p:cNvPr id="46" name="Text 44"/>
          <p:cNvSpPr/>
          <p:nvPr/>
        </p:nvSpPr>
        <p:spPr>
          <a:xfrm>
            <a:off x="3209544" y="2167128"/>
            <a:ext cx="3031236" cy="1474470"/>
          </a:xfrm>
          <a:prstGeom prst="rect">
            <a:avLst/>
          </a:prstGeom>
          <a:noFill/>
          <a:ln/>
        </p:spPr>
        <p:txBody>
          <a:bodyPr wrap="square" lIns="38100" tIns="0" rIns="0" bIns="0" rtlCol="0" anchor="t"/>
          <a:lstStyle/>
          <a:p>
            <a:r>
              <a:rPr lang="en-US" sz="713" b="1" dirty="0">
                <a:solidFill>
                  <a:srgbClr val="0D2B5C"/>
                </a:solidFill>
                <a:latin typeface="Calibri" pitchFamily="34" charset="0"/>
                <a:ea typeface="Calibri" pitchFamily="34" charset="-122"/>
                <a:cs typeface="Calibri" pitchFamily="34" charset="-120"/>
              </a:rPr>
              <a:t>Accuracy = 88%</a:t>
            </a:r>
            <a:endParaRPr lang="en-US" sz="713" dirty="0"/>
          </a:p>
          <a:p>
            <a:r>
              <a:rPr lang="en-US" sz="675" dirty="0">
                <a:solidFill>
                  <a:srgbClr val="2C3E50"/>
                </a:solidFill>
                <a:latin typeface="Calibri" pitchFamily="34" charset="0"/>
                <a:ea typeface="Calibri" pitchFamily="34" charset="-122"/>
                <a:cs typeface="Calibri" pitchFamily="34" charset="-120"/>
              </a:rPr>
              <a:t>Correctly classifies 88% of all records overall.</a:t>
            </a:r>
            <a:endParaRPr lang="en-US" sz="713" dirty="0"/>
          </a:p>
          <a:p>
            <a:r>
              <a:rPr lang="en-US" sz="713" b="1" dirty="0">
                <a:solidFill>
                  <a:srgbClr val="1A7A4A"/>
                </a:solidFill>
                <a:latin typeface="Calibri" pitchFamily="34" charset="0"/>
                <a:ea typeface="Calibri" pitchFamily="34" charset="-122"/>
                <a:cs typeface="Calibri" pitchFamily="34" charset="-120"/>
              </a:rPr>
              <a:t>Recall = 1.00 (Stockout)</a:t>
            </a:r>
            <a:endParaRPr lang="en-US" sz="713" dirty="0"/>
          </a:p>
          <a:p>
            <a:r>
              <a:rPr lang="en-US" sz="675" dirty="0">
                <a:solidFill>
                  <a:srgbClr val="2C3E50"/>
                </a:solidFill>
                <a:latin typeface="Calibri" pitchFamily="34" charset="0"/>
                <a:ea typeface="Calibri" pitchFamily="34" charset="-122"/>
                <a:cs typeface="Calibri" pitchFamily="34" charset="-120"/>
              </a:rPr>
              <a:t>Never misses a real stockout — CRITICAL for patient safety.</a:t>
            </a:r>
            <a:endParaRPr lang="en-US" sz="713" dirty="0"/>
          </a:p>
          <a:p>
            <a:r>
              <a:rPr lang="en-US" sz="713" b="1" dirty="0">
                <a:solidFill>
                  <a:srgbClr val="B7791F"/>
                </a:solidFill>
                <a:latin typeface="Calibri" pitchFamily="34" charset="0"/>
                <a:ea typeface="Calibri" pitchFamily="34" charset="-122"/>
                <a:cs typeface="Calibri" pitchFamily="34" charset="-120"/>
              </a:rPr>
              <a:t>Precision = 0.20</a:t>
            </a:r>
            <a:endParaRPr lang="en-US" sz="713" dirty="0"/>
          </a:p>
          <a:p>
            <a:r>
              <a:rPr lang="en-US" sz="675" dirty="0">
                <a:solidFill>
                  <a:srgbClr val="2C3E50"/>
                </a:solidFill>
                <a:latin typeface="Calibri" pitchFamily="34" charset="0"/>
                <a:ea typeface="Calibri" pitchFamily="34" charset="-122"/>
                <a:cs typeface="Calibri" pitchFamily="34" charset="-120"/>
              </a:rPr>
              <a:t>80% false alarms — acceptable trade-off; missing a stockout is far more dangerous.</a:t>
            </a:r>
            <a:endParaRPr lang="en-US" sz="713" dirty="0"/>
          </a:p>
          <a:p>
            <a:r>
              <a:rPr lang="en-US" sz="675" dirty="0">
                <a:solidFill>
                  <a:srgbClr val="2C3E50"/>
                </a:solidFill>
                <a:latin typeface="Calibri" pitchFamily="34" charset="0"/>
                <a:ea typeface="Calibri" pitchFamily="34" charset="-122"/>
                <a:cs typeface="Calibri" pitchFamily="34" charset="-120"/>
              </a:rPr>
              <a:t>Class Imbalance: 63 stockout vs 2,160 non-stockout (97:3 ratio).</a:t>
            </a:r>
            <a:endParaRPr lang="en-US" sz="713" dirty="0"/>
          </a:p>
        </p:txBody>
      </p:sp>
      <p:sp>
        <p:nvSpPr>
          <p:cNvPr id="47" name="Shape 45"/>
          <p:cNvSpPr/>
          <p:nvPr/>
        </p:nvSpPr>
        <p:spPr>
          <a:xfrm>
            <a:off x="6480810" y="1865376"/>
            <a:ext cx="2434590" cy="1817370"/>
          </a:xfrm>
          <a:prstGeom prst="rect">
            <a:avLst/>
          </a:prstGeom>
          <a:solidFill>
            <a:srgbClr val="FFFFFF"/>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48" name="Shape 46"/>
          <p:cNvSpPr/>
          <p:nvPr/>
        </p:nvSpPr>
        <p:spPr>
          <a:xfrm>
            <a:off x="6480810" y="1865376"/>
            <a:ext cx="2434590" cy="260604"/>
          </a:xfrm>
          <a:prstGeom prst="rect">
            <a:avLst/>
          </a:prstGeom>
          <a:solidFill>
            <a:srgbClr val="0E7C86"/>
          </a:solidFill>
          <a:ln w="12700">
            <a:solidFill>
              <a:srgbClr val="0E7C86"/>
            </a:solidFill>
            <a:prstDash val="solid"/>
          </a:ln>
        </p:spPr>
        <p:txBody>
          <a:bodyPr/>
          <a:lstStyle/>
          <a:p>
            <a:endParaRPr lang="en-US" sz="1350"/>
          </a:p>
        </p:txBody>
      </p:sp>
      <p:sp>
        <p:nvSpPr>
          <p:cNvPr id="49" name="Text 47"/>
          <p:cNvSpPr/>
          <p:nvPr/>
        </p:nvSpPr>
        <p:spPr>
          <a:xfrm>
            <a:off x="6480810" y="1865376"/>
            <a:ext cx="2434590" cy="260604"/>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ROC-AUC Score</a:t>
            </a:r>
            <a:endParaRPr lang="en-US" sz="750" dirty="0"/>
          </a:p>
        </p:txBody>
      </p:sp>
      <p:sp>
        <p:nvSpPr>
          <p:cNvPr id="50" name="Text 48"/>
          <p:cNvSpPr/>
          <p:nvPr/>
        </p:nvSpPr>
        <p:spPr>
          <a:xfrm>
            <a:off x="6480810" y="2139696"/>
            <a:ext cx="2434590" cy="514350"/>
          </a:xfrm>
          <a:prstGeom prst="rect">
            <a:avLst/>
          </a:prstGeom>
          <a:noFill/>
          <a:ln/>
        </p:spPr>
        <p:txBody>
          <a:bodyPr wrap="square" lIns="0" tIns="0" rIns="0" bIns="0" rtlCol="0" anchor="ctr"/>
          <a:lstStyle/>
          <a:p>
            <a:pPr algn="ctr"/>
            <a:r>
              <a:rPr lang="en-US" sz="2850" b="1" dirty="0">
                <a:solidFill>
                  <a:srgbClr val="0E7C86"/>
                </a:solidFill>
                <a:latin typeface="Calibri" pitchFamily="34" charset="0"/>
                <a:ea typeface="Calibri" pitchFamily="34" charset="-122"/>
                <a:cs typeface="Calibri" pitchFamily="34" charset="-120"/>
              </a:rPr>
              <a:t>0.9881</a:t>
            </a:r>
            <a:endParaRPr lang="en-US" sz="2850" dirty="0"/>
          </a:p>
        </p:txBody>
      </p:sp>
      <p:sp>
        <p:nvSpPr>
          <p:cNvPr id="51" name="Text 49"/>
          <p:cNvSpPr/>
          <p:nvPr/>
        </p:nvSpPr>
        <p:spPr>
          <a:xfrm>
            <a:off x="6549390" y="2674620"/>
            <a:ext cx="2297430" cy="288036"/>
          </a:xfrm>
          <a:prstGeom prst="rect">
            <a:avLst/>
          </a:prstGeom>
          <a:noFill/>
          <a:ln/>
        </p:spPr>
        <p:txBody>
          <a:bodyPr wrap="square" lIns="0" tIns="0" rIns="0" bIns="0" rtlCol="0" anchor="ctr"/>
          <a:lstStyle/>
          <a:p>
            <a:pPr algn="ctr"/>
            <a:r>
              <a:rPr lang="en-US" sz="675" dirty="0">
                <a:solidFill>
                  <a:srgbClr val="4A5568"/>
                </a:solidFill>
                <a:latin typeface="Calibri" pitchFamily="34" charset="0"/>
                <a:ea typeface="Calibri" pitchFamily="34" charset="-122"/>
                <a:cs typeface="Calibri" pitchFamily="34" charset="-120"/>
              </a:rPr>
              <a:t>98.81% ability to distinguish</a:t>
            </a:r>
            <a:endParaRPr lang="en-US" sz="675" dirty="0"/>
          </a:p>
          <a:p>
            <a:pPr algn="ctr"/>
            <a:r>
              <a:rPr lang="en-US" sz="675" dirty="0">
                <a:solidFill>
                  <a:srgbClr val="4A5568"/>
                </a:solidFill>
                <a:latin typeface="Calibri" pitchFamily="34" charset="0"/>
                <a:ea typeface="Calibri" pitchFamily="34" charset="-122"/>
                <a:cs typeface="Calibri" pitchFamily="34" charset="-120"/>
              </a:rPr>
              <a:t>Stockout vs No Stockout</a:t>
            </a:r>
            <a:endParaRPr lang="en-US" sz="675" dirty="0"/>
          </a:p>
        </p:txBody>
      </p:sp>
      <p:sp>
        <p:nvSpPr>
          <p:cNvPr id="52" name="Shape 50"/>
          <p:cNvSpPr/>
          <p:nvPr/>
        </p:nvSpPr>
        <p:spPr>
          <a:xfrm>
            <a:off x="6583680" y="3017520"/>
            <a:ext cx="2125980" cy="137160"/>
          </a:xfrm>
          <a:prstGeom prst="rect">
            <a:avLst/>
          </a:prstGeom>
          <a:solidFill>
            <a:srgbClr val="E2E8F0"/>
          </a:solidFill>
          <a:ln w="12700">
            <a:solidFill>
              <a:srgbClr val="E2E8F0"/>
            </a:solidFill>
            <a:prstDash val="solid"/>
          </a:ln>
        </p:spPr>
        <p:txBody>
          <a:bodyPr/>
          <a:lstStyle/>
          <a:p>
            <a:endParaRPr lang="en-US" sz="1350"/>
          </a:p>
        </p:txBody>
      </p:sp>
      <p:sp>
        <p:nvSpPr>
          <p:cNvPr id="53" name="Shape 51"/>
          <p:cNvSpPr/>
          <p:nvPr/>
        </p:nvSpPr>
        <p:spPr>
          <a:xfrm>
            <a:off x="6583680" y="3017520"/>
            <a:ext cx="2100681" cy="137160"/>
          </a:xfrm>
          <a:prstGeom prst="rect">
            <a:avLst/>
          </a:prstGeom>
          <a:solidFill>
            <a:srgbClr val="0E7C86"/>
          </a:solidFill>
          <a:ln w="12700">
            <a:solidFill>
              <a:srgbClr val="0E7C86"/>
            </a:solidFill>
            <a:prstDash val="solid"/>
          </a:ln>
        </p:spPr>
        <p:txBody>
          <a:bodyPr/>
          <a:lstStyle/>
          <a:p>
            <a:endParaRPr lang="en-US" sz="1350"/>
          </a:p>
        </p:txBody>
      </p:sp>
      <p:sp>
        <p:nvSpPr>
          <p:cNvPr id="54" name="Text 52"/>
          <p:cNvSpPr/>
          <p:nvPr/>
        </p:nvSpPr>
        <p:spPr>
          <a:xfrm>
            <a:off x="6583680" y="3168396"/>
            <a:ext cx="2125980" cy="150876"/>
          </a:xfrm>
          <a:prstGeom prst="rect">
            <a:avLst/>
          </a:prstGeom>
          <a:noFill/>
          <a:ln/>
        </p:spPr>
        <p:txBody>
          <a:bodyPr wrap="square" lIns="0" tIns="0" rIns="0" bIns="0" rtlCol="0" anchor="ctr"/>
          <a:lstStyle/>
          <a:p>
            <a:pPr algn="ctr"/>
            <a:r>
              <a:rPr lang="en-US" sz="600" b="1" dirty="0">
                <a:solidFill>
                  <a:srgbClr val="0E7C86"/>
                </a:solidFill>
                <a:latin typeface="Calibri" pitchFamily="34" charset="0"/>
                <a:ea typeface="Calibri" pitchFamily="34" charset="-122"/>
                <a:cs typeface="Calibri" pitchFamily="34" charset="-120"/>
              </a:rPr>
              <a:t>AUC = 0.9881</a:t>
            </a:r>
            <a:endParaRPr lang="en-US" sz="600" dirty="0"/>
          </a:p>
        </p:txBody>
      </p:sp>
      <p:sp>
        <p:nvSpPr>
          <p:cNvPr id="55" name="Text 53"/>
          <p:cNvSpPr/>
          <p:nvPr/>
        </p:nvSpPr>
        <p:spPr>
          <a:xfrm>
            <a:off x="6549390" y="3360420"/>
            <a:ext cx="2297430" cy="260604"/>
          </a:xfrm>
          <a:prstGeom prst="rect">
            <a:avLst/>
          </a:prstGeom>
          <a:noFill/>
          <a:ln/>
        </p:spPr>
        <p:txBody>
          <a:bodyPr wrap="square" lIns="0" tIns="0" rIns="0" bIns="0" rtlCol="0" anchor="ctr"/>
          <a:lstStyle/>
          <a:p>
            <a:pPr algn="ctr"/>
            <a:r>
              <a:rPr lang="en-US" sz="615" dirty="0">
                <a:solidFill>
                  <a:srgbClr val="2C3E50"/>
                </a:solidFill>
                <a:latin typeface="Calibri" pitchFamily="34" charset="0"/>
                <a:ea typeface="Calibri" pitchFamily="34" charset="-122"/>
                <a:cs typeface="Calibri" pitchFamily="34" charset="-120"/>
              </a:rPr>
              <a:t>Curve hugs top-left corner — far above random classifier. Reliable for prioritising restocking.</a:t>
            </a:r>
            <a:endParaRPr lang="en-US" sz="615" dirty="0"/>
          </a:p>
        </p:txBody>
      </p:sp>
      <p:sp>
        <p:nvSpPr>
          <p:cNvPr id="56" name="Shape 54"/>
          <p:cNvSpPr/>
          <p:nvPr/>
        </p:nvSpPr>
        <p:spPr>
          <a:xfrm>
            <a:off x="205740" y="3785616"/>
            <a:ext cx="8709660" cy="1131570"/>
          </a:xfrm>
          <a:prstGeom prst="rect">
            <a:avLst/>
          </a:prstGeom>
          <a:solidFill>
            <a:srgbClr val="FFFFFF"/>
          </a:solidFill>
          <a:ln w="9525">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57" name="Text 55"/>
          <p:cNvSpPr/>
          <p:nvPr/>
        </p:nvSpPr>
        <p:spPr>
          <a:xfrm>
            <a:off x="308610" y="3854196"/>
            <a:ext cx="8503920" cy="1014984"/>
          </a:xfrm>
          <a:prstGeom prst="rect">
            <a:avLst/>
          </a:prstGeom>
          <a:noFill/>
          <a:ln/>
        </p:spPr>
        <p:txBody>
          <a:bodyPr wrap="square" lIns="38100" tIns="38100" rIns="0" bIns="0" rtlCol="0" anchor="t"/>
          <a:lstStyle/>
          <a:p>
            <a:r>
              <a:rPr lang="en-US" sz="713" b="1" dirty="0">
                <a:solidFill>
                  <a:srgbClr val="1A7A4A"/>
                </a:solidFill>
                <a:latin typeface="Calibri" pitchFamily="34" charset="0"/>
                <a:ea typeface="Calibri" pitchFamily="34" charset="-122"/>
                <a:cs typeface="Calibri" pitchFamily="34" charset="-120"/>
              </a:rPr>
              <a:t>FN = 0 ✓ </a:t>
            </a:r>
            <a:r>
              <a:rPr lang="en-US" sz="713" dirty="0">
                <a:solidFill>
                  <a:srgbClr val="2C3E50"/>
                </a:solidFill>
                <a:latin typeface="Calibri" pitchFamily="34" charset="0"/>
                <a:ea typeface="Calibri" pitchFamily="34" charset="-122"/>
                <a:cs typeface="Calibri" pitchFamily="34" charset="-120"/>
              </a:rPr>
              <a:t>Model missed ZERO real stockouts — medically safe. No patient was at risk due to missed prediction.</a:t>
            </a:r>
            <a:endParaRPr lang="en-US" sz="713" dirty="0"/>
          </a:p>
          <a:p>
            <a:r>
              <a:rPr lang="en-US" sz="713" b="1" dirty="0">
                <a:solidFill>
                  <a:srgbClr val="B7791F"/>
                </a:solidFill>
                <a:latin typeface="Calibri" pitchFamily="34" charset="0"/>
                <a:ea typeface="Calibri" pitchFamily="34" charset="-122"/>
                <a:cs typeface="Calibri" pitchFamily="34" charset="-120"/>
              </a:rPr>
              <a:t>FP = 260 </a:t>
            </a:r>
            <a:r>
              <a:rPr lang="en-US" sz="713" dirty="0">
                <a:solidFill>
                  <a:srgbClr val="2C3E50"/>
                </a:solidFill>
                <a:latin typeface="Calibri" pitchFamily="34" charset="0"/>
                <a:ea typeface="Calibri" pitchFamily="34" charset="-122"/>
                <a:cs typeface="Calibri" pitchFamily="34" charset="-120"/>
              </a:rPr>
              <a:t>260 false alarms raised — staff investigate unnecessarily. Acceptable: missing a stockout is far more dangerous.</a:t>
            </a:r>
            <a:endParaRPr lang="en-US" sz="713" dirty="0"/>
          </a:p>
          <a:p>
            <a:r>
              <a:rPr lang="en-US" sz="713" b="1" dirty="0">
                <a:solidFill>
                  <a:srgbClr val="0D2B5C"/>
                </a:solidFill>
                <a:latin typeface="Calibri" pitchFamily="34" charset="0"/>
                <a:ea typeface="Calibri" pitchFamily="34" charset="-122"/>
                <a:cs typeface="Calibri" pitchFamily="34" charset="-120"/>
              </a:rPr>
              <a:t>Wastage_Flag = 1 </a:t>
            </a:r>
            <a:r>
              <a:rPr lang="en-US" sz="713" dirty="0">
                <a:solidFill>
                  <a:srgbClr val="2C3E50"/>
                </a:solidFill>
                <a:latin typeface="Calibri" pitchFamily="34" charset="0"/>
                <a:ea typeface="Calibri" pitchFamily="34" charset="-122"/>
                <a:cs typeface="Calibri" pitchFamily="34" charset="-120"/>
              </a:rPr>
              <a:t>is the strongest predictor — Record 2 (wastage + high consumption + long stay) carries 93.5% stockout probability.</a:t>
            </a:r>
            <a:endParaRPr lang="en-US" sz="713" dirty="0"/>
          </a:p>
          <a:p>
            <a:r>
              <a:rPr lang="en-US" sz="713" b="1" dirty="0">
                <a:solidFill>
                  <a:srgbClr val="0E7C86"/>
                </a:solidFill>
                <a:latin typeface="Calibri" pitchFamily="34" charset="0"/>
                <a:ea typeface="Calibri" pitchFamily="34" charset="-122"/>
                <a:cs typeface="Calibri" pitchFamily="34" charset="-120"/>
              </a:rPr>
              <a:t>Key Insight: </a:t>
            </a:r>
            <a:r>
              <a:rPr lang="en-US" sz="713" dirty="0">
                <a:solidFill>
                  <a:srgbClr val="2C3E50"/>
                </a:solidFill>
                <a:latin typeface="Calibri" pitchFamily="34" charset="0"/>
                <a:ea typeface="Calibri" pitchFamily="34" charset="-122"/>
                <a:cs typeface="Calibri" pitchFamily="34" charset="-120"/>
              </a:rPr>
              <a:t>HIGH RECALL &gt; Precision in healthcare — better to over-alert than miss a real stockout that impacts patient care.</a:t>
            </a:r>
            <a:endParaRPr lang="en-US" sz="713"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21140" cy="493776"/>
          </a:xfrm>
          <a:prstGeom prst="rect">
            <a:avLst/>
          </a:prstGeom>
          <a:solidFill>
            <a:srgbClr val="0D2B5C"/>
          </a:solidFill>
          <a:ln w="12700">
            <a:solidFill>
              <a:srgbClr val="0D2B5C"/>
            </a:solidFill>
            <a:prstDash val="solid"/>
          </a:ln>
        </p:spPr>
        <p:txBody>
          <a:bodyPr/>
          <a:lstStyle/>
          <a:p>
            <a:endParaRPr lang="en-US" sz="1350"/>
          </a:p>
        </p:txBody>
      </p:sp>
      <p:sp>
        <p:nvSpPr>
          <p:cNvPr id="3" name="Text 1"/>
          <p:cNvSpPr/>
          <p:nvPr/>
        </p:nvSpPr>
        <p:spPr>
          <a:xfrm>
            <a:off x="240030" y="0"/>
            <a:ext cx="7680960" cy="493776"/>
          </a:xfrm>
          <a:prstGeom prst="rect">
            <a:avLst/>
          </a:prstGeom>
          <a:noFill/>
          <a:ln/>
        </p:spPr>
        <p:txBody>
          <a:bodyPr wrap="square" lIns="0" tIns="0" rIns="0" bIns="0" rtlCol="0" anchor="ctr"/>
          <a:lstStyle/>
          <a:p>
            <a:r>
              <a:rPr lang="en-US" sz="1500" b="1" dirty="0">
                <a:solidFill>
                  <a:srgbClr val="FFFFFF"/>
                </a:solidFill>
                <a:latin typeface="Calibri" pitchFamily="34" charset="0"/>
                <a:ea typeface="Calibri" pitchFamily="34" charset="-122"/>
                <a:cs typeface="Calibri" pitchFamily="34" charset="-120"/>
              </a:rPr>
              <a:t>Machine Learning: Stockout Classification — KNN Classifier</a:t>
            </a:r>
            <a:endParaRPr lang="en-US" sz="1500" dirty="0"/>
          </a:p>
        </p:txBody>
      </p:sp>
      <p:sp>
        <p:nvSpPr>
          <p:cNvPr id="4" name="Shape 2"/>
          <p:cNvSpPr/>
          <p:nvPr/>
        </p:nvSpPr>
        <p:spPr>
          <a:xfrm>
            <a:off x="7968996" y="89154"/>
            <a:ext cx="466344" cy="301752"/>
          </a:xfrm>
          <a:prstGeom prst="rect">
            <a:avLst/>
          </a:prstGeom>
          <a:solidFill>
            <a:srgbClr val="0E7C86"/>
          </a:solidFill>
          <a:ln w="12700">
            <a:solidFill>
              <a:srgbClr val="0E7C86"/>
            </a:solidFill>
            <a:prstDash val="solid"/>
          </a:ln>
        </p:spPr>
        <p:txBody>
          <a:bodyPr/>
          <a:lstStyle/>
          <a:p>
            <a:endParaRPr lang="en-US" sz="1350"/>
          </a:p>
        </p:txBody>
      </p:sp>
      <p:sp>
        <p:nvSpPr>
          <p:cNvPr id="5" name="Text 3"/>
          <p:cNvSpPr/>
          <p:nvPr/>
        </p:nvSpPr>
        <p:spPr>
          <a:xfrm>
            <a:off x="7968996" y="89154"/>
            <a:ext cx="466344" cy="301752"/>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BO2</a:t>
            </a:r>
            <a:endParaRPr lang="en-US" sz="750" dirty="0"/>
          </a:p>
        </p:txBody>
      </p:sp>
      <p:sp>
        <p:nvSpPr>
          <p:cNvPr id="6" name="Shape 4"/>
          <p:cNvSpPr/>
          <p:nvPr/>
        </p:nvSpPr>
        <p:spPr>
          <a:xfrm>
            <a:off x="8503920" y="89154"/>
            <a:ext cx="466344" cy="301752"/>
          </a:xfrm>
          <a:prstGeom prst="rect">
            <a:avLst/>
          </a:prstGeom>
          <a:solidFill>
            <a:srgbClr val="0E7C86"/>
          </a:solidFill>
          <a:ln w="12700">
            <a:solidFill>
              <a:srgbClr val="0E7C86"/>
            </a:solidFill>
            <a:prstDash val="solid"/>
          </a:ln>
        </p:spPr>
        <p:txBody>
          <a:bodyPr/>
          <a:lstStyle/>
          <a:p>
            <a:endParaRPr lang="en-US" sz="1350"/>
          </a:p>
        </p:txBody>
      </p:sp>
      <p:sp>
        <p:nvSpPr>
          <p:cNvPr id="7" name="Text 5"/>
          <p:cNvSpPr/>
          <p:nvPr/>
        </p:nvSpPr>
        <p:spPr>
          <a:xfrm>
            <a:off x="8503920" y="89154"/>
            <a:ext cx="466344" cy="301752"/>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BO4</a:t>
            </a:r>
            <a:endParaRPr lang="en-US" sz="750" dirty="0"/>
          </a:p>
        </p:txBody>
      </p:sp>
      <p:sp>
        <p:nvSpPr>
          <p:cNvPr id="8" name="Shape 6"/>
          <p:cNvSpPr/>
          <p:nvPr/>
        </p:nvSpPr>
        <p:spPr>
          <a:xfrm>
            <a:off x="205740" y="562356"/>
            <a:ext cx="8709660" cy="274320"/>
          </a:xfrm>
          <a:prstGeom prst="rect">
            <a:avLst/>
          </a:prstGeom>
          <a:solidFill>
            <a:srgbClr val="0E7C86"/>
          </a:solidFill>
          <a:ln w="12700">
            <a:solidFill>
              <a:srgbClr val="0E7C86"/>
            </a:solidFill>
            <a:prstDash val="solid"/>
          </a:ln>
        </p:spPr>
        <p:txBody>
          <a:bodyPr/>
          <a:lstStyle/>
          <a:p>
            <a:endParaRPr lang="en-US" sz="1350"/>
          </a:p>
        </p:txBody>
      </p:sp>
      <p:sp>
        <p:nvSpPr>
          <p:cNvPr id="9" name="Text 7"/>
          <p:cNvSpPr/>
          <p:nvPr/>
        </p:nvSpPr>
        <p:spPr>
          <a:xfrm>
            <a:off x="308610" y="562356"/>
            <a:ext cx="8503920" cy="274320"/>
          </a:xfrm>
          <a:prstGeom prst="rect">
            <a:avLst/>
          </a:prstGeom>
          <a:noFill/>
          <a:ln/>
        </p:spPr>
        <p:txBody>
          <a:bodyPr wrap="square" lIns="0" tIns="0" rIns="0" bIns="0" rtlCol="0" anchor="ctr"/>
          <a:lstStyle/>
          <a:p>
            <a:r>
              <a:rPr lang="en-US" sz="788" b="1" dirty="0">
                <a:solidFill>
                  <a:srgbClr val="FFFFFF"/>
                </a:solidFill>
                <a:latin typeface="Calibri" pitchFamily="34" charset="0"/>
                <a:ea typeface="Calibri" pitchFamily="34" charset="-122"/>
                <a:cs typeface="Calibri" pitchFamily="34" charset="-120"/>
              </a:rPr>
              <a:t>KNN CLASSIFIER — Stockout Risk Prediction  (K=3  |  weights='distance'  |  metric='euclidean')</a:t>
            </a:r>
            <a:endParaRPr lang="en-US" sz="788" dirty="0"/>
          </a:p>
        </p:txBody>
      </p:sp>
      <p:sp>
        <p:nvSpPr>
          <p:cNvPr id="10" name="Shape 8"/>
          <p:cNvSpPr/>
          <p:nvPr/>
        </p:nvSpPr>
        <p:spPr>
          <a:xfrm>
            <a:off x="205740" y="891540"/>
            <a:ext cx="8709660" cy="274320"/>
          </a:xfrm>
          <a:prstGeom prst="rect">
            <a:avLst/>
          </a:prstGeom>
          <a:solidFill>
            <a:srgbClr val="E8EEF8"/>
          </a:solidFill>
          <a:ln w="9525">
            <a:solidFill>
              <a:srgbClr val="0D2B5C"/>
            </a:solidFill>
            <a:prstDash val="solid"/>
          </a:ln>
        </p:spPr>
        <p:txBody>
          <a:bodyPr/>
          <a:lstStyle/>
          <a:p>
            <a:endParaRPr lang="en-US" sz="1350"/>
          </a:p>
        </p:txBody>
      </p:sp>
      <p:sp>
        <p:nvSpPr>
          <p:cNvPr id="11" name="Text 9"/>
          <p:cNvSpPr/>
          <p:nvPr/>
        </p:nvSpPr>
        <p:spPr>
          <a:xfrm>
            <a:off x="308610" y="891540"/>
            <a:ext cx="8503920" cy="274320"/>
          </a:xfrm>
          <a:prstGeom prst="rect">
            <a:avLst/>
          </a:prstGeom>
          <a:noFill/>
          <a:ln/>
        </p:spPr>
        <p:txBody>
          <a:bodyPr wrap="square" lIns="0" tIns="0" rIns="0" bIns="0" rtlCol="0" anchor="ctr"/>
          <a:lstStyle/>
          <a:p>
            <a:r>
              <a:rPr lang="en-US" sz="713" b="1" dirty="0">
                <a:solidFill>
                  <a:srgbClr val="0D2B5C"/>
                </a:solidFill>
                <a:latin typeface="Calibri" pitchFamily="34" charset="0"/>
                <a:ea typeface="Calibri" pitchFamily="34" charset="-122"/>
                <a:cs typeface="Calibri" pitchFamily="34" charset="-120"/>
              </a:rPr>
              <a:t>Features (X): </a:t>
            </a:r>
            <a:r>
              <a:rPr lang="en-US" sz="713" dirty="0">
                <a:solidFill>
                  <a:srgbClr val="2C3E50"/>
                </a:solidFill>
                <a:latin typeface="Calibri" pitchFamily="34" charset="0"/>
                <a:ea typeface="Calibri" pitchFamily="34" charset="-122"/>
                <a:cs typeface="Calibri" pitchFamily="34" charset="-120"/>
              </a:rPr>
              <a:t>Wastage_Flag  |  Daily_Consumption_Units  |  Wastage_Units  |  Bed_Days</a:t>
            </a:r>
            <a:r>
              <a:rPr lang="en-US" sz="713" b="1" dirty="0">
                <a:solidFill>
                  <a:srgbClr val="0D2B5C"/>
                </a:solidFill>
                <a:latin typeface="Calibri" pitchFamily="34" charset="0"/>
                <a:ea typeface="Calibri" pitchFamily="34" charset="-122"/>
                <a:cs typeface="Calibri" pitchFamily="34" charset="-120"/>
              </a:rPr>
              <a:t>     Target (y): </a:t>
            </a:r>
            <a:r>
              <a:rPr lang="en-US" sz="713" dirty="0">
                <a:solidFill>
                  <a:srgbClr val="2C3E50"/>
                </a:solidFill>
                <a:latin typeface="Calibri" pitchFamily="34" charset="0"/>
                <a:ea typeface="Calibri" pitchFamily="34" charset="-122"/>
                <a:cs typeface="Calibri" pitchFamily="34" charset="-120"/>
              </a:rPr>
              <a:t>Stockout_Flag  |  Split: 80/20  |  Stratified  |  Scaler: MinMaxScaler  |  Optimal K selected via error rate (K=1 to 30)</a:t>
            </a:r>
            <a:endParaRPr lang="en-US" sz="713" dirty="0"/>
          </a:p>
        </p:txBody>
      </p:sp>
      <p:sp>
        <p:nvSpPr>
          <p:cNvPr id="12" name="Shape 10"/>
          <p:cNvSpPr/>
          <p:nvPr/>
        </p:nvSpPr>
        <p:spPr>
          <a:xfrm>
            <a:off x="205740" y="1248156"/>
            <a:ext cx="1645920" cy="514350"/>
          </a:xfrm>
          <a:prstGeom prst="rect">
            <a:avLst/>
          </a:prstGeom>
          <a:solidFill>
            <a:srgbClr val="E8F5ED"/>
          </a:solidFill>
          <a:ln w="15240">
            <a:solidFill>
              <a:srgbClr val="1A7A4A"/>
            </a:solidFill>
            <a:prstDash val="solid"/>
          </a:ln>
          <a:effectLst>
            <a:outerShdw blurRad="50800" dist="25400" dir="8100000" algn="bl" rotWithShape="0">
              <a:srgbClr val="000000">
                <a:alpha val="8000"/>
              </a:srgbClr>
            </a:outerShdw>
          </a:effectLst>
        </p:spPr>
        <p:txBody>
          <a:bodyPr/>
          <a:lstStyle/>
          <a:p>
            <a:endParaRPr lang="en-US" sz="1350"/>
          </a:p>
        </p:txBody>
      </p:sp>
      <p:sp>
        <p:nvSpPr>
          <p:cNvPr id="13" name="Text 11"/>
          <p:cNvSpPr/>
          <p:nvPr/>
        </p:nvSpPr>
        <p:spPr>
          <a:xfrm>
            <a:off x="205740" y="1261872"/>
            <a:ext cx="1645920" cy="301752"/>
          </a:xfrm>
          <a:prstGeom prst="rect">
            <a:avLst/>
          </a:prstGeom>
          <a:noFill/>
          <a:ln/>
        </p:spPr>
        <p:txBody>
          <a:bodyPr wrap="square" lIns="0" tIns="0" rIns="0" bIns="0" rtlCol="0" anchor="ctr"/>
          <a:lstStyle/>
          <a:p>
            <a:pPr algn="ctr"/>
            <a:r>
              <a:rPr lang="en-US" sz="1500" b="1" dirty="0">
                <a:solidFill>
                  <a:srgbClr val="1A7A4A"/>
                </a:solidFill>
                <a:latin typeface="Calibri" pitchFamily="34" charset="0"/>
                <a:ea typeface="Calibri" pitchFamily="34" charset="-122"/>
                <a:cs typeface="Calibri" pitchFamily="34" charset="-120"/>
              </a:rPr>
              <a:t>99%</a:t>
            </a:r>
            <a:endParaRPr lang="en-US" sz="1500" dirty="0"/>
          </a:p>
        </p:txBody>
      </p:sp>
      <p:sp>
        <p:nvSpPr>
          <p:cNvPr id="14" name="Text 12"/>
          <p:cNvSpPr/>
          <p:nvPr/>
        </p:nvSpPr>
        <p:spPr>
          <a:xfrm>
            <a:off x="2057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Accuracy</a:t>
            </a:r>
            <a:endParaRPr lang="en-US" sz="638" dirty="0"/>
          </a:p>
        </p:txBody>
      </p:sp>
      <p:sp>
        <p:nvSpPr>
          <p:cNvPr id="15" name="Shape 13"/>
          <p:cNvSpPr/>
          <p:nvPr/>
        </p:nvSpPr>
        <p:spPr>
          <a:xfrm>
            <a:off x="1920240" y="1248156"/>
            <a:ext cx="1645920" cy="514350"/>
          </a:xfrm>
          <a:prstGeom prst="rect">
            <a:avLst/>
          </a:prstGeom>
          <a:solidFill>
            <a:srgbClr val="FDEDEC"/>
          </a:solidFill>
          <a:ln w="15240">
            <a:solidFill>
              <a:srgbClr val="C0392B"/>
            </a:solidFill>
            <a:prstDash val="solid"/>
          </a:ln>
          <a:effectLst>
            <a:outerShdw blurRad="50800" dist="25400" dir="8100000" algn="bl" rotWithShape="0">
              <a:srgbClr val="000000">
                <a:alpha val="8000"/>
              </a:srgbClr>
            </a:outerShdw>
          </a:effectLst>
        </p:spPr>
        <p:txBody>
          <a:bodyPr/>
          <a:lstStyle/>
          <a:p>
            <a:endParaRPr lang="en-US" sz="1350"/>
          </a:p>
        </p:txBody>
      </p:sp>
      <p:sp>
        <p:nvSpPr>
          <p:cNvPr id="16" name="Text 14"/>
          <p:cNvSpPr/>
          <p:nvPr/>
        </p:nvSpPr>
        <p:spPr>
          <a:xfrm>
            <a:off x="1920240" y="1261872"/>
            <a:ext cx="1645920" cy="301752"/>
          </a:xfrm>
          <a:prstGeom prst="rect">
            <a:avLst/>
          </a:prstGeom>
          <a:noFill/>
          <a:ln/>
        </p:spPr>
        <p:txBody>
          <a:bodyPr wrap="square" lIns="0" tIns="0" rIns="0" bIns="0" rtlCol="0" anchor="ctr"/>
          <a:lstStyle/>
          <a:p>
            <a:pPr algn="ctr"/>
            <a:r>
              <a:rPr lang="en-US" sz="1500" b="1" dirty="0">
                <a:solidFill>
                  <a:srgbClr val="C0392B"/>
                </a:solidFill>
                <a:latin typeface="Calibri" pitchFamily="34" charset="0"/>
                <a:ea typeface="Calibri" pitchFamily="34" charset="-122"/>
                <a:cs typeface="Calibri" pitchFamily="34" charset="-120"/>
              </a:rPr>
              <a:t>0.76</a:t>
            </a:r>
            <a:endParaRPr lang="en-US" sz="1500" dirty="0"/>
          </a:p>
        </p:txBody>
      </p:sp>
      <p:sp>
        <p:nvSpPr>
          <p:cNvPr id="17" name="Text 15"/>
          <p:cNvSpPr/>
          <p:nvPr/>
        </p:nvSpPr>
        <p:spPr>
          <a:xfrm>
            <a:off x="19202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Recall (Stockout)</a:t>
            </a:r>
            <a:endParaRPr lang="en-US" sz="638" dirty="0"/>
          </a:p>
        </p:txBody>
      </p:sp>
      <p:sp>
        <p:nvSpPr>
          <p:cNvPr id="18" name="Shape 16"/>
          <p:cNvSpPr/>
          <p:nvPr/>
        </p:nvSpPr>
        <p:spPr>
          <a:xfrm>
            <a:off x="3634740" y="1248156"/>
            <a:ext cx="1645920" cy="514350"/>
          </a:xfrm>
          <a:prstGeom prst="rect">
            <a:avLst/>
          </a:prstGeom>
          <a:solidFill>
            <a:srgbClr val="E8F5ED"/>
          </a:solidFill>
          <a:ln w="15240">
            <a:solidFill>
              <a:srgbClr val="1A7A4A"/>
            </a:solidFill>
            <a:prstDash val="solid"/>
          </a:ln>
          <a:effectLst>
            <a:outerShdw blurRad="50800" dist="25400" dir="8100000" algn="bl" rotWithShape="0">
              <a:srgbClr val="000000">
                <a:alpha val="8000"/>
              </a:srgbClr>
            </a:outerShdw>
          </a:effectLst>
        </p:spPr>
        <p:txBody>
          <a:bodyPr/>
          <a:lstStyle/>
          <a:p>
            <a:endParaRPr lang="en-US" sz="1350"/>
          </a:p>
        </p:txBody>
      </p:sp>
      <p:sp>
        <p:nvSpPr>
          <p:cNvPr id="19" name="Text 17"/>
          <p:cNvSpPr/>
          <p:nvPr/>
        </p:nvSpPr>
        <p:spPr>
          <a:xfrm>
            <a:off x="3634740" y="1261872"/>
            <a:ext cx="1645920" cy="301752"/>
          </a:xfrm>
          <a:prstGeom prst="rect">
            <a:avLst/>
          </a:prstGeom>
          <a:noFill/>
          <a:ln/>
        </p:spPr>
        <p:txBody>
          <a:bodyPr wrap="square" lIns="0" tIns="0" rIns="0" bIns="0" rtlCol="0" anchor="ctr"/>
          <a:lstStyle/>
          <a:p>
            <a:pPr algn="ctr"/>
            <a:r>
              <a:rPr lang="en-US" sz="1500" b="1" dirty="0">
                <a:solidFill>
                  <a:srgbClr val="1A7A4A"/>
                </a:solidFill>
                <a:latin typeface="Calibri" pitchFamily="34" charset="0"/>
                <a:ea typeface="Calibri" pitchFamily="34" charset="-122"/>
                <a:cs typeface="Calibri" pitchFamily="34" charset="-120"/>
              </a:rPr>
              <a:t>0.87</a:t>
            </a:r>
            <a:endParaRPr lang="en-US" sz="1500" dirty="0"/>
          </a:p>
        </p:txBody>
      </p:sp>
      <p:sp>
        <p:nvSpPr>
          <p:cNvPr id="20" name="Text 18"/>
          <p:cNvSpPr/>
          <p:nvPr/>
        </p:nvSpPr>
        <p:spPr>
          <a:xfrm>
            <a:off x="36347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Precision</a:t>
            </a:r>
            <a:endParaRPr lang="en-US" sz="638" dirty="0"/>
          </a:p>
        </p:txBody>
      </p:sp>
      <p:sp>
        <p:nvSpPr>
          <p:cNvPr id="21" name="Shape 19"/>
          <p:cNvSpPr/>
          <p:nvPr/>
        </p:nvSpPr>
        <p:spPr>
          <a:xfrm>
            <a:off x="5349240" y="1248156"/>
            <a:ext cx="1645920" cy="514350"/>
          </a:xfrm>
          <a:prstGeom prst="rect">
            <a:avLst/>
          </a:prstGeom>
          <a:solidFill>
            <a:srgbClr val="E8F5ED"/>
          </a:solidFill>
          <a:ln w="15240">
            <a:solidFill>
              <a:srgbClr val="1A7A4A"/>
            </a:solidFill>
            <a:prstDash val="solid"/>
          </a:ln>
          <a:effectLst>
            <a:outerShdw blurRad="50800" dist="25400" dir="8100000" algn="bl" rotWithShape="0">
              <a:srgbClr val="000000">
                <a:alpha val="8000"/>
              </a:srgbClr>
            </a:outerShdw>
          </a:effectLst>
        </p:spPr>
        <p:txBody>
          <a:bodyPr/>
          <a:lstStyle/>
          <a:p>
            <a:endParaRPr lang="en-US" sz="1350"/>
          </a:p>
        </p:txBody>
      </p:sp>
      <p:sp>
        <p:nvSpPr>
          <p:cNvPr id="22" name="Text 20"/>
          <p:cNvSpPr/>
          <p:nvPr/>
        </p:nvSpPr>
        <p:spPr>
          <a:xfrm>
            <a:off x="5349240" y="1261872"/>
            <a:ext cx="1645920" cy="301752"/>
          </a:xfrm>
          <a:prstGeom prst="rect">
            <a:avLst/>
          </a:prstGeom>
          <a:noFill/>
          <a:ln/>
        </p:spPr>
        <p:txBody>
          <a:bodyPr wrap="square" lIns="0" tIns="0" rIns="0" bIns="0" rtlCol="0" anchor="ctr"/>
          <a:lstStyle/>
          <a:p>
            <a:pPr algn="ctr"/>
            <a:r>
              <a:rPr lang="en-US" sz="1500" b="1" dirty="0">
                <a:solidFill>
                  <a:srgbClr val="1A7A4A"/>
                </a:solidFill>
                <a:latin typeface="Calibri" pitchFamily="34" charset="0"/>
                <a:ea typeface="Calibri" pitchFamily="34" charset="-122"/>
                <a:cs typeface="Calibri" pitchFamily="34" charset="-120"/>
              </a:rPr>
              <a:t>0.86</a:t>
            </a:r>
            <a:endParaRPr lang="en-US" sz="1500" dirty="0"/>
          </a:p>
        </p:txBody>
      </p:sp>
      <p:sp>
        <p:nvSpPr>
          <p:cNvPr id="23" name="Text 21"/>
          <p:cNvSpPr/>
          <p:nvPr/>
        </p:nvSpPr>
        <p:spPr>
          <a:xfrm>
            <a:off x="53492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F1 Score</a:t>
            </a:r>
            <a:endParaRPr lang="en-US" sz="638" dirty="0"/>
          </a:p>
        </p:txBody>
      </p:sp>
      <p:sp>
        <p:nvSpPr>
          <p:cNvPr id="24" name="Shape 22"/>
          <p:cNvSpPr/>
          <p:nvPr/>
        </p:nvSpPr>
        <p:spPr>
          <a:xfrm>
            <a:off x="7063740" y="1248156"/>
            <a:ext cx="1645920" cy="514350"/>
          </a:xfrm>
          <a:prstGeom prst="rect">
            <a:avLst/>
          </a:prstGeom>
          <a:solidFill>
            <a:srgbClr val="E8F9FC"/>
          </a:solidFill>
          <a:ln w="15240">
            <a:solidFill>
              <a:srgbClr val="0E7C86"/>
            </a:solidFill>
            <a:prstDash val="solid"/>
          </a:ln>
          <a:effectLst>
            <a:outerShdw blurRad="50800" dist="25400" dir="8100000" algn="bl" rotWithShape="0">
              <a:srgbClr val="000000">
                <a:alpha val="8000"/>
              </a:srgbClr>
            </a:outerShdw>
          </a:effectLst>
        </p:spPr>
        <p:txBody>
          <a:bodyPr/>
          <a:lstStyle/>
          <a:p>
            <a:endParaRPr lang="en-US" sz="1350"/>
          </a:p>
        </p:txBody>
      </p:sp>
      <p:sp>
        <p:nvSpPr>
          <p:cNvPr id="25" name="Text 23"/>
          <p:cNvSpPr/>
          <p:nvPr/>
        </p:nvSpPr>
        <p:spPr>
          <a:xfrm>
            <a:off x="7063740" y="1261872"/>
            <a:ext cx="1645920" cy="301752"/>
          </a:xfrm>
          <a:prstGeom prst="rect">
            <a:avLst/>
          </a:prstGeom>
          <a:noFill/>
          <a:ln/>
        </p:spPr>
        <p:txBody>
          <a:bodyPr wrap="square" lIns="0" tIns="0" rIns="0" bIns="0" rtlCol="0" anchor="ctr"/>
          <a:lstStyle/>
          <a:p>
            <a:pPr algn="ctr"/>
            <a:r>
              <a:rPr lang="en-US" sz="1500" b="1" dirty="0">
                <a:solidFill>
                  <a:srgbClr val="0E7C86"/>
                </a:solidFill>
                <a:latin typeface="Calibri" pitchFamily="34" charset="0"/>
                <a:ea typeface="Calibri" pitchFamily="34" charset="-122"/>
                <a:cs typeface="Calibri" pitchFamily="34" charset="-120"/>
              </a:rPr>
              <a:t>0.9361</a:t>
            </a:r>
            <a:endParaRPr lang="en-US" sz="1500" dirty="0"/>
          </a:p>
        </p:txBody>
      </p:sp>
      <p:sp>
        <p:nvSpPr>
          <p:cNvPr id="26" name="Text 24"/>
          <p:cNvSpPr/>
          <p:nvPr/>
        </p:nvSpPr>
        <p:spPr>
          <a:xfrm>
            <a:off x="7063740" y="1563624"/>
            <a:ext cx="1645920" cy="178308"/>
          </a:xfrm>
          <a:prstGeom prst="rect">
            <a:avLst/>
          </a:prstGeom>
          <a:noFill/>
          <a:ln/>
        </p:spPr>
        <p:txBody>
          <a:bodyPr wrap="square" lIns="0" tIns="0" rIns="0" bIns="0" rtlCol="0" anchor="ctr"/>
          <a:lstStyle/>
          <a:p>
            <a:pPr algn="ctr"/>
            <a:r>
              <a:rPr lang="en-US" sz="638" dirty="0">
                <a:solidFill>
                  <a:srgbClr val="4A5568"/>
                </a:solidFill>
                <a:latin typeface="Calibri" pitchFamily="34" charset="0"/>
                <a:ea typeface="Calibri" pitchFamily="34" charset="-122"/>
                <a:cs typeface="Calibri" pitchFamily="34" charset="-120"/>
              </a:rPr>
              <a:t>ROC-AUC</a:t>
            </a:r>
            <a:endParaRPr lang="en-US" sz="638" dirty="0"/>
          </a:p>
        </p:txBody>
      </p:sp>
      <p:sp>
        <p:nvSpPr>
          <p:cNvPr id="27" name="Shape 25"/>
          <p:cNvSpPr/>
          <p:nvPr/>
        </p:nvSpPr>
        <p:spPr>
          <a:xfrm>
            <a:off x="205740" y="1865376"/>
            <a:ext cx="2743200" cy="1817370"/>
          </a:xfrm>
          <a:prstGeom prst="rect">
            <a:avLst/>
          </a:prstGeom>
          <a:solidFill>
            <a:srgbClr val="FFFFFF"/>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28" name="Shape 26"/>
          <p:cNvSpPr/>
          <p:nvPr/>
        </p:nvSpPr>
        <p:spPr>
          <a:xfrm>
            <a:off x="205740" y="1865376"/>
            <a:ext cx="2743200" cy="260604"/>
          </a:xfrm>
          <a:prstGeom prst="rect">
            <a:avLst/>
          </a:prstGeom>
          <a:solidFill>
            <a:srgbClr val="0E7C86"/>
          </a:solidFill>
          <a:ln w="12700">
            <a:solidFill>
              <a:srgbClr val="0E7C86"/>
            </a:solidFill>
            <a:prstDash val="solid"/>
          </a:ln>
        </p:spPr>
        <p:txBody>
          <a:bodyPr/>
          <a:lstStyle/>
          <a:p>
            <a:endParaRPr lang="en-US" sz="1350"/>
          </a:p>
        </p:txBody>
      </p:sp>
      <p:sp>
        <p:nvSpPr>
          <p:cNvPr id="29" name="Text 27"/>
          <p:cNvSpPr/>
          <p:nvPr/>
        </p:nvSpPr>
        <p:spPr>
          <a:xfrm>
            <a:off x="205740" y="1865376"/>
            <a:ext cx="2743200" cy="260604"/>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Confusion Matrix</a:t>
            </a:r>
            <a:endParaRPr lang="en-US" sz="750" dirty="0"/>
          </a:p>
        </p:txBody>
      </p:sp>
      <p:sp>
        <p:nvSpPr>
          <p:cNvPr id="30" name="Text 28"/>
          <p:cNvSpPr/>
          <p:nvPr/>
        </p:nvSpPr>
        <p:spPr>
          <a:xfrm>
            <a:off x="226314" y="2160270"/>
            <a:ext cx="857250" cy="425196"/>
          </a:xfrm>
          <a:prstGeom prst="rect">
            <a:avLst/>
          </a:prstGeom>
          <a:noFill/>
          <a:ln/>
        </p:spPr>
        <p:txBody>
          <a:bodyPr wrap="square" lIns="0" tIns="0" rIns="0" bIns="0" rtlCol="0" anchor="ctr"/>
          <a:lstStyle/>
          <a:p>
            <a:pPr algn="ctr"/>
            <a:endParaRPr lang="en-US" sz="563" dirty="0"/>
          </a:p>
        </p:txBody>
      </p:sp>
      <p:sp>
        <p:nvSpPr>
          <p:cNvPr id="31" name="Text 29"/>
          <p:cNvSpPr/>
          <p:nvPr/>
        </p:nvSpPr>
        <p:spPr>
          <a:xfrm>
            <a:off x="1117854" y="2160270"/>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Pred: No Stockout</a:t>
            </a:r>
            <a:endParaRPr lang="en-US" sz="563" dirty="0"/>
          </a:p>
        </p:txBody>
      </p:sp>
      <p:sp>
        <p:nvSpPr>
          <p:cNvPr id="32" name="Text 30"/>
          <p:cNvSpPr/>
          <p:nvPr/>
        </p:nvSpPr>
        <p:spPr>
          <a:xfrm>
            <a:off x="2009394" y="2160270"/>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Pred: Stockout</a:t>
            </a:r>
            <a:endParaRPr lang="en-US" sz="563" dirty="0"/>
          </a:p>
        </p:txBody>
      </p:sp>
      <p:sp>
        <p:nvSpPr>
          <p:cNvPr id="33" name="Text 31"/>
          <p:cNvSpPr/>
          <p:nvPr/>
        </p:nvSpPr>
        <p:spPr>
          <a:xfrm>
            <a:off x="226314" y="2626614"/>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Act: No Stockout</a:t>
            </a:r>
            <a:endParaRPr lang="en-US" sz="563" dirty="0"/>
          </a:p>
        </p:txBody>
      </p:sp>
      <p:sp>
        <p:nvSpPr>
          <p:cNvPr id="34" name="Shape 32"/>
          <p:cNvSpPr/>
          <p:nvPr/>
        </p:nvSpPr>
        <p:spPr>
          <a:xfrm>
            <a:off x="1117854" y="2626614"/>
            <a:ext cx="857250" cy="425196"/>
          </a:xfrm>
          <a:prstGeom prst="rect">
            <a:avLst/>
          </a:prstGeom>
          <a:solidFill>
            <a:srgbClr val="E8F5ED"/>
          </a:solidFill>
          <a:ln w="6350">
            <a:solidFill>
              <a:srgbClr val="E2E8F0"/>
            </a:solidFill>
            <a:prstDash val="solid"/>
          </a:ln>
        </p:spPr>
        <p:txBody>
          <a:bodyPr/>
          <a:lstStyle/>
          <a:p>
            <a:endParaRPr lang="en-US" sz="1350"/>
          </a:p>
        </p:txBody>
      </p:sp>
      <p:sp>
        <p:nvSpPr>
          <p:cNvPr id="35" name="Text 33"/>
          <p:cNvSpPr/>
          <p:nvPr/>
        </p:nvSpPr>
        <p:spPr>
          <a:xfrm>
            <a:off x="1117854" y="2626614"/>
            <a:ext cx="857250" cy="425196"/>
          </a:xfrm>
          <a:prstGeom prst="rect">
            <a:avLst/>
          </a:prstGeom>
          <a:noFill/>
          <a:ln/>
        </p:spPr>
        <p:txBody>
          <a:bodyPr wrap="square" lIns="0" tIns="0" rIns="0" bIns="0" rtlCol="0" anchor="ctr"/>
          <a:lstStyle/>
          <a:p>
            <a:pPr algn="ctr"/>
            <a:r>
              <a:rPr lang="en-US" sz="750" b="1" dirty="0">
                <a:solidFill>
                  <a:srgbClr val="1A7A4A"/>
                </a:solidFill>
                <a:latin typeface="Calibri" pitchFamily="34" charset="0"/>
                <a:ea typeface="Calibri" pitchFamily="34" charset="-122"/>
                <a:cs typeface="Calibri" pitchFamily="34" charset="-120"/>
              </a:rPr>
              <a:t>TN = 2,153</a:t>
            </a:r>
            <a:endParaRPr lang="en-US" sz="750" dirty="0"/>
          </a:p>
        </p:txBody>
      </p:sp>
      <p:sp>
        <p:nvSpPr>
          <p:cNvPr id="36" name="Shape 34"/>
          <p:cNvSpPr/>
          <p:nvPr/>
        </p:nvSpPr>
        <p:spPr>
          <a:xfrm>
            <a:off x="2009394" y="2626614"/>
            <a:ext cx="857250" cy="425196"/>
          </a:xfrm>
          <a:prstGeom prst="rect">
            <a:avLst/>
          </a:prstGeom>
          <a:solidFill>
            <a:srgbClr val="FDEDEC"/>
          </a:solidFill>
          <a:ln w="6350">
            <a:solidFill>
              <a:srgbClr val="E2E8F0"/>
            </a:solidFill>
            <a:prstDash val="solid"/>
          </a:ln>
        </p:spPr>
        <p:txBody>
          <a:bodyPr/>
          <a:lstStyle/>
          <a:p>
            <a:endParaRPr lang="en-US" sz="1350"/>
          </a:p>
        </p:txBody>
      </p:sp>
      <p:sp>
        <p:nvSpPr>
          <p:cNvPr id="37" name="Text 35"/>
          <p:cNvSpPr/>
          <p:nvPr/>
        </p:nvSpPr>
        <p:spPr>
          <a:xfrm>
            <a:off x="2009394" y="2626614"/>
            <a:ext cx="857250" cy="425196"/>
          </a:xfrm>
          <a:prstGeom prst="rect">
            <a:avLst/>
          </a:prstGeom>
          <a:noFill/>
          <a:ln/>
        </p:spPr>
        <p:txBody>
          <a:bodyPr wrap="square" lIns="0" tIns="0" rIns="0" bIns="0" rtlCol="0" anchor="ctr"/>
          <a:lstStyle/>
          <a:p>
            <a:pPr algn="ctr"/>
            <a:r>
              <a:rPr lang="en-US" sz="750" dirty="0">
                <a:solidFill>
                  <a:srgbClr val="C0392B"/>
                </a:solidFill>
                <a:latin typeface="Calibri" pitchFamily="34" charset="0"/>
                <a:ea typeface="Calibri" pitchFamily="34" charset="-122"/>
                <a:cs typeface="Calibri" pitchFamily="34" charset="-120"/>
              </a:rPr>
              <a:t>FP = 7</a:t>
            </a:r>
            <a:endParaRPr lang="en-US" sz="750" dirty="0"/>
          </a:p>
        </p:txBody>
      </p:sp>
      <p:sp>
        <p:nvSpPr>
          <p:cNvPr id="38" name="Text 36"/>
          <p:cNvSpPr/>
          <p:nvPr/>
        </p:nvSpPr>
        <p:spPr>
          <a:xfrm>
            <a:off x="226314" y="3092958"/>
            <a:ext cx="857250" cy="425196"/>
          </a:xfrm>
          <a:prstGeom prst="rect">
            <a:avLst/>
          </a:prstGeom>
          <a:noFill/>
          <a:ln/>
        </p:spPr>
        <p:txBody>
          <a:bodyPr wrap="square" lIns="0" tIns="0" rIns="0" bIns="0" rtlCol="0" anchor="ctr"/>
          <a:lstStyle/>
          <a:p>
            <a:pPr algn="ctr"/>
            <a:r>
              <a:rPr lang="en-US" sz="563" b="1" dirty="0">
                <a:solidFill>
                  <a:srgbClr val="0D2B5C"/>
                </a:solidFill>
                <a:latin typeface="Calibri" pitchFamily="34" charset="0"/>
                <a:ea typeface="Calibri" pitchFamily="34" charset="-122"/>
                <a:cs typeface="Calibri" pitchFamily="34" charset="-120"/>
              </a:rPr>
              <a:t>Act: Stockout</a:t>
            </a:r>
            <a:endParaRPr lang="en-US" sz="563" dirty="0"/>
          </a:p>
        </p:txBody>
      </p:sp>
      <p:sp>
        <p:nvSpPr>
          <p:cNvPr id="39" name="Shape 37"/>
          <p:cNvSpPr/>
          <p:nvPr/>
        </p:nvSpPr>
        <p:spPr>
          <a:xfrm>
            <a:off x="1117854" y="3092958"/>
            <a:ext cx="857250" cy="425196"/>
          </a:xfrm>
          <a:prstGeom prst="rect">
            <a:avLst/>
          </a:prstGeom>
          <a:solidFill>
            <a:srgbClr val="FDEDEC"/>
          </a:solidFill>
          <a:ln w="6350">
            <a:solidFill>
              <a:srgbClr val="E2E8F0"/>
            </a:solidFill>
            <a:prstDash val="solid"/>
          </a:ln>
        </p:spPr>
        <p:txBody>
          <a:bodyPr/>
          <a:lstStyle/>
          <a:p>
            <a:endParaRPr lang="en-US" sz="1350"/>
          </a:p>
        </p:txBody>
      </p:sp>
      <p:sp>
        <p:nvSpPr>
          <p:cNvPr id="40" name="Text 38"/>
          <p:cNvSpPr/>
          <p:nvPr/>
        </p:nvSpPr>
        <p:spPr>
          <a:xfrm>
            <a:off x="1117854" y="3092958"/>
            <a:ext cx="857250" cy="425196"/>
          </a:xfrm>
          <a:prstGeom prst="rect">
            <a:avLst/>
          </a:prstGeom>
          <a:noFill/>
          <a:ln/>
        </p:spPr>
        <p:txBody>
          <a:bodyPr wrap="square" lIns="0" tIns="0" rIns="0" bIns="0" rtlCol="0" anchor="ctr"/>
          <a:lstStyle/>
          <a:p>
            <a:pPr algn="ctr"/>
            <a:r>
              <a:rPr lang="en-US" sz="750" dirty="0">
                <a:solidFill>
                  <a:srgbClr val="C0392B"/>
                </a:solidFill>
                <a:latin typeface="Calibri" pitchFamily="34" charset="0"/>
                <a:ea typeface="Calibri" pitchFamily="34" charset="-122"/>
                <a:cs typeface="Calibri" pitchFamily="34" charset="-120"/>
              </a:rPr>
              <a:t>FN = 15 ⚠</a:t>
            </a:r>
            <a:endParaRPr lang="en-US" sz="750" dirty="0"/>
          </a:p>
        </p:txBody>
      </p:sp>
      <p:sp>
        <p:nvSpPr>
          <p:cNvPr id="41" name="Shape 39"/>
          <p:cNvSpPr/>
          <p:nvPr/>
        </p:nvSpPr>
        <p:spPr>
          <a:xfrm>
            <a:off x="2009394" y="3092958"/>
            <a:ext cx="857250" cy="425196"/>
          </a:xfrm>
          <a:prstGeom prst="rect">
            <a:avLst/>
          </a:prstGeom>
          <a:solidFill>
            <a:srgbClr val="E8F5ED"/>
          </a:solidFill>
          <a:ln w="6350">
            <a:solidFill>
              <a:srgbClr val="E2E8F0"/>
            </a:solidFill>
            <a:prstDash val="solid"/>
          </a:ln>
        </p:spPr>
        <p:txBody>
          <a:bodyPr/>
          <a:lstStyle/>
          <a:p>
            <a:endParaRPr lang="en-US" sz="1350"/>
          </a:p>
        </p:txBody>
      </p:sp>
      <p:sp>
        <p:nvSpPr>
          <p:cNvPr id="42" name="Text 40"/>
          <p:cNvSpPr/>
          <p:nvPr/>
        </p:nvSpPr>
        <p:spPr>
          <a:xfrm>
            <a:off x="2009394" y="3092958"/>
            <a:ext cx="857250" cy="425196"/>
          </a:xfrm>
          <a:prstGeom prst="rect">
            <a:avLst/>
          </a:prstGeom>
          <a:noFill/>
          <a:ln/>
        </p:spPr>
        <p:txBody>
          <a:bodyPr wrap="square" lIns="0" tIns="0" rIns="0" bIns="0" rtlCol="0" anchor="ctr"/>
          <a:lstStyle/>
          <a:p>
            <a:pPr algn="ctr"/>
            <a:r>
              <a:rPr lang="en-US" sz="750" b="1" dirty="0">
                <a:solidFill>
                  <a:srgbClr val="1A7A4A"/>
                </a:solidFill>
                <a:latin typeface="Calibri" pitchFamily="34" charset="0"/>
                <a:ea typeface="Calibri" pitchFamily="34" charset="-122"/>
                <a:cs typeface="Calibri" pitchFamily="34" charset="-120"/>
              </a:rPr>
              <a:t>TP = 48</a:t>
            </a:r>
            <a:endParaRPr lang="en-US" sz="750" dirty="0"/>
          </a:p>
        </p:txBody>
      </p:sp>
      <p:sp>
        <p:nvSpPr>
          <p:cNvPr id="43" name="Shape 41"/>
          <p:cNvSpPr/>
          <p:nvPr/>
        </p:nvSpPr>
        <p:spPr>
          <a:xfrm>
            <a:off x="3120390" y="1865376"/>
            <a:ext cx="3188970" cy="1817370"/>
          </a:xfrm>
          <a:prstGeom prst="rect">
            <a:avLst/>
          </a:prstGeom>
          <a:solidFill>
            <a:srgbClr val="FFFFFF"/>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44" name="Shape 42"/>
          <p:cNvSpPr/>
          <p:nvPr/>
        </p:nvSpPr>
        <p:spPr>
          <a:xfrm>
            <a:off x="3120390" y="1865376"/>
            <a:ext cx="3188970" cy="260604"/>
          </a:xfrm>
          <a:prstGeom prst="rect">
            <a:avLst/>
          </a:prstGeom>
          <a:solidFill>
            <a:srgbClr val="0E7C86"/>
          </a:solidFill>
          <a:ln w="12700">
            <a:solidFill>
              <a:srgbClr val="0E7C86"/>
            </a:solidFill>
            <a:prstDash val="solid"/>
          </a:ln>
        </p:spPr>
        <p:txBody>
          <a:bodyPr/>
          <a:lstStyle/>
          <a:p>
            <a:endParaRPr lang="en-US" sz="1350"/>
          </a:p>
        </p:txBody>
      </p:sp>
      <p:sp>
        <p:nvSpPr>
          <p:cNvPr id="45" name="Text 43"/>
          <p:cNvSpPr/>
          <p:nvPr/>
        </p:nvSpPr>
        <p:spPr>
          <a:xfrm>
            <a:off x="3120390" y="1865376"/>
            <a:ext cx="3188970" cy="260604"/>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Model Observations</a:t>
            </a:r>
            <a:endParaRPr lang="en-US" sz="750" dirty="0"/>
          </a:p>
        </p:txBody>
      </p:sp>
      <p:sp>
        <p:nvSpPr>
          <p:cNvPr id="46" name="Text 44"/>
          <p:cNvSpPr/>
          <p:nvPr/>
        </p:nvSpPr>
        <p:spPr>
          <a:xfrm>
            <a:off x="3209544" y="2167128"/>
            <a:ext cx="3031236" cy="1474470"/>
          </a:xfrm>
          <a:prstGeom prst="rect">
            <a:avLst/>
          </a:prstGeom>
          <a:noFill/>
          <a:ln/>
        </p:spPr>
        <p:txBody>
          <a:bodyPr wrap="square" lIns="38100" tIns="0" rIns="0" bIns="0" rtlCol="0" anchor="t"/>
          <a:lstStyle/>
          <a:p>
            <a:r>
              <a:rPr lang="en-US" sz="713" b="1" dirty="0">
                <a:solidFill>
                  <a:srgbClr val="1A7A4A"/>
                </a:solidFill>
                <a:latin typeface="Calibri" pitchFamily="34" charset="0"/>
                <a:ea typeface="Calibri" pitchFamily="34" charset="-122"/>
                <a:cs typeface="Calibri" pitchFamily="34" charset="-120"/>
              </a:rPr>
              <a:t>Accuracy = 99%</a:t>
            </a:r>
            <a:endParaRPr lang="en-US" sz="713" dirty="0"/>
          </a:p>
          <a:p>
            <a:r>
              <a:rPr lang="en-US" sz="675" dirty="0">
                <a:solidFill>
                  <a:srgbClr val="2C3E50"/>
                </a:solidFill>
                <a:latin typeface="Calibri" pitchFamily="34" charset="0"/>
                <a:ea typeface="Calibri" pitchFamily="34" charset="-122"/>
                <a:cs typeface="Calibri" pitchFamily="34" charset="-120"/>
              </a:rPr>
              <a:t>Correctly classifies 99% of records — excellent overall accuracy.</a:t>
            </a:r>
            <a:endParaRPr lang="en-US" sz="713" dirty="0"/>
          </a:p>
          <a:p>
            <a:r>
              <a:rPr lang="en-US" sz="713" b="1" dirty="0">
                <a:solidFill>
                  <a:srgbClr val="C0392B"/>
                </a:solidFill>
                <a:latin typeface="Calibri" pitchFamily="34" charset="0"/>
                <a:ea typeface="Calibri" pitchFamily="34" charset="-122"/>
                <a:cs typeface="Calibri" pitchFamily="34" charset="-120"/>
              </a:rPr>
              <a:t>Recall = 0.76 (Stockout)</a:t>
            </a:r>
            <a:endParaRPr lang="en-US" sz="713" dirty="0"/>
          </a:p>
          <a:p>
            <a:r>
              <a:rPr lang="en-US" sz="675" dirty="0">
                <a:solidFill>
                  <a:srgbClr val="2C3E50"/>
                </a:solidFill>
                <a:latin typeface="Calibri" pitchFamily="34" charset="0"/>
                <a:ea typeface="Calibri" pitchFamily="34" charset="-122"/>
                <a:cs typeface="Calibri" pitchFamily="34" charset="-120"/>
              </a:rPr>
              <a:t>Misses 15 actual stockouts (FN=15) — unacceptable in healthcare context.</a:t>
            </a:r>
            <a:endParaRPr lang="en-US" sz="713" dirty="0"/>
          </a:p>
          <a:p>
            <a:r>
              <a:rPr lang="en-US" sz="713" b="1" dirty="0">
                <a:solidFill>
                  <a:srgbClr val="1A7A4A"/>
                </a:solidFill>
                <a:latin typeface="Calibri" pitchFamily="34" charset="0"/>
                <a:ea typeface="Calibri" pitchFamily="34" charset="-122"/>
                <a:cs typeface="Calibri" pitchFamily="34" charset="-120"/>
              </a:rPr>
              <a:t>F1 Score = 0.86</a:t>
            </a:r>
            <a:endParaRPr lang="en-US" sz="713" dirty="0"/>
          </a:p>
          <a:p>
            <a:r>
              <a:rPr lang="en-US" sz="675" dirty="0">
                <a:solidFill>
                  <a:srgbClr val="2C3E50"/>
                </a:solidFill>
                <a:latin typeface="Calibri" pitchFamily="34" charset="0"/>
                <a:ea typeface="Calibri" pitchFamily="34" charset="-122"/>
                <a:cs typeface="Calibri" pitchFamily="34" charset="-120"/>
              </a:rPr>
              <a:t>Strong precision-recall balance for non-critical procurement planning.</a:t>
            </a:r>
            <a:endParaRPr lang="en-US" sz="713" dirty="0"/>
          </a:p>
          <a:p>
            <a:r>
              <a:rPr lang="en-US" sz="675" dirty="0">
                <a:solidFill>
                  <a:srgbClr val="2C3E50"/>
                </a:solidFill>
                <a:latin typeface="Calibri" pitchFamily="34" charset="0"/>
                <a:ea typeface="Calibri" pitchFamily="34" charset="-122"/>
                <a:cs typeface="Calibri" pitchFamily="34" charset="-120"/>
              </a:rPr>
              <a:t>FP = 7 only — very few false alarms raised vs LR's 260.</a:t>
            </a:r>
            <a:endParaRPr lang="en-US" sz="713" dirty="0"/>
          </a:p>
        </p:txBody>
      </p:sp>
      <p:sp>
        <p:nvSpPr>
          <p:cNvPr id="47" name="Shape 45"/>
          <p:cNvSpPr/>
          <p:nvPr/>
        </p:nvSpPr>
        <p:spPr>
          <a:xfrm>
            <a:off x="6480810" y="1865376"/>
            <a:ext cx="2434590" cy="1817370"/>
          </a:xfrm>
          <a:prstGeom prst="rect">
            <a:avLst/>
          </a:prstGeom>
          <a:solidFill>
            <a:srgbClr val="FFFFFF"/>
          </a:solidFill>
          <a:ln w="12700">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48" name="Shape 46"/>
          <p:cNvSpPr/>
          <p:nvPr/>
        </p:nvSpPr>
        <p:spPr>
          <a:xfrm>
            <a:off x="6480810" y="1865376"/>
            <a:ext cx="2434590" cy="260604"/>
          </a:xfrm>
          <a:prstGeom prst="rect">
            <a:avLst/>
          </a:prstGeom>
          <a:solidFill>
            <a:srgbClr val="0D2B5C"/>
          </a:solidFill>
          <a:ln w="12700">
            <a:solidFill>
              <a:srgbClr val="0D2B5C"/>
            </a:solidFill>
            <a:prstDash val="solid"/>
          </a:ln>
        </p:spPr>
        <p:txBody>
          <a:bodyPr/>
          <a:lstStyle/>
          <a:p>
            <a:endParaRPr lang="en-US" sz="1350"/>
          </a:p>
        </p:txBody>
      </p:sp>
      <p:sp>
        <p:nvSpPr>
          <p:cNvPr id="49" name="Text 47"/>
          <p:cNvSpPr/>
          <p:nvPr/>
        </p:nvSpPr>
        <p:spPr>
          <a:xfrm>
            <a:off x="6480810" y="1865376"/>
            <a:ext cx="2434590" cy="260604"/>
          </a:xfrm>
          <a:prstGeom prst="rect">
            <a:avLst/>
          </a:prstGeom>
          <a:noFill/>
          <a:ln/>
        </p:spPr>
        <p:txBody>
          <a:bodyPr wrap="square" lIns="0" tIns="0" rIns="0" bIns="0" rtlCol="0" anchor="ctr"/>
          <a:lstStyle/>
          <a:p>
            <a:pPr algn="ctr"/>
            <a:r>
              <a:rPr lang="en-US" sz="750" b="1" dirty="0">
                <a:solidFill>
                  <a:srgbClr val="FFFFFF"/>
                </a:solidFill>
                <a:latin typeface="Calibri" pitchFamily="34" charset="0"/>
                <a:ea typeface="Calibri" pitchFamily="34" charset="-122"/>
                <a:cs typeface="Calibri" pitchFamily="34" charset="-120"/>
              </a:rPr>
              <a:t>ROC-AUC Score</a:t>
            </a:r>
            <a:endParaRPr lang="en-US" sz="750" dirty="0"/>
          </a:p>
        </p:txBody>
      </p:sp>
      <p:sp>
        <p:nvSpPr>
          <p:cNvPr id="50" name="Text 48"/>
          <p:cNvSpPr/>
          <p:nvPr/>
        </p:nvSpPr>
        <p:spPr>
          <a:xfrm>
            <a:off x="6480810" y="2139696"/>
            <a:ext cx="2434590" cy="514350"/>
          </a:xfrm>
          <a:prstGeom prst="rect">
            <a:avLst/>
          </a:prstGeom>
          <a:noFill/>
          <a:ln/>
        </p:spPr>
        <p:txBody>
          <a:bodyPr wrap="square" lIns="0" tIns="0" rIns="0" bIns="0" rtlCol="0" anchor="ctr"/>
          <a:lstStyle/>
          <a:p>
            <a:pPr algn="ctr"/>
            <a:r>
              <a:rPr lang="en-US" sz="2850" b="1" dirty="0">
                <a:solidFill>
                  <a:srgbClr val="0D2B5C"/>
                </a:solidFill>
                <a:latin typeface="Calibri" pitchFamily="34" charset="0"/>
                <a:ea typeface="Calibri" pitchFamily="34" charset="-122"/>
                <a:cs typeface="Calibri" pitchFamily="34" charset="-120"/>
              </a:rPr>
              <a:t>0.9361</a:t>
            </a:r>
            <a:endParaRPr lang="en-US" sz="2850" dirty="0"/>
          </a:p>
        </p:txBody>
      </p:sp>
      <p:sp>
        <p:nvSpPr>
          <p:cNvPr id="51" name="Text 49"/>
          <p:cNvSpPr/>
          <p:nvPr/>
        </p:nvSpPr>
        <p:spPr>
          <a:xfrm>
            <a:off x="6549390" y="2674620"/>
            <a:ext cx="2297430" cy="288036"/>
          </a:xfrm>
          <a:prstGeom prst="rect">
            <a:avLst/>
          </a:prstGeom>
          <a:noFill/>
          <a:ln/>
        </p:spPr>
        <p:txBody>
          <a:bodyPr wrap="square" lIns="0" tIns="0" rIns="0" bIns="0" rtlCol="0" anchor="ctr"/>
          <a:lstStyle/>
          <a:p>
            <a:pPr algn="ctr"/>
            <a:r>
              <a:rPr lang="en-US" sz="675" dirty="0">
                <a:solidFill>
                  <a:srgbClr val="4A5568"/>
                </a:solidFill>
                <a:latin typeface="Calibri" pitchFamily="34" charset="0"/>
                <a:ea typeface="Calibri" pitchFamily="34" charset="-122"/>
                <a:cs typeface="Calibri" pitchFamily="34" charset="-120"/>
              </a:rPr>
              <a:t>93.61% ability to distinguish</a:t>
            </a:r>
            <a:endParaRPr lang="en-US" sz="675" dirty="0"/>
          </a:p>
          <a:p>
            <a:pPr algn="ctr"/>
            <a:r>
              <a:rPr lang="en-US" sz="675" dirty="0">
                <a:solidFill>
                  <a:srgbClr val="4A5568"/>
                </a:solidFill>
                <a:latin typeface="Calibri" pitchFamily="34" charset="0"/>
                <a:ea typeface="Calibri" pitchFamily="34" charset="-122"/>
                <a:cs typeface="Calibri" pitchFamily="34" charset="-120"/>
              </a:rPr>
              <a:t>Stockout vs No Stockout</a:t>
            </a:r>
            <a:endParaRPr lang="en-US" sz="675" dirty="0"/>
          </a:p>
        </p:txBody>
      </p:sp>
      <p:sp>
        <p:nvSpPr>
          <p:cNvPr id="52" name="Shape 50"/>
          <p:cNvSpPr/>
          <p:nvPr/>
        </p:nvSpPr>
        <p:spPr>
          <a:xfrm>
            <a:off x="6583680" y="3017520"/>
            <a:ext cx="2125980" cy="137160"/>
          </a:xfrm>
          <a:prstGeom prst="rect">
            <a:avLst/>
          </a:prstGeom>
          <a:solidFill>
            <a:srgbClr val="E2E8F0"/>
          </a:solidFill>
          <a:ln w="12700">
            <a:solidFill>
              <a:srgbClr val="E2E8F0"/>
            </a:solidFill>
            <a:prstDash val="solid"/>
          </a:ln>
        </p:spPr>
        <p:txBody>
          <a:bodyPr/>
          <a:lstStyle/>
          <a:p>
            <a:endParaRPr lang="en-US" sz="1350"/>
          </a:p>
        </p:txBody>
      </p:sp>
      <p:sp>
        <p:nvSpPr>
          <p:cNvPr id="53" name="Shape 51"/>
          <p:cNvSpPr/>
          <p:nvPr/>
        </p:nvSpPr>
        <p:spPr>
          <a:xfrm>
            <a:off x="6583681" y="3017520"/>
            <a:ext cx="1990130" cy="137160"/>
          </a:xfrm>
          <a:prstGeom prst="rect">
            <a:avLst/>
          </a:prstGeom>
          <a:solidFill>
            <a:srgbClr val="0D2B5C"/>
          </a:solidFill>
          <a:ln w="12700">
            <a:solidFill>
              <a:srgbClr val="0D2B5C"/>
            </a:solidFill>
            <a:prstDash val="solid"/>
          </a:ln>
        </p:spPr>
        <p:txBody>
          <a:bodyPr/>
          <a:lstStyle/>
          <a:p>
            <a:endParaRPr lang="en-US" sz="1350"/>
          </a:p>
        </p:txBody>
      </p:sp>
      <p:sp>
        <p:nvSpPr>
          <p:cNvPr id="54" name="Text 52"/>
          <p:cNvSpPr/>
          <p:nvPr/>
        </p:nvSpPr>
        <p:spPr>
          <a:xfrm>
            <a:off x="6583680" y="3168396"/>
            <a:ext cx="2125980" cy="150876"/>
          </a:xfrm>
          <a:prstGeom prst="rect">
            <a:avLst/>
          </a:prstGeom>
          <a:noFill/>
          <a:ln/>
        </p:spPr>
        <p:txBody>
          <a:bodyPr wrap="square" lIns="0" tIns="0" rIns="0" bIns="0" rtlCol="0" anchor="ctr"/>
          <a:lstStyle/>
          <a:p>
            <a:pPr algn="ctr"/>
            <a:r>
              <a:rPr lang="en-US" sz="600" b="1" dirty="0">
                <a:solidFill>
                  <a:srgbClr val="0D2B5C"/>
                </a:solidFill>
                <a:latin typeface="Calibri" pitchFamily="34" charset="0"/>
                <a:ea typeface="Calibri" pitchFamily="34" charset="-122"/>
                <a:cs typeface="Calibri" pitchFamily="34" charset="-120"/>
              </a:rPr>
              <a:t>AUC = 0.9361</a:t>
            </a:r>
            <a:endParaRPr lang="en-US" sz="600" dirty="0"/>
          </a:p>
        </p:txBody>
      </p:sp>
      <p:sp>
        <p:nvSpPr>
          <p:cNvPr id="55" name="Text 53"/>
          <p:cNvSpPr/>
          <p:nvPr/>
        </p:nvSpPr>
        <p:spPr>
          <a:xfrm>
            <a:off x="6549390" y="3360420"/>
            <a:ext cx="2297430" cy="260604"/>
          </a:xfrm>
          <a:prstGeom prst="rect">
            <a:avLst/>
          </a:prstGeom>
          <a:noFill/>
          <a:ln/>
        </p:spPr>
        <p:txBody>
          <a:bodyPr wrap="square" lIns="0" tIns="0" rIns="0" bIns="0" rtlCol="0" anchor="ctr"/>
          <a:lstStyle/>
          <a:p>
            <a:pPr algn="ctr"/>
            <a:r>
              <a:rPr lang="en-US" sz="615" dirty="0">
                <a:solidFill>
                  <a:srgbClr val="2C3E50"/>
                </a:solidFill>
                <a:latin typeface="Calibri" pitchFamily="34" charset="0"/>
                <a:ea typeface="Calibri" pitchFamily="34" charset="-122"/>
                <a:cs typeface="Calibri" pitchFamily="34" charset="-120"/>
              </a:rPr>
              <a:t>Strong discrimination — but lower than Logistic Regression's 0.9881 AUC.</a:t>
            </a:r>
            <a:endParaRPr lang="en-US" sz="615" dirty="0"/>
          </a:p>
        </p:txBody>
      </p:sp>
      <p:sp>
        <p:nvSpPr>
          <p:cNvPr id="56" name="Shape 54"/>
          <p:cNvSpPr/>
          <p:nvPr/>
        </p:nvSpPr>
        <p:spPr>
          <a:xfrm>
            <a:off x="205740" y="3785616"/>
            <a:ext cx="8709660" cy="1131570"/>
          </a:xfrm>
          <a:prstGeom prst="rect">
            <a:avLst/>
          </a:prstGeom>
          <a:solidFill>
            <a:srgbClr val="FFFFFF"/>
          </a:solidFill>
          <a:ln w="9525">
            <a:solidFill>
              <a:srgbClr val="E2E8F0"/>
            </a:solidFill>
            <a:prstDash val="solid"/>
          </a:ln>
          <a:effectLst>
            <a:outerShdw blurRad="50800" dist="25400" dir="8100000" algn="bl" rotWithShape="0">
              <a:srgbClr val="000000">
                <a:alpha val="8000"/>
              </a:srgbClr>
            </a:outerShdw>
          </a:effectLst>
        </p:spPr>
        <p:txBody>
          <a:bodyPr/>
          <a:lstStyle/>
          <a:p>
            <a:endParaRPr lang="en-US" sz="1350"/>
          </a:p>
        </p:txBody>
      </p:sp>
      <p:sp>
        <p:nvSpPr>
          <p:cNvPr id="57" name="Shape 55"/>
          <p:cNvSpPr/>
          <p:nvPr/>
        </p:nvSpPr>
        <p:spPr>
          <a:xfrm>
            <a:off x="205740" y="3785616"/>
            <a:ext cx="8709660" cy="260604"/>
          </a:xfrm>
          <a:prstGeom prst="rect">
            <a:avLst/>
          </a:prstGeom>
          <a:solidFill>
            <a:srgbClr val="0D2B5C"/>
          </a:solidFill>
          <a:ln w="12700">
            <a:solidFill>
              <a:srgbClr val="0D2B5C"/>
            </a:solidFill>
            <a:prstDash val="solid"/>
          </a:ln>
        </p:spPr>
        <p:txBody>
          <a:bodyPr/>
          <a:lstStyle/>
          <a:p>
            <a:endParaRPr lang="en-US" sz="1350"/>
          </a:p>
        </p:txBody>
      </p:sp>
      <p:sp>
        <p:nvSpPr>
          <p:cNvPr id="58" name="Text 56"/>
          <p:cNvSpPr/>
          <p:nvPr/>
        </p:nvSpPr>
        <p:spPr>
          <a:xfrm>
            <a:off x="308610" y="3785616"/>
            <a:ext cx="8503920" cy="260604"/>
          </a:xfrm>
          <a:prstGeom prst="rect">
            <a:avLst/>
          </a:prstGeom>
          <a:noFill/>
          <a:ln/>
        </p:spPr>
        <p:txBody>
          <a:bodyPr wrap="square" lIns="0" tIns="0" rIns="0" bIns="0" rtlCol="0" anchor="ctr"/>
          <a:lstStyle/>
          <a:p>
            <a:r>
              <a:rPr lang="en-US" sz="750" b="1" dirty="0">
                <a:solidFill>
                  <a:srgbClr val="FFFFFF"/>
                </a:solidFill>
                <a:latin typeface="Calibri" pitchFamily="34" charset="0"/>
                <a:ea typeface="Calibri" pitchFamily="34" charset="-122"/>
                <a:cs typeface="Calibri" pitchFamily="34" charset="-120"/>
              </a:rPr>
              <a:t>✅  PREFERRED: Logistic Regression  —  Recall=1.00 &amp; AUC=0.9881  vs  KNN Recall=0.76 &amp; AUC=0.9361</a:t>
            </a:r>
            <a:endParaRPr lang="en-US" sz="750" dirty="0"/>
          </a:p>
        </p:txBody>
      </p:sp>
      <p:sp>
        <p:nvSpPr>
          <p:cNvPr id="59" name="Text 57"/>
          <p:cNvSpPr/>
          <p:nvPr/>
        </p:nvSpPr>
        <p:spPr>
          <a:xfrm>
            <a:off x="308610" y="4087368"/>
            <a:ext cx="8503920" cy="788670"/>
          </a:xfrm>
          <a:prstGeom prst="rect">
            <a:avLst/>
          </a:prstGeom>
          <a:noFill/>
          <a:ln/>
        </p:spPr>
        <p:txBody>
          <a:bodyPr wrap="square" lIns="38100" tIns="38100" rIns="0" bIns="0" rtlCol="0" anchor="t"/>
          <a:lstStyle/>
          <a:p>
            <a:r>
              <a:rPr lang="en-US" sz="713" b="1" dirty="0">
                <a:solidFill>
                  <a:srgbClr val="1A7A4A"/>
                </a:solidFill>
                <a:latin typeface="Calibri" pitchFamily="34" charset="0"/>
                <a:ea typeface="Calibri" pitchFamily="34" charset="-122"/>
                <a:cs typeface="Calibri" pitchFamily="34" charset="-120"/>
              </a:rPr>
              <a:t>LR catches 100% of stockouts (FN=0) </a:t>
            </a:r>
            <a:r>
              <a:rPr lang="en-US" sz="713" dirty="0">
                <a:solidFill>
                  <a:srgbClr val="2C3E50"/>
                </a:solidFill>
                <a:latin typeface="Calibri" pitchFamily="34" charset="0"/>
                <a:ea typeface="Calibri" pitchFamily="34" charset="-122"/>
                <a:cs typeface="Calibri" pitchFamily="34" charset="-120"/>
              </a:rPr>
              <a:t>vs KNN which misses 15 (FN=15) — in healthcare, each missed stockout risks patient safety.</a:t>
            </a:r>
            <a:endParaRPr lang="en-US" sz="713" dirty="0"/>
          </a:p>
          <a:p>
            <a:r>
              <a:rPr lang="en-US" sz="713" b="1" dirty="0">
                <a:solidFill>
                  <a:srgbClr val="B7791F"/>
                </a:solidFill>
                <a:latin typeface="Calibri" pitchFamily="34" charset="0"/>
                <a:ea typeface="Calibri" pitchFamily="34" charset="-122"/>
                <a:cs typeface="Calibri" pitchFamily="34" charset="-120"/>
              </a:rPr>
              <a:t>KNN's 99% accuracy is misleading </a:t>
            </a:r>
            <a:r>
              <a:rPr lang="en-US" sz="713" dirty="0">
                <a:solidFill>
                  <a:srgbClr val="2C3E50"/>
                </a:solidFill>
                <a:latin typeface="Calibri" pitchFamily="34" charset="0"/>
                <a:ea typeface="Calibri" pitchFamily="34" charset="-122"/>
                <a:cs typeface="Calibri" pitchFamily="34" charset="-120"/>
              </a:rPr>
              <a:t>with a 97:3 class imbalance — Recall is the critical metric, not accuracy.</a:t>
            </a:r>
            <a:endParaRPr lang="en-US" sz="713" dirty="0"/>
          </a:p>
          <a:p>
            <a:r>
              <a:rPr lang="en-US" sz="713" b="1" dirty="0">
                <a:solidFill>
                  <a:srgbClr val="0D2B5C"/>
                </a:solidFill>
                <a:latin typeface="Calibri" pitchFamily="34" charset="0"/>
                <a:ea typeface="Calibri" pitchFamily="34" charset="-122"/>
                <a:cs typeface="Calibri" pitchFamily="34" charset="-120"/>
              </a:rPr>
              <a:t>Wastage_Flag = 1 </a:t>
            </a:r>
            <a:r>
              <a:rPr lang="en-US" sz="713" dirty="0">
                <a:solidFill>
                  <a:srgbClr val="2C3E50"/>
                </a:solidFill>
                <a:latin typeface="Calibri" pitchFamily="34" charset="0"/>
                <a:ea typeface="Calibri" pitchFamily="34" charset="-122"/>
                <a:cs typeface="Calibri" pitchFamily="34" charset="-120"/>
              </a:rPr>
              <a:t>is the strongest trigger in both models — any medicine showing wastage should trigger immediate inventory review (BO4).</a:t>
            </a:r>
            <a:endParaRPr lang="en-US" sz="713"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KMeans Supplier K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7C86"/>
          </a:solidFill>
          <a:ln w="12700">
            <a:solidFill>
              <a:srgbClr val="0E7C86"/>
            </a:solidFill>
            <a:prstDash val="solid"/>
          </a:ln>
        </p:spPr>
        <p:txBody>
          <a:bodyPr/>
          <a:lstStyle/>
          <a:p>
            <a:endParaRPr lang="en-US"/>
          </a:p>
        </p:txBody>
      </p:sp>
      <p:sp>
        <p:nvSpPr>
          <p:cNvPr id="3" name="Text 1"/>
          <p:cNvSpPr/>
          <p:nvPr/>
        </p:nvSpPr>
        <p:spPr>
          <a:xfrm>
            <a:off x="365760" y="0"/>
            <a:ext cx="7620000" cy="777240"/>
          </a:xfrm>
          <a:prstGeom prst="rect">
            <a:avLst/>
          </a:prstGeom>
          <a:noFill/>
          <a:ln/>
        </p:spPr>
        <p:txBody>
          <a:bodyPr wrap="square" lIns="0" tIns="0" rIns="0" bIns="0" rtlCol="0" anchor="ctr"/>
          <a:lstStyle/>
          <a:p>
            <a:pPr marL="0" indent="0">
              <a:buNone/>
            </a:pPr>
            <a:r>
              <a:rPr lang="en-US" sz="2000" b="1" dirty="0">
                <a:solidFill>
                  <a:srgbClr val="FFFFFF"/>
                </a:solidFill>
              </a:rPr>
              <a:t>KMeans Clustering: Supplier Performance Segments </a:t>
            </a:r>
            <a:endParaRPr lang="en-US" sz="2000" dirty="0"/>
          </a:p>
        </p:txBody>
      </p:sp>
      <p:sp>
        <p:nvSpPr>
          <p:cNvPr id="4" name="Badge BO2"/>
          <p:cNvSpPr/>
          <p:nvPr/>
        </p:nvSpPr>
        <p:spPr>
          <a:xfrm>
            <a:off x="7986960" y="152400"/>
            <a:ext cx="914400" cy="457200"/>
          </a:xfrm>
          <a:prstGeom prst="rect">
            <a:avLst/>
          </a:prstGeom>
          <a:solidFill>
            <a:srgbClr val="0D2B5C"/>
          </a:solidFill>
          <a:ln w="12700">
            <a:solidFill>
              <a:srgbClr val="0D2B5C"/>
            </a:solidFill>
          </a:ln>
        </p:spPr>
        <p:txBody>
          <a:bodyPr wrap="square" lIns="0" tIns="0" rIns="0" bIns="0" rtlCol="0" anchor="ctr"/>
          <a:lstStyle/>
          <a:p>
            <a:pPr algn="ctr">
              <a:buNone/>
            </a:pPr>
            <a:r>
              <a:rPr lang="en-US" sz="1100" b="1" dirty="0">
                <a:solidFill>
                  <a:srgbClr val="FFFFFF"/>
                </a:solidFill>
              </a:rPr>
              <a:t>BO2</a:t>
            </a:r>
          </a:p>
        </p:txBody>
      </p:sp>
      <p:sp>
        <p:nvSpPr>
          <p:cNvPr id="5" name="Badge BO4"/>
          <p:cNvSpPr/>
          <p:nvPr/>
        </p:nvSpPr>
        <p:spPr>
          <a:xfrm>
            <a:off x="8143560" y="228600"/>
            <a:ext cx="762000" cy="381024"/>
          </a:xfrm>
          <a:prstGeom prst="rect">
            <a:avLst/>
          </a:prstGeom>
          <a:solidFill>
            <a:srgbClr val="0D2B5C"/>
          </a:solidFill>
          <a:ln w="12700">
            <a:solidFill>
              <a:srgbClr val="0D2B5C"/>
            </a:solidFill>
          </a:ln>
        </p:spPr>
        <p:txBody>
          <a:bodyPr wrap="square" lIns="0" tIns="0" rIns="0" bIns="0" rtlCol="0" anchor="ctr"/>
          <a:lstStyle/>
          <a:p>
            <a:pPr algn="ctr">
              <a:buNone/>
            </a:pPr>
            <a:r>
              <a:rPr lang="en-US" sz="1000" b="1" dirty="0">
                <a:solidFill>
                  <a:srgbClr val="FFFFFF"/>
                </a:solidFill>
              </a:rPr>
              <a:t>BO4</a:t>
            </a:r>
          </a:p>
        </p:txBody>
      </p:sp>
      <p:sp>
        <p:nvSpPr>
          <p:cNvPr id="51" name="Text subtitle"/>
          <p:cNvSpPr/>
          <p:nvPr/>
        </p:nvSpPr>
        <p:spPr>
          <a:xfrm>
            <a:off x="457200" y="820000"/>
            <a:ext cx="8229120" cy="304800"/>
          </a:xfrm>
          <a:prstGeom prst="rect">
            <a:avLst/>
          </a:prstGeom>
          <a:noFill/>
          <a:ln/>
        </p:spPr>
        <p:txBody>
          <a:bodyPr wrap="square" lIns="0" tIns="0" rIns="0" bIns="0" rtlCol="0" anchor="ctr"/>
          <a:lstStyle/>
          <a:p>
            <a:pPr marL="0" indent="0">
              <a:buNone/>
            </a:pPr>
            <a:r>
              <a:rPr lang="en-US" sz="1300" b="1" dirty="0">
                <a:solidFill>
                  <a:srgbClr val="0E7C86"/>
                </a:solidFill>
              </a:rPr>
              <a:t>Supplier Segmentation by Efficiency Score &amp; Delivery Gap</a:t>
            </a:r>
            <a:endParaRPr lang="en-US" sz="1300" dirty="0"/>
          </a:p>
        </p:txBody>
      </p:sp>
      <p:sp>
        <p:nvSpPr>
          <p:cNvPr id="52" name="Stat C0"/>
          <p:cNvSpPr/>
          <p:nvPr/>
        </p:nvSpPr>
        <p:spPr>
          <a:xfrm>
            <a:off x="457200" y="1189000"/>
            <a:ext cx="2600000" cy="1600000"/>
          </a:xfrm>
          <a:prstGeom prst="rect">
            <a:avLst/>
          </a:prstGeom>
          <a:solidFill>
            <a:srgbClr val="E8F9FC"/>
          </a:solidFill>
          <a:ln w="19050">
            <a:solidFill>
              <a:srgbClr val="0E7C86"/>
            </a:solidFill>
            <a:prstDash val="solid"/>
          </a:ln>
        </p:spPr>
        <p:txBody>
          <a:bodyPr wrap="square" lIns="91440" tIns="91440" rIns="91440" bIns="91440" rtlCol="0" anchor="ctr"/>
          <a:lstStyle/>
          <a:p>
            <a:pPr algn="ctr">
              <a:buNone/>
            </a:pPr>
            <a:r>
              <a:rPr lang="en-US" sz="3600" b="1" dirty="0">
                <a:solidFill>
                  <a:srgbClr val="0E7C86"/>
                </a:solidFill>
              </a:rPr>
              <a:t>130</a:t>
            </a:r>
          </a:p>
          <a:p>
            <a:pPr algn="ctr">
              <a:buNone/>
            </a:pPr>
            <a:r>
              <a:rPr lang="en-US" sz="1100" b="1" dirty="0">
                <a:solidFill>
                  <a:srgbClr val="2C3E50"/>
                </a:solidFill>
              </a:rPr>
              <a:t>Suppliers</a:t>
            </a:r>
          </a:p>
          <a:p>
            <a:pPr algn="ctr">
              <a:buNone/>
            </a:pPr>
            <a:r>
              <a:rPr lang="en-US" sz="1000" dirty="0">
                <a:solidFill>
                  <a:srgbClr val="0E7C86"/>
                </a:solidFill>
              </a:rPr>
              <a:t>Efficiency: 21.85 | Gap: 4 days</a:t>
            </a:r>
          </a:p>
          <a:p>
            <a:pPr algn="ctr">
              <a:buNone/>
            </a:pPr>
            <a:r>
              <a:rPr lang="en-US" sz="1100" b="1" dirty="0">
                <a:solidFill>
                  <a:srgbClr val="0E7C86"/>
                </a:solidFill>
              </a:rPr>
              <a:t>HIGH PERFORMANCE</a:t>
            </a:r>
          </a:p>
        </p:txBody>
      </p:sp>
      <p:sp>
        <p:nvSpPr>
          <p:cNvPr id="53" name="Stat C1"/>
          <p:cNvSpPr/>
          <p:nvPr/>
        </p:nvSpPr>
        <p:spPr>
          <a:xfrm>
            <a:off x="3371760" y="1189000"/>
            <a:ext cx="2600000" cy="1600000"/>
          </a:xfrm>
          <a:prstGeom prst="rect">
            <a:avLst/>
          </a:prstGeom>
          <a:solidFill>
            <a:srgbClr val="E8EEF8"/>
          </a:solidFill>
          <a:ln w="19050">
            <a:solidFill>
              <a:srgbClr val="0D2B5C"/>
            </a:solidFill>
            <a:prstDash val="solid"/>
          </a:ln>
        </p:spPr>
        <p:txBody>
          <a:bodyPr wrap="square" lIns="91440" tIns="91440" rIns="91440" bIns="91440" rtlCol="0" anchor="ctr"/>
          <a:lstStyle/>
          <a:p>
            <a:pPr algn="ctr">
              <a:buNone/>
            </a:pPr>
            <a:r>
              <a:rPr lang="en-US" sz="3600" b="1" dirty="0">
                <a:solidFill>
                  <a:srgbClr val="0D2B5C"/>
                </a:solidFill>
              </a:rPr>
              <a:t>190</a:t>
            </a:r>
          </a:p>
          <a:p>
            <a:pPr algn="ctr">
              <a:buNone/>
            </a:pPr>
            <a:r>
              <a:rPr lang="en-US" sz="1100" b="1" dirty="0">
                <a:solidFill>
                  <a:srgbClr val="2C3E50"/>
                </a:solidFill>
              </a:rPr>
              <a:t>Suppliers</a:t>
            </a:r>
          </a:p>
          <a:p>
            <a:pPr algn="ctr">
              <a:buNone/>
            </a:pPr>
            <a:r>
              <a:rPr lang="en-US" sz="1000" dirty="0">
                <a:solidFill>
                  <a:srgbClr val="0D2B5C"/>
                </a:solidFill>
              </a:rPr>
              <a:t>Efficiency: 11.25 | Gap: 7 days</a:t>
            </a:r>
          </a:p>
          <a:p>
            <a:pPr algn="ctr">
              <a:buNone/>
            </a:pPr>
            <a:r>
              <a:rPr lang="en-US" sz="1100" b="1" dirty="0">
                <a:solidFill>
                  <a:srgbClr val="0D2B5C"/>
                </a:solidFill>
              </a:rPr>
              <a:t>MODERATE PERFORMANCE</a:t>
            </a:r>
          </a:p>
        </p:txBody>
      </p:sp>
      <p:sp>
        <p:nvSpPr>
          <p:cNvPr id="54" name="Stat C2"/>
          <p:cNvSpPr/>
          <p:nvPr/>
        </p:nvSpPr>
        <p:spPr>
          <a:xfrm>
            <a:off x="6286320" y="1189000"/>
            <a:ext cx="2600000" cy="1600000"/>
          </a:xfrm>
          <a:prstGeom prst="rect">
            <a:avLst/>
          </a:prstGeom>
          <a:solidFill>
            <a:srgbClr val="FDEDEC"/>
          </a:solidFill>
          <a:ln w="19050">
            <a:solidFill>
              <a:srgbClr val="C0392B"/>
            </a:solidFill>
            <a:prstDash val="solid"/>
          </a:ln>
        </p:spPr>
        <p:txBody>
          <a:bodyPr wrap="square" lIns="91440" tIns="91440" rIns="91440" bIns="91440" rtlCol="0" anchor="ctr"/>
          <a:lstStyle/>
          <a:p>
            <a:pPr algn="ctr">
              <a:buNone/>
            </a:pPr>
            <a:r>
              <a:rPr lang="en-US" sz="3600" b="1" dirty="0">
                <a:solidFill>
                  <a:srgbClr val="C0392B"/>
                </a:solidFill>
              </a:rPr>
              <a:t>218</a:t>
            </a:r>
          </a:p>
          <a:p>
            <a:pPr algn="ctr">
              <a:buNone/>
            </a:pPr>
            <a:r>
              <a:rPr lang="en-US" sz="1100" b="1" dirty="0">
                <a:solidFill>
                  <a:srgbClr val="2C3E50"/>
                </a:solidFill>
              </a:rPr>
              <a:t>Suppliers</a:t>
            </a:r>
          </a:p>
          <a:p>
            <a:pPr algn="ctr">
              <a:buNone/>
            </a:pPr>
            <a:r>
              <a:rPr lang="en-US" sz="1000" dirty="0">
                <a:solidFill>
                  <a:srgbClr val="C0392B"/>
                </a:solidFill>
              </a:rPr>
              <a:t>Efficiency: 6.96 | Gap: 12 days</a:t>
            </a:r>
          </a:p>
          <a:p>
            <a:pPr algn="ctr">
              <a:buNone/>
            </a:pPr>
            <a:r>
              <a:rPr lang="en-US" sz="1100" b="1" dirty="0">
                <a:solidFill>
                  <a:srgbClr val="C0392B"/>
                </a:solidFill>
              </a:rPr>
              <a:t>LOW PERFORMANCE</a:t>
            </a:r>
          </a:p>
        </p:txBody>
      </p:sp>
      <p:sp>
        <p:nvSpPr>
          <p:cNvPr id="7" name="Shape C0 bg"/>
          <p:cNvSpPr/>
          <p:nvPr/>
        </p:nvSpPr>
        <p:spPr>
          <a:xfrm>
            <a:off x="274320" y="2971800"/>
            <a:ext cx="2743200" cy="1325880"/>
          </a:xfrm>
          <a:prstGeom prst="rect">
            <a:avLst/>
          </a:prstGeom>
          <a:solidFill>
            <a:srgbClr val="E8F9FC"/>
          </a:solidFill>
          <a:ln w="12700">
            <a:solidFill>
              <a:srgbClr val="0E7C86"/>
            </a:solidFill>
            <a:prstDash val="solid"/>
          </a:ln>
        </p:spPr>
        <p:txBody>
          <a:bodyPr/>
          <a:lstStyle/>
          <a:p>
            <a:endParaRPr lang="en-US" dirty="0"/>
          </a:p>
        </p:txBody>
      </p:sp>
      <p:sp>
        <p:nvSpPr>
          <p:cNvPr id="8" name="Shape C0 hdr"/>
          <p:cNvSpPr/>
          <p:nvPr/>
        </p:nvSpPr>
        <p:spPr>
          <a:xfrm>
            <a:off x="274320" y="2971800"/>
            <a:ext cx="2743200" cy="347472"/>
          </a:xfrm>
          <a:prstGeom prst="rect">
            <a:avLst/>
          </a:prstGeom>
          <a:solidFill>
            <a:srgbClr val="0E7C86"/>
          </a:solidFill>
          <a:ln w="12700">
            <a:solidFill>
              <a:srgbClr val="0E7C86"/>
            </a:solidFill>
            <a:prstDash val="solid"/>
          </a:ln>
        </p:spPr>
        <p:txBody>
          <a:bodyPr/>
          <a:lstStyle/>
          <a:p>
            <a:endParaRPr lang="en-US"/>
          </a:p>
        </p:txBody>
      </p:sp>
      <p:sp>
        <p:nvSpPr>
          <p:cNvPr id="9" name="Text C0 hdr"/>
          <p:cNvSpPr/>
          <p:nvPr/>
        </p:nvSpPr>
        <p:spPr>
          <a:xfrm>
            <a:off x="310896" y="2971800"/>
            <a:ext cx="2669472" cy="347472"/>
          </a:xfrm>
          <a:prstGeom prst="rect">
            <a:avLst/>
          </a:prstGeom>
          <a:noFill/>
          <a:ln/>
        </p:spPr>
        <p:txBody>
          <a:bodyPr wrap="square" lIns="0" tIns="0" rIns="0" bIns="0" rtlCol="0" anchor="ctr"/>
          <a:lstStyle/>
          <a:p>
            <a:pPr marL="0" indent="0">
              <a:buNone/>
            </a:pPr>
            <a:r>
              <a:rPr lang="en-US" sz="900" b="1" dirty="0">
                <a:solidFill>
                  <a:srgbClr val="FFFFFF"/>
                </a:solidFill>
              </a:rPr>
              <a:t>C1 — High Performance Suppliers</a:t>
            </a:r>
            <a:endParaRPr lang="en-US" sz="900" dirty="0"/>
          </a:p>
        </p:txBody>
      </p:sp>
      <p:sp>
        <p:nvSpPr>
          <p:cNvPr id="10" name="Text C0 body"/>
          <p:cNvSpPr/>
          <p:nvPr/>
        </p:nvSpPr>
        <p:spPr>
          <a:xfrm>
            <a:off x="310896" y="3337560"/>
            <a:ext cx="2669472" cy="914400"/>
          </a:xfrm>
          <a:prstGeom prst="rect">
            <a:avLst/>
          </a:prstGeom>
          <a:noFill/>
          <a:ln/>
        </p:spPr>
        <p:txBody>
          <a:bodyPr wrap="square" lIns="0" tIns="0" rIns="0" bIns="0" rtlCol="0" anchor="ctr"/>
          <a:lstStyle/>
          <a:p>
            <a:pPr marL="0" indent="0" algn="ctr">
              <a:buNone/>
            </a:pPr>
            <a:r>
              <a:rPr lang="en-US" sz="950" b="1" dirty="0">
                <a:solidFill>
                  <a:srgbClr val="0E7C86"/>
                </a:solidFill>
              </a:rPr>
              <a:t>High efficiency score, low delivery gap.</a:t>
            </a:r>
          </a:p>
          <a:p>
            <a:pPr marL="0" indent="0" algn="ctr">
              <a:buNone/>
            </a:pPr>
            <a:r>
              <a:rPr lang="en-US" sz="950" b="1" dirty="0">
                <a:solidFill>
                  <a:srgbClr val="0E7C86"/>
                </a:solidFill>
              </a:rPr>
              <a:t>Preferred vendors for critical medicine procurement.</a:t>
            </a:r>
          </a:p>
          <a:p>
            <a:pPr marL="0" indent="0" algn="ctr">
              <a:buNone/>
            </a:pPr>
            <a:r>
              <a:rPr lang="en-US" sz="950" b="1" dirty="0">
                <a:solidFill>
                  <a:srgbClr val="0E7C86"/>
                </a:solidFill>
              </a:rPr>
              <a:t>Maintain &amp; strengthen contracts.</a:t>
            </a:r>
            <a:endParaRPr lang="en-US" sz="950" dirty="0"/>
          </a:p>
        </p:txBody>
      </p:sp>
      <p:sp>
        <p:nvSpPr>
          <p:cNvPr id="11" name="Shape C1 bg"/>
          <p:cNvSpPr/>
          <p:nvPr/>
        </p:nvSpPr>
        <p:spPr>
          <a:xfrm>
            <a:off x="3200400" y="2971800"/>
            <a:ext cx="2743200" cy="1325880"/>
          </a:xfrm>
          <a:prstGeom prst="rect">
            <a:avLst/>
          </a:prstGeom>
          <a:solidFill>
            <a:srgbClr val="E8EEF8"/>
          </a:solidFill>
          <a:ln w="12700">
            <a:solidFill>
              <a:srgbClr val="0D2B5C"/>
            </a:solidFill>
            <a:prstDash val="solid"/>
          </a:ln>
        </p:spPr>
        <p:txBody>
          <a:bodyPr/>
          <a:lstStyle/>
          <a:p>
            <a:endParaRPr lang="en-US"/>
          </a:p>
        </p:txBody>
      </p:sp>
      <p:sp>
        <p:nvSpPr>
          <p:cNvPr id="12" name="Shape C1 hdr"/>
          <p:cNvSpPr/>
          <p:nvPr/>
        </p:nvSpPr>
        <p:spPr>
          <a:xfrm>
            <a:off x="3200400" y="2971800"/>
            <a:ext cx="2743200" cy="347472"/>
          </a:xfrm>
          <a:prstGeom prst="rect">
            <a:avLst/>
          </a:prstGeom>
          <a:solidFill>
            <a:srgbClr val="0D2B5C"/>
          </a:solidFill>
          <a:ln w="12700">
            <a:solidFill>
              <a:srgbClr val="0D2B5C"/>
            </a:solidFill>
            <a:prstDash val="solid"/>
          </a:ln>
        </p:spPr>
        <p:txBody>
          <a:bodyPr/>
          <a:lstStyle/>
          <a:p>
            <a:endParaRPr lang="en-US" dirty="0"/>
          </a:p>
        </p:txBody>
      </p:sp>
      <p:sp>
        <p:nvSpPr>
          <p:cNvPr id="13" name="Text C1 hdr"/>
          <p:cNvSpPr/>
          <p:nvPr/>
        </p:nvSpPr>
        <p:spPr>
          <a:xfrm>
            <a:off x="3236976" y="2971800"/>
            <a:ext cx="2669472" cy="347472"/>
          </a:xfrm>
          <a:prstGeom prst="rect">
            <a:avLst/>
          </a:prstGeom>
          <a:noFill/>
          <a:ln/>
        </p:spPr>
        <p:txBody>
          <a:bodyPr wrap="square" lIns="0" tIns="0" rIns="0" bIns="0" rtlCol="0" anchor="ctr"/>
          <a:lstStyle/>
          <a:p>
            <a:pPr marL="0" indent="0">
              <a:buNone/>
            </a:pPr>
            <a:r>
              <a:rPr lang="en-US" sz="900" b="1" dirty="0">
                <a:solidFill>
                  <a:schemeClr val="bg1"/>
                </a:solidFill>
              </a:rPr>
              <a:t>C0 — Moderate Performance Suppliers</a:t>
            </a:r>
          </a:p>
        </p:txBody>
      </p:sp>
      <p:sp>
        <p:nvSpPr>
          <p:cNvPr id="14" name="Text C1 body"/>
          <p:cNvSpPr/>
          <p:nvPr/>
        </p:nvSpPr>
        <p:spPr>
          <a:xfrm>
            <a:off x="3236976" y="3337560"/>
            <a:ext cx="2669472" cy="914400"/>
          </a:xfrm>
          <a:prstGeom prst="rect">
            <a:avLst/>
          </a:prstGeom>
          <a:noFill/>
          <a:ln/>
        </p:spPr>
        <p:txBody>
          <a:bodyPr wrap="square" lIns="0" tIns="0" rIns="0" bIns="0" rtlCol="0" anchor="ctr"/>
          <a:lstStyle/>
          <a:p>
            <a:pPr marL="0" indent="0" algn="ctr">
              <a:buNone/>
            </a:pPr>
            <a:r>
              <a:rPr lang="en-US" sz="950" b="1" dirty="0">
                <a:solidFill>
                  <a:srgbClr val="0D2B5C"/>
                </a:solidFill>
              </a:rPr>
              <a:t>Average efficiency, moderate delivery gap.</a:t>
            </a:r>
          </a:p>
          <a:p>
            <a:pPr marL="0" indent="0" algn="ctr">
              <a:buNone/>
            </a:pPr>
            <a:r>
              <a:rPr lang="en-US" sz="950" b="1" dirty="0">
                <a:solidFill>
                  <a:srgbClr val="0D2B5C"/>
                </a:solidFill>
              </a:rPr>
              <a:t>Suitable for routine procurement needs.</a:t>
            </a:r>
          </a:p>
          <a:p>
            <a:pPr marL="0" indent="0" algn="ctr">
              <a:buNone/>
            </a:pPr>
            <a:r>
              <a:rPr lang="en-US" sz="950" b="1" dirty="0">
                <a:solidFill>
                  <a:srgbClr val="0D2B5C"/>
                </a:solidFill>
              </a:rPr>
              <a:t>Monitor KPIs &amp; push for lead time improvement.</a:t>
            </a:r>
            <a:endParaRPr lang="en-US" sz="950" dirty="0"/>
          </a:p>
        </p:txBody>
      </p:sp>
      <p:sp>
        <p:nvSpPr>
          <p:cNvPr id="15" name="Shape C2 bg"/>
          <p:cNvSpPr/>
          <p:nvPr/>
        </p:nvSpPr>
        <p:spPr>
          <a:xfrm>
            <a:off x="6126480" y="2971800"/>
            <a:ext cx="2743200" cy="1325880"/>
          </a:xfrm>
          <a:prstGeom prst="rect">
            <a:avLst/>
          </a:prstGeom>
          <a:solidFill>
            <a:srgbClr val="FDEDEC"/>
          </a:solidFill>
          <a:ln w="12700">
            <a:solidFill>
              <a:srgbClr val="C0392B"/>
            </a:solidFill>
            <a:prstDash val="solid"/>
          </a:ln>
        </p:spPr>
        <p:txBody>
          <a:bodyPr/>
          <a:lstStyle/>
          <a:p>
            <a:endParaRPr lang="en-US"/>
          </a:p>
        </p:txBody>
      </p:sp>
      <p:sp>
        <p:nvSpPr>
          <p:cNvPr id="16" name="Shape C2 hdr"/>
          <p:cNvSpPr/>
          <p:nvPr/>
        </p:nvSpPr>
        <p:spPr>
          <a:xfrm>
            <a:off x="6126480" y="2971800"/>
            <a:ext cx="2743200" cy="347472"/>
          </a:xfrm>
          <a:prstGeom prst="rect">
            <a:avLst/>
          </a:prstGeom>
          <a:solidFill>
            <a:srgbClr val="C0392B"/>
          </a:solidFill>
          <a:ln w="12700">
            <a:solidFill>
              <a:srgbClr val="C0392B"/>
            </a:solidFill>
            <a:prstDash val="solid"/>
          </a:ln>
        </p:spPr>
        <p:txBody>
          <a:bodyPr/>
          <a:lstStyle/>
          <a:p>
            <a:endParaRPr lang="en-US" dirty="0"/>
          </a:p>
        </p:txBody>
      </p:sp>
      <p:sp>
        <p:nvSpPr>
          <p:cNvPr id="17" name="Text C2 hdr"/>
          <p:cNvSpPr/>
          <p:nvPr/>
        </p:nvSpPr>
        <p:spPr>
          <a:xfrm>
            <a:off x="6163056" y="2971800"/>
            <a:ext cx="2669472" cy="347472"/>
          </a:xfrm>
          <a:prstGeom prst="rect">
            <a:avLst/>
          </a:prstGeom>
          <a:noFill/>
          <a:ln/>
        </p:spPr>
        <p:txBody>
          <a:bodyPr wrap="square" lIns="0" tIns="0" rIns="0" bIns="0" rtlCol="0" anchor="ctr"/>
          <a:lstStyle/>
          <a:p>
            <a:pPr marL="0" indent="0">
              <a:buNone/>
            </a:pPr>
            <a:r>
              <a:rPr lang="en-US" sz="900" b="1" dirty="0">
                <a:solidFill>
                  <a:srgbClr val="FFFFFF"/>
                </a:solidFill>
              </a:rPr>
              <a:t>C2 — Low Performance Suppliers</a:t>
            </a:r>
            <a:endParaRPr lang="en-US" sz="900" dirty="0"/>
          </a:p>
        </p:txBody>
      </p:sp>
      <p:sp>
        <p:nvSpPr>
          <p:cNvPr id="18" name="Text C2 body"/>
          <p:cNvSpPr/>
          <p:nvPr/>
        </p:nvSpPr>
        <p:spPr>
          <a:xfrm>
            <a:off x="6163056" y="3337560"/>
            <a:ext cx="2669472" cy="914400"/>
          </a:xfrm>
          <a:prstGeom prst="rect">
            <a:avLst/>
          </a:prstGeom>
          <a:noFill/>
          <a:ln/>
        </p:spPr>
        <p:txBody>
          <a:bodyPr wrap="square" lIns="0" tIns="0" rIns="0" bIns="0" rtlCol="0" anchor="ctr"/>
          <a:lstStyle/>
          <a:p>
            <a:pPr marL="0" indent="0" algn="ctr">
              <a:buNone/>
            </a:pPr>
            <a:r>
              <a:rPr lang="en-US" sz="950" b="1" dirty="0">
                <a:solidFill>
                  <a:srgbClr val="C0392B"/>
                </a:solidFill>
              </a:rPr>
              <a:t>Low efficiency score, high delivery gap.</a:t>
            </a:r>
          </a:p>
          <a:p>
            <a:pPr marL="0" indent="0" algn="ctr">
              <a:buNone/>
            </a:pPr>
            <a:r>
              <a:rPr lang="en-US" sz="950" b="1" dirty="0">
                <a:solidFill>
                  <a:srgbClr val="C0392B"/>
                </a:solidFill>
              </a:rPr>
              <a:t>High risk to supply chain continuity.</a:t>
            </a:r>
          </a:p>
          <a:p>
            <a:pPr marL="0" indent="0" algn="ctr">
              <a:buNone/>
            </a:pPr>
            <a:r>
              <a:rPr lang="en-US" sz="950" b="1" dirty="0">
                <a:solidFill>
                  <a:srgbClr val="C0392B"/>
                </a:solidFill>
              </a:rPr>
              <a:t>Reduce dependency or replace these vendors.</a:t>
            </a:r>
            <a:endParaRPr lang="en-US" sz="950" dirty="0"/>
          </a:p>
        </p:txBody>
      </p:sp>
      <p:sp>
        <p:nvSpPr>
          <p:cNvPr id="25" name="Shape insights bg"/>
          <p:cNvSpPr/>
          <p:nvPr/>
        </p:nvSpPr>
        <p:spPr>
          <a:xfrm>
            <a:off x="274320" y="4405122"/>
            <a:ext cx="8595360" cy="738378"/>
          </a:xfrm>
          <a:prstGeom prst="rect">
            <a:avLst/>
          </a:prstGeom>
          <a:solidFill>
            <a:srgbClr val="0D2B5C">
              <a:alpha val="12000"/>
            </a:srgbClr>
          </a:solidFill>
          <a:ln w="12700">
            <a:solidFill>
              <a:srgbClr val="0E7C86"/>
            </a:solidFill>
            <a:prstDash val="solid"/>
          </a:ln>
        </p:spPr>
        <p:txBody>
          <a:bodyPr/>
          <a:lstStyle/>
          <a:p>
            <a:endParaRPr lang="en-US"/>
          </a:p>
        </p:txBody>
      </p:sp>
      <p:sp>
        <p:nvSpPr>
          <p:cNvPr id="26" name="Text insights"/>
          <p:cNvSpPr/>
          <p:nvPr/>
        </p:nvSpPr>
        <p:spPr>
          <a:xfrm>
            <a:off x="274320" y="4405122"/>
            <a:ext cx="8595360" cy="738378"/>
          </a:xfrm>
          <a:prstGeom prst="rect">
            <a:avLst/>
          </a:prstGeom>
          <a:noFill/>
          <a:ln/>
        </p:spPr>
        <p:txBody>
          <a:bodyPr wrap="square" rtlCol="0" anchor="ctr"/>
          <a:lstStyle/>
          <a:p>
            <a:pPr marL="171450" indent="-171450">
              <a:buFont typeface="Arial" panose="020B0604020202020204" pitchFamily="34" charset="0"/>
              <a:buChar char="•"/>
            </a:pPr>
            <a:r>
              <a:rPr lang="en-US" sz="1000" b="1" dirty="0">
                <a:solidFill>
                  <a:srgbClr val="2C3E50"/>
                </a:solidFill>
              </a:rPr>
              <a:t>Cluster 1 - High performance suppliers, (130 records, Efficiency=21.85) are preferred vendors — maintain &amp; strengthen contracts for critical medicines.</a:t>
            </a:r>
          </a:p>
          <a:p>
            <a:pPr marL="171450" indent="-171450">
              <a:buFont typeface="Arial" panose="020B0604020202020204" pitchFamily="34" charset="0"/>
              <a:buChar char="•"/>
            </a:pPr>
            <a:r>
              <a:rPr lang="en-US" sz="1000" b="1" dirty="0">
                <a:solidFill>
                  <a:srgbClr val="2C3E50"/>
                </a:solidFill>
              </a:rPr>
              <a:t>Cluster 2  - Low Performance suppliers, (218 records, Delivery Gap</a:t>
            </a:r>
            <a:r>
              <a:rPr lang="en-US" sz="1000" b="1">
                <a:solidFill>
                  <a:srgbClr val="2C3E50"/>
                </a:solidFill>
              </a:rPr>
              <a:t>=12 </a:t>
            </a:r>
            <a:r>
              <a:rPr lang="en-US" sz="1000" b="1" dirty="0">
                <a:solidFill>
                  <a:srgbClr val="2C3E50"/>
                </a:solidFill>
              </a:rPr>
              <a:t>days) poses the highest supply chain risk — reduce dependency or replace.</a:t>
            </a:r>
          </a:p>
          <a:p>
            <a:pPr marL="171450" indent="-171450">
              <a:buFont typeface="Arial" panose="020B0604020202020204" pitchFamily="34" charset="0"/>
              <a:buChar char="•"/>
            </a:pPr>
            <a:r>
              <a:rPr lang="en-US" sz="1000" b="1" dirty="0">
                <a:solidFill>
                  <a:srgbClr val="2C3E50"/>
                </a:solidFill>
              </a:rPr>
              <a:t>Cluster 0  - Moderate performance suppliers (190 records) are suitable for routine procurement but require KPI monitoring and lead time improvement.</a:t>
            </a:r>
            <a:endParaRPr lang="en-US" sz="1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5B222C-0137-CD84-DDD2-E181E89B1806}"/>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793511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D2B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7C86"/>
          </a:solidFill>
          <a:ln w="12700">
            <a:solidFill>
              <a:srgbClr val="0E7C86"/>
            </a:solidFill>
            <a:prstDash val="solid"/>
          </a:ln>
        </p:spPr>
        <p:txBody>
          <a:bodyPr/>
          <a:lstStyle/>
          <a:p>
            <a:endParaRPr lang="en-US"/>
          </a:p>
        </p:txBody>
      </p:sp>
      <p:sp>
        <p:nvSpPr>
          <p:cNvPr id="3" name="Text 1"/>
          <p:cNvSpPr/>
          <p:nvPr/>
        </p:nvSpPr>
        <p:spPr>
          <a:xfrm>
            <a:off x="365760" y="0"/>
            <a:ext cx="5943600" cy="777240"/>
          </a:xfrm>
          <a:prstGeom prst="rect">
            <a:avLst/>
          </a:prstGeom>
          <a:noFill/>
          <a:ln/>
        </p:spPr>
        <p:txBody>
          <a:bodyPr wrap="square" lIns="0" tIns="0" rIns="0" bIns="0" rtlCol="0" anchor="ctr"/>
          <a:lstStyle/>
          <a:p>
            <a:pPr marL="0" indent="0">
              <a:buNone/>
            </a:pPr>
            <a:r>
              <a:rPr lang="en-US" sz="2200" b="1" dirty="0">
                <a:solidFill>
                  <a:srgbClr val="FFFFFF"/>
                </a:solidFill>
              </a:rPr>
              <a:t>Business Recommendations</a:t>
            </a:r>
            <a:endParaRPr lang="en-US" sz="2200" dirty="0"/>
          </a:p>
        </p:txBody>
      </p:sp>
      <p:sp>
        <p:nvSpPr>
          <p:cNvPr id="4" name="Text 2"/>
          <p:cNvSpPr/>
          <p:nvPr/>
        </p:nvSpPr>
        <p:spPr>
          <a:xfrm>
            <a:off x="6858000" y="201168"/>
            <a:ext cx="2011680" cy="384048"/>
          </a:xfrm>
          <a:prstGeom prst="rect">
            <a:avLst/>
          </a:prstGeom>
          <a:noFill/>
          <a:ln/>
        </p:spPr>
        <p:txBody>
          <a:bodyPr wrap="square" lIns="0" tIns="0" rIns="0" bIns="0" rtlCol="0" anchor="ctr"/>
          <a:lstStyle/>
          <a:p>
            <a:pPr marL="0" indent="0" algn="r">
              <a:buNone/>
            </a:pPr>
            <a:r>
              <a:rPr lang="en-US" sz="1300" b="1" dirty="0">
                <a:solidFill>
                  <a:srgbClr val="E8A838"/>
                </a:solidFill>
              </a:rPr>
              <a:t>BO1 &amp; BO2</a:t>
            </a:r>
            <a:endParaRPr lang="en-US" sz="1300" dirty="0"/>
          </a:p>
        </p:txBody>
      </p:sp>
      <p:sp>
        <p:nvSpPr>
          <p:cNvPr id="5" name="Shape 3"/>
          <p:cNvSpPr/>
          <p:nvPr/>
        </p:nvSpPr>
        <p:spPr>
          <a:xfrm>
            <a:off x="274320" y="914400"/>
            <a:ext cx="8595360" cy="868680"/>
          </a:xfrm>
          <a:prstGeom prst="rect">
            <a:avLst/>
          </a:prstGeom>
          <a:solidFill>
            <a:srgbClr val="FFFFFF">
              <a:alpha val="94000"/>
            </a:srgbClr>
          </a:solidFill>
          <a:ln w="12700">
            <a:solidFill>
              <a:srgbClr val="0E7C86"/>
            </a:solidFill>
            <a:prstDash val="solid"/>
          </a:ln>
        </p:spPr>
        <p:txBody>
          <a:bodyPr/>
          <a:lstStyle/>
          <a:p>
            <a:endParaRPr lang="en-US"/>
          </a:p>
        </p:txBody>
      </p:sp>
      <p:sp>
        <p:nvSpPr>
          <p:cNvPr id="6" name="Shape 4"/>
          <p:cNvSpPr/>
          <p:nvPr/>
        </p:nvSpPr>
        <p:spPr>
          <a:xfrm>
            <a:off x="274320" y="914400"/>
            <a:ext cx="502920" cy="868680"/>
          </a:xfrm>
          <a:prstGeom prst="rect">
            <a:avLst/>
          </a:prstGeom>
          <a:solidFill>
            <a:srgbClr val="0E7C86"/>
          </a:solidFill>
          <a:ln w="12700">
            <a:solidFill>
              <a:srgbClr val="0E7C86"/>
            </a:solidFill>
            <a:prstDash val="solid"/>
          </a:ln>
        </p:spPr>
        <p:txBody>
          <a:bodyPr/>
          <a:lstStyle/>
          <a:p>
            <a:endParaRPr lang="en-US"/>
          </a:p>
        </p:txBody>
      </p:sp>
      <p:sp>
        <p:nvSpPr>
          <p:cNvPr id="7" name="Text 5"/>
          <p:cNvSpPr/>
          <p:nvPr/>
        </p:nvSpPr>
        <p:spPr>
          <a:xfrm>
            <a:off x="274320" y="100584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rPr>
              <a:t>R1</a:t>
            </a:r>
            <a:endParaRPr lang="en-US" sz="1000" dirty="0"/>
          </a:p>
        </p:txBody>
      </p:sp>
      <p:sp>
        <p:nvSpPr>
          <p:cNvPr id="8" name="Text 6"/>
          <p:cNvSpPr/>
          <p:nvPr/>
        </p:nvSpPr>
        <p:spPr>
          <a:xfrm>
            <a:off x="274320" y="138988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BO1</a:t>
            </a:r>
            <a:endParaRPr lang="en-US" sz="800" dirty="0"/>
          </a:p>
        </p:txBody>
      </p:sp>
      <p:sp>
        <p:nvSpPr>
          <p:cNvPr id="9" name="Text 7"/>
          <p:cNvSpPr/>
          <p:nvPr/>
        </p:nvSpPr>
        <p:spPr>
          <a:xfrm>
            <a:off x="868680" y="960120"/>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Implement Dynamic Reorder Triggers</a:t>
            </a:r>
            <a:endParaRPr lang="en-US" sz="1150" dirty="0"/>
          </a:p>
        </p:txBody>
      </p:sp>
      <p:sp>
        <p:nvSpPr>
          <p:cNvPr id="10" name="Text 8"/>
          <p:cNvSpPr/>
          <p:nvPr/>
        </p:nvSpPr>
        <p:spPr>
          <a:xfrm>
            <a:off x="868680" y="1234440"/>
            <a:ext cx="5943600" cy="49377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27 of 841 medicines (3.2%) are below reorder level deploy automated reorder triggers (already built) across all 19 facilities. </a:t>
            </a:r>
          </a:p>
          <a:p>
            <a:pPr marL="171450" indent="-171450">
              <a:buFont typeface="Arial" panose="020B0604020202020204" pitchFamily="34" charset="0"/>
              <a:buChar char="•"/>
            </a:pPr>
            <a:r>
              <a:rPr lang="en-US" sz="900" b="1" dirty="0"/>
              <a:t>Prioritize Parenteral medicines first, where stockout probability is 0.044, the highest of all categories and a direct ICU patient safety risk.</a:t>
            </a:r>
            <a:endParaRPr lang="en-US" sz="900" b="1" dirty="0">
              <a:solidFill>
                <a:schemeClr val="tx1">
                  <a:lumMod val="65000"/>
                  <a:lumOff val="35000"/>
                </a:schemeClr>
              </a:solidFill>
            </a:endParaRPr>
          </a:p>
        </p:txBody>
      </p:sp>
      <p:sp>
        <p:nvSpPr>
          <p:cNvPr id="11" name="Shape 9"/>
          <p:cNvSpPr/>
          <p:nvPr/>
        </p:nvSpPr>
        <p:spPr>
          <a:xfrm>
            <a:off x="6858000" y="123444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12" name="Text 10"/>
          <p:cNvSpPr/>
          <p:nvPr/>
        </p:nvSpPr>
        <p:spPr>
          <a:xfrm>
            <a:off x="6876288" y="123444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Reduce stockout incidents | Prevent expiry waste</a:t>
            </a:r>
            <a:endParaRPr lang="en-US" sz="800" dirty="0"/>
          </a:p>
        </p:txBody>
      </p:sp>
      <p:sp>
        <p:nvSpPr>
          <p:cNvPr id="13" name="Shape 11"/>
          <p:cNvSpPr/>
          <p:nvPr/>
        </p:nvSpPr>
        <p:spPr>
          <a:xfrm>
            <a:off x="274320" y="1920240"/>
            <a:ext cx="8595360" cy="868680"/>
          </a:xfrm>
          <a:prstGeom prst="rect">
            <a:avLst/>
          </a:prstGeom>
          <a:solidFill>
            <a:srgbClr val="FFFFFF">
              <a:alpha val="94000"/>
            </a:srgbClr>
          </a:solidFill>
          <a:ln w="12700">
            <a:solidFill>
              <a:srgbClr val="0E7C86"/>
            </a:solidFill>
            <a:prstDash val="solid"/>
          </a:ln>
        </p:spPr>
        <p:txBody>
          <a:bodyPr/>
          <a:lstStyle/>
          <a:p>
            <a:endParaRPr lang="en-US"/>
          </a:p>
        </p:txBody>
      </p:sp>
      <p:sp>
        <p:nvSpPr>
          <p:cNvPr id="14" name="Shape 12"/>
          <p:cNvSpPr/>
          <p:nvPr/>
        </p:nvSpPr>
        <p:spPr>
          <a:xfrm>
            <a:off x="274320" y="1920240"/>
            <a:ext cx="502920" cy="868680"/>
          </a:xfrm>
          <a:prstGeom prst="rect">
            <a:avLst/>
          </a:prstGeom>
          <a:solidFill>
            <a:srgbClr val="0E7C86"/>
          </a:solidFill>
          <a:ln w="12700">
            <a:solidFill>
              <a:srgbClr val="0E7C86"/>
            </a:solidFill>
            <a:prstDash val="solid"/>
          </a:ln>
        </p:spPr>
        <p:txBody>
          <a:bodyPr/>
          <a:lstStyle/>
          <a:p>
            <a:endParaRPr lang="en-US"/>
          </a:p>
        </p:txBody>
      </p:sp>
      <p:sp>
        <p:nvSpPr>
          <p:cNvPr id="15" name="Text 13"/>
          <p:cNvSpPr/>
          <p:nvPr/>
        </p:nvSpPr>
        <p:spPr>
          <a:xfrm>
            <a:off x="274320" y="20116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rPr>
              <a:t>R2</a:t>
            </a:r>
            <a:endParaRPr lang="en-US" sz="1000" dirty="0"/>
          </a:p>
        </p:txBody>
      </p:sp>
      <p:sp>
        <p:nvSpPr>
          <p:cNvPr id="16" name="Text 14"/>
          <p:cNvSpPr/>
          <p:nvPr/>
        </p:nvSpPr>
        <p:spPr>
          <a:xfrm>
            <a:off x="274320" y="239572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BO1</a:t>
            </a:r>
            <a:endParaRPr lang="en-US" sz="800" dirty="0"/>
          </a:p>
        </p:txBody>
      </p:sp>
      <p:sp>
        <p:nvSpPr>
          <p:cNvPr id="17" name="Text 15"/>
          <p:cNvSpPr/>
          <p:nvPr/>
        </p:nvSpPr>
        <p:spPr>
          <a:xfrm>
            <a:off x="868680" y="1965960"/>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Reclassify 'Other' Category</a:t>
            </a:r>
            <a:endParaRPr lang="en-US" sz="1150" dirty="0"/>
          </a:p>
        </p:txBody>
      </p:sp>
      <p:sp>
        <p:nvSpPr>
          <p:cNvPr id="18" name="Text 16"/>
          <p:cNvSpPr/>
          <p:nvPr/>
        </p:nvSpPr>
        <p:spPr>
          <a:xfrm>
            <a:off x="868680" y="2240280"/>
            <a:ext cx="5943600" cy="49377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14 of 27 below-reorder medicines are hidden under 'Other', masking cardiac drugs, antibiotics, and </a:t>
            </a:r>
            <a:r>
              <a:rPr lang="en-US" sz="900" b="1" dirty="0" err="1"/>
              <a:t>anaesthetics</a:t>
            </a:r>
            <a:r>
              <a:rPr lang="en-US" sz="900" b="1" dirty="0"/>
              <a:t> from targeted alerts. </a:t>
            </a:r>
          </a:p>
          <a:p>
            <a:pPr marL="171450" indent="-171450">
              <a:buFont typeface="Arial" panose="020B0604020202020204" pitchFamily="34" charset="0"/>
              <a:buChar char="•"/>
            </a:pPr>
            <a:r>
              <a:rPr lang="en-US" sz="900" b="1" dirty="0"/>
              <a:t>Reclassifying enables category-specific procurement decisions and faster restocking response for critical drugs.</a:t>
            </a:r>
            <a:endParaRPr lang="en-US" sz="900" b="1" dirty="0">
              <a:solidFill>
                <a:schemeClr val="tx1">
                  <a:lumMod val="65000"/>
                  <a:lumOff val="35000"/>
                </a:schemeClr>
              </a:solidFill>
            </a:endParaRPr>
          </a:p>
        </p:txBody>
      </p:sp>
      <p:sp>
        <p:nvSpPr>
          <p:cNvPr id="19" name="Shape 17"/>
          <p:cNvSpPr/>
          <p:nvPr/>
        </p:nvSpPr>
        <p:spPr>
          <a:xfrm>
            <a:off x="6858000" y="224028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20" name="Text 18"/>
          <p:cNvSpPr/>
          <p:nvPr/>
        </p:nvSpPr>
        <p:spPr>
          <a:xfrm>
            <a:off x="6876288" y="224028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Improve visibility | Enable targeted restocking</a:t>
            </a:r>
            <a:endParaRPr lang="en-US" sz="800" dirty="0"/>
          </a:p>
        </p:txBody>
      </p:sp>
      <p:sp>
        <p:nvSpPr>
          <p:cNvPr id="21" name="Shape 19"/>
          <p:cNvSpPr/>
          <p:nvPr/>
        </p:nvSpPr>
        <p:spPr>
          <a:xfrm>
            <a:off x="274320" y="2926080"/>
            <a:ext cx="8595360" cy="868680"/>
          </a:xfrm>
          <a:prstGeom prst="rect">
            <a:avLst/>
          </a:prstGeom>
          <a:solidFill>
            <a:srgbClr val="FFFFFF">
              <a:alpha val="94000"/>
            </a:srgbClr>
          </a:solidFill>
          <a:ln w="12700">
            <a:solidFill>
              <a:srgbClr val="0E7C86"/>
            </a:solidFill>
            <a:prstDash val="solid"/>
          </a:ln>
        </p:spPr>
        <p:txBody>
          <a:bodyPr/>
          <a:lstStyle/>
          <a:p>
            <a:endParaRPr lang="en-US"/>
          </a:p>
        </p:txBody>
      </p:sp>
      <p:sp>
        <p:nvSpPr>
          <p:cNvPr id="22" name="Shape 20"/>
          <p:cNvSpPr/>
          <p:nvPr/>
        </p:nvSpPr>
        <p:spPr>
          <a:xfrm>
            <a:off x="274320" y="2926080"/>
            <a:ext cx="502920" cy="868680"/>
          </a:xfrm>
          <a:prstGeom prst="rect">
            <a:avLst/>
          </a:prstGeom>
          <a:solidFill>
            <a:srgbClr val="0E7C86"/>
          </a:solidFill>
          <a:ln w="12700">
            <a:solidFill>
              <a:srgbClr val="0E7C86"/>
            </a:solidFill>
            <a:prstDash val="solid"/>
          </a:ln>
        </p:spPr>
        <p:txBody>
          <a:bodyPr/>
          <a:lstStyle/>
          <a:p>
            <a:endParaRPr lang="en-US"/>
          </a:p>
        </p:txBody>
      </p:sp>
      <p:sp>
        <p:nvSpPr>
          <p:cNvPr id="23" name="Text 21"/>
          <p:cNvSpPr/>
          <p:nvPr/>
        </p:nvSpPr>
        <p:spPr>
          <a:xfrm>
            <a:off x="274320" y="301752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rPr>
              <a:t>R3</a:t>
            </a:r>
            <a:endParaRPr lang="en-US" sz="1000" dirty="0"/>
          </a:p>
        </p:txBody>
      </p:sp>
      <p:sp>
        <p:nvSpPr>
          <p:cNvPr id="24" name="Text 22"/>
          <p:cNvSpPr/>
          <p:nvPr/>
        </p:nvSpPr>
        <p:spPr>
          <a:xfrm>
            <a:off x="274320" y="340156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BO2</a:t>
            </a:r>
            <a:endParaRPr lang="en-US" sz="800" dirty="0"/>
          </a:p>
        </p:txBody>
      </p:sp>
      <p:sp>
        <p:nvSpPr>
          <p:cNvPr id="25" name="Text 23"/>
          <p:cNvSpPr/>
          <p:nvPr/>
        </p:nvSpPr>
        <p:spPr>
          <a:xfrm>
            <a:off x="868680" y="2915243"/>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Prioritise High-Reliability Suppliers</a:t>
            </a:r>
            <a:endParaRPr lang="en-US" sz="1150" dirty="0"/>
          </a:p>
        </p:txBody>
      </p:sp>
      <p:sp>
        <p:nvSpPr>
          <p:cNvPr id="26" name="Text 24"/>
          <p:cNvSpPr/>
          <p:nvPr/>
        </p:nvSpPr>
        <p:spPr>
          <a:xfrm>
            <a:off x="868680" y="3156373"/>
            <a:ext cx="5943600" cy="583523"/>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Redirect procurement to Supplier_137 (95% on-time), Supplier_417 (94%), and Supplier_455 (94%), all scoring 5.0 reliability with 14-day avg lead times. </a:t>
            </a:r>
          </a:p>
          <a:p>
            <a:pPr marL="171450" indent="-171450">
              <a:buFont typeface="Arial" panose="020B0604020202020204" pitchFamily="34" charset="0"/>
              <a:buChar char="•"/>
            </a:pPr>
            <a:r>
              <a:rPr lang="en-US" sz="900" b="1" dirty="0"/>
              <a:t>Reduce dependency on Chennai (0.242 poor performance) and Delhi (0.236) supplier pools which carry the highest delivery risk.</a:t>
            </a:r>
            <a:endParaRPr lang="en-US" sz="900" b="1" dirty="0">
              <a:solidFill>
                <a:schemeClr val="tx1">
                  <a:lumMod val="65000"/>
                  <a:lumOff val="35000"/>
                </a:schemeClr>
              </a:solidFill>
            </a:endParaRPr>
          </a:p>
        </p:txBody>
      </p:sp>
      <p:sp>
        <p:nvSpPr>
          <p:cNvPr id="27" name="Shape 25"/>
          <p:cNvSpPr/>
          <p:nvPr/>
        </p:nvSpPr>
        <p:spPr>
          <a:xfrm>
            <a:off x="6858000" y="324612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28" name="Text 26"/>
          <p:cNvSpPr/>
          <p:nvPr/>
        </p:nvSpPr>
        <p:spPr>
          <a:xfrm>
            <a:off x="6876288" y="324612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Reduce 33% delay-risk supplier exposure</a:t>
            </a:r>
            <a:endParaRPr lang="en-US" sz="800" dirty="0"/>
          </a:p>
        </p:txBody>
      </p:sp>
      <p:sp>
        <p:nvSpPr>
          <p:cNvPr id="29" name="Shape 27"/>
          <p:cNvSpPr/>
          <p:nvPr/>
        </p:nvSpPr>
        <p:spPr>
          <a:xfrm>
            <a:off x="274320" y="3931920"/>
            <a:ext cx="8595360" cy="868680"/>
          </a:xfrm>
          <a:prstGeom prst="rect">
            <a:avLst/>
          </a:prstGeom>
          <a:solidFill>
            <a:srgbClr val="FFFFFF">
              <a:alpha val="94000"/>
            </a:srgbClr>
          </a:solidFill>
          <a:ln w="12700">
            <a:solidFill>
              <a:srgbClr val="0E7C86"/>
            </a:solidFill>
            <a:prstDash val="solid"/>
          </a:ln>
        </p:spPr>
        <p:txBody>
          <a:bodyPr/>
          <a:lstStyle/>
          <a:p>
            <a:endParaRPr lang="en-US"/>
          </a:p>
        </p:txBody>
      </p:sp>
      <p:sp>
        <p:nvSpPr>
          <p:cNvPr id="30" name="Shape 28"/>
          <p:cNvSpPr/>
          <p:nvPr/>
        </p:nvSpPr>
        <p:spPr>
          <a:xfrm>
            <a:off x="274320" y="3931920"/>
            <a:ext cx="502920" cy="868680"/>
          </a:xfrm>
          <a:prstGeom prst="rect">
            <a:avLst/>
          </a:prstGeom>
          <a:solidFill>
            <a:srgbClr val="0E7C86"/>
          </a:solidFill>
          <a:ln w="12700">
            <a:solidFill>
              <a:srgbClr val="0E7C86"/>
            </a:solidFill>
            <a:prstDash val="solid"/>
          </a:ln>
        </p:spPr>
        <p:txBody>
          <a:bodyPr/>
          <a:lstStyle/>
          <a:p>
            <a:endParaRPr lang="en-US"/>
          </a:p>
        </p:txBody>
      </p:sp>
      <p:sp>
        <p:nvSpPr>
          <p:cNvPr id="31" name="Text 29"/>
          <p:cNvSpPr/>
          <p:nvPr/>
        </p:nvSpPr>
        <p:spPr>
          <a:xfrm>
            <a:off x="274320" y="402336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rPr>
              <a:t>R4</a:t>
            </a:r>
            <a:endParaRPr lang="en-US" sz="1000" dirty="0"/>
          </a:p>
        </p:txBody>
      </p:sp>
      <p:sp>
        <p:nvSpPr>
          <p:cNvPr id="32" name="Text 30"/>
          <p:cNvSpPr/>
          <p:nvPr/>
        </p:nvSpPr>
        <p:spPr>
          <a:xfrm>
            <a:off x="274320" y="440740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BO2</a:t>
            </a:r>
            <a:endParaRPr lang="en-US" sz="800" dirty="0"/>
          </a:p>
        </p:txBody>
      </p:sp>
      <p:sp>
        <p:nvSpPr>
          <p:cNvPr id="33" name="Text 31"/>
          <p:cNvSpPr/>
          <p:nvPr/>
        </p:nvSpPr>
        <p:spPr>
          <a:xfrm>
            <a:off x="868680" y="3977640"/>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Introduce Supplier Scorecard &amp; SLA Enforcement</a:t>
            </a:r>
            <a:endParaRPr lang="en-US" sz="1150" dirty="0"/>
          </a:p>
        </p:txBody>
      </p:sp>
      <p:sp>
        <p:nvSpPr>
          <p:cNvPr id="34" name="Text 32"/>
          <p:cNvSpPr/>
          <p:nvPr/>
        </p:nvSpPr>
        <p:spPr>
          <a:xfrm>
            <a:off x="868680" y="4251960"/>
            <a:ext cx="5943600" cy="49377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20% of all 538 suppliers perform poorly, with on-time delivery below 75% directly correlated with high shortage counts.</a:t>
            </a:r>
          </a:p>
          <a:p>
            <a:pPr marL="171450" indent="-171450">
              <a:buFont typeface="Arial" panose="020B0604020202020204" pitchFamily="34" charset="0"/>
              <a:buChar char="•"/>
            </a:pPr>
            <a:r>
              <a:rPr lang="en-US" sz="900" b="1" dirty="0"/>
              <a:t>Enforce minimum standards of 88% on-time delivery and reliability ≥ 4.0 to eliminate the bottom-performing supplier tier.</a:t>
            </a:r>
            <a:endParaRPr lang="en-US" sz="900" b="1" dirty="0">
              <a:solidFill>
                <a:schemeClr val="tx1">
                  <a:lumMod val="65000"/>
                  <a:lumOff val="35000"/>
                </a:schemeClr>
              </a:solidFill>
            </a:endParaRPr>
          </a:p>
        </p:txBody>
      </p:sp>
      <p:sp>
        <p:nvSpPr>
          <p:cNvPr id="35" name="Shape 33"/>
          <p:cNvSpPr/>
          <p:nvPr/>
        </p:nvSpPr>
        <p:spPr>
          <a:xfrm>
            <a:off x="6858000" y="425196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36" name="Text 34"/>
          <p:cNvSpPr/>
          <p:nvPr/>
        </p:nvSpPr>
        <p:spPr>
          <a:xfrm>
            <a:off x="6876288" y="425196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Improve supply reliability | Reduce shortages</a:t>
            </a:r>
            <a:endParaRPr lang="en-US" sz="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0D2B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B5C0"/>
          </a:solidFill>
          <a:ln w="12700">
            <a:solidFill>
              <a:srgbClr val="1AB5C0"/>
            </a:solidFill>
            <a:prstDash val="solid"/>
          </a:ln>
        </p:spPr>
        <p:txBody>
          <a:bodyPr/>
          <a:lstStyle/>
          <a:p>
            <a:endParaRPr lang="en-US"/>
          </a:p>
        </p:txBody>
      </p:sp>
      <p:sp>
        <p:nvSpPr>
          <p:cNvPr id="3" name="Text 1"/>
          <p:cNvSpPr/>
          <p:nvPr/>
        </p:nvSpPr>
        <p:spPr>
          <a:xfrm>
            <a:off x="365760" y="0"/>
            <a:ext cx="5943600" cy="777240"/>
          </a:xfrm>
          <a:prstGeom prst="rect">
            <a:avLst/>
          </a:prstGeom>
          <a:noFill/>
          <a:ln/>
        </p:spPr>
        <p:txBody>
          <a:bodyPr wrap="square" lIns="0" tIns="0" rIns="0" bIns="0" rtlCol="0" anchor="ctr"/>
          <a:lstStyle/>
          <a:p>
            <a:pPr marL="0" indent="0">
              <a:buNone/>
            </a:pPr>
            <a:r>
              <a:rPr lang="en-US" sz="2200" b="1" dirty="0">
                <a:solidFill>
                  <a:srgbClr val="0D2B5C"/>
                </a:solidFill>
              </a:rPr>
              <a:t>Business Recommendations</a:t>
            </a:r>
            <a:endParaRPr lang="en-US" sz="2200" dirty="0"/>
          </a:p>
        </p:txBody>
      </p:sp>
      <p:sp>
        <p:nvSpPr>
          <p:cNvPr id="4" name="Text 2"/>
          <p:cNvSpPr/>
          <p:nvPr/>
        </p:nvSpPr>
        <p:spPr>
          <a:xfrm>
            <a:off x="6858000" y="201168"/>
            <a:ext cx="2011680" cy="384048"/>
          </a:xfrm>
          <a:prstGeom prst="rect">
            <a:avLst/>
          </a:prstGeom>
          <a:noFill/>
          <a:ln/>
        </p:spPr>
        <p:txBody>
          <a:bodyPr wrap="square" lIns="0" tIns="0" rIns="0" bIns="0" rtlCol="0" anchor="ctr"/>
          <a:lstStyle/>
          <a:p>
            <a:pPr marL="0" indent="0" algn="r">
              <a:buNone/>
            </a:pPr>
            <a:r>
              <a:rPr lang="en-US" sz="1300" b="1" dirty="0">
                <a:solidFill>
                  <a:srgbClr val="E8A838"/>
                </a:solidFill>
              </a:rPr>
              <a:t>BO3 &amp; BO4</a:t>
            </a:r>
            <a:endParaRPr lang="en-US" sz="1300" dirty="0"/>
          </a:p>
        </p:txBody>
      </p:sp>
      <p:sp>
        <p:nvSpPr>
          <p:cNvPr id="5" name="Shape 3"/>
          <p:cNvSpPr/>
          <p:nvPr/>
        </p:nvSpPr>
        <p:spPr>
          <a:xfrm>
            <a:off x="274320" y="914400"/>
            <a:ext cx="8595360" cy="868680"/>
          </a:xfrm>
          <a:prstGeom prst="rect">
            <a:avLst/>
          </a:prstGeom>
          <a:solidFill>
            <a:srgbClr val="FFFFFF">
              <a:alpha val="94000"/>
            </a:srgbClr>
          </a:solidFill>
          <a:ln w="12700">
            <a:solidFill>
              <a:srgbClr val="1AB5C0"/>
            </a:solidFill>
            <a:prstDash val="solid"/>
          </a:ln>
        </p:spPr>
        <p:txBody>
          <a:bodyPr/>
          <a:lstStyle/>
          <a:p>
            <a:endParaRPr lang="en-US"/>
          </a:p>
        </p:txBody>
      </p:sp>
      <p:sp>
        <p:nvSpPr>
          <p:cNvPr id="6" name="Shape 4"/>
          <p:cNvSpPr/>
          <p:nvPr/>
        </p:nvSpPr>
        <p:spPr>
          <a:xfrm>
            <a:off x="274320" y="914400"/>
            <a:ext cx="502920" cy="868680"/>
          </a:xfrm>
          <a:prstGeom prst="rect">
            <a:avLst/>
          </a:prstGeom>
          <a:solidFill>
            <a:srgbClr val="1AB5C0"/>
          </a:solidFill>
          <a:ln w="12700">
            <a:solidFill>
              <a:srgbClr val="1AB5C0"/>
            </a:solidFill>
            <a:prstDash val="solid"/>
          </a:ln>
        </p:spPr>
        <p:txBody>
          <a:bodyPr/>
          <a:lstStyle/>
          <a:p>
            <a:endParaRPr lang="en-US"/>
          </a:p>
        </p:txBody>
      </p:sp>
      <p:sp>
        <p:nvSpPr>
          <p:cNvPr id="7" name="Text 5"/>
          <p:cNvSpPr/>
          <p:nvPr/>
        </p:nvSpPr>
        <p:spPr>
          <a:xfrm>
            <a:off x="274320" y="1005840"/>
            <a:ext cx="502920" cy="320040"/>
          </a:xfrm>
          <a:prstGeom prst="rect">
            <a:avLst/>
          </a:prstGeom>
          <a:noFill/>
          <a:ln/>
        </p:spPr>
        <p:txBody>
          <a:bodyPr wrap="square" lIns="0" tIns="0" rIns="0" bIns="0" rtlCol="0" anchor="ctr"/>
          <a:lstStyle/>
          <a:p>
            <a:pPr marL="0" indent="0" algn="ctr">
              <a:buNone/>
            </a:pPr>
            <a:r>
              <a:rPr lang="en-US" sz="1000" b="1" dirty="0">
                <a:solidFill>
                  <a:srgbClr val="0D2B5C"/>
                </a:solidFill>
              </a:rPr>
              <a:t>R5</a:t>
            </a:r>
            <a:endParaRPr lang="en-US" sz="1000" dirty="0"/>
          </a:p>
        </p:txBody>
      </p:sp>
      <p:sp>
        <p:nvSpPr>
          <p:cNvPr id="8" name="Text 6"/>
          <p:cNvSpPr/>
          <p:nvPr/>
        </p:nvSpPr>
        <p:spPr>
          <a:xfrm>
            <a:off x="274320" y="138988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BO3</a:t>
            </a:r>
            <a:endParaRPr lang="en-US" sz="800" dirty="0"/>
          </a:p>
        </p:txBody>
      </p:sp>
      <p:sp>
        <p:nvSpPr>
          <p:cNvPr id="9" name="Text 7"/>
          <p:cNvSpPr/>
          <p:nvPr/>
        </p:nvSpPr>
        <p:spPr>
          <a:xfrm>
            <a:off x="868680" y="960120"/>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Deploy Seasonal Demand Planning for Jul–Sep Peak</a:t>
            </a:r>
            <a:endParaRPr lang="en-US" sz="1150" dirty="0"/>
          </a:p>
        </p:txBody>
      </p:sp>
      <p:sp>
        <p:nvSpPr>
          <p:cNvPr id="10" name="Text 8"/>
          <p:cNvSpPr/>
          <p:nvPr/>
        </p:nvSpPr>
        <p:spPr>
          <a:xfrm>
            <a:off x="868680" y="1234440"/>
            <a:ext cx="5943600" cy="49377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Monthly demand spikes to 2,800–3,000 units in July–September versus just 700 units in March, April, and October, a predictable 4x swing. </a:t>
            </a:r>
          </a:p>
          <a:p>
            <a:pPr marL="171450" indent="-171450">
              <a:buFont typeface="Arial" panose="020B0604020202020204" pitchFamily="34" charset="0"/>
              <a:buChar char="•"/>
            </a:pPr>
            <a:r>
              <a:rPr lang="en-US" sz="900" b="1" dirty="0"/>
              <a:t>Pre-positioning inventory before peak months eliminates reactive emergency procurement and reduces stockout risk during surges.</a:t>
            </a:r>
            <a:endParaRPr lang="en-US" sz="900" b="1" dirty="0">
              <a:solidFill>
                <a:schemeClr val="tx1">
                  <a:lumMod val="65000"/>
                  <a:lumOff val="35000"/>
                </a:schemeClr>
              </a:solidFill>
            </a:endParaRPr>
          </a:p>
        </p:txBody>
      </p:sp>
      <p:sp>
        <p:nvSpPr>
          <p:cNvPr id="11" name="Shape 9"/>
          <p:cNvSpPr/>
          <p:nvPr/>
        </p:nvSpPr>
        <p:spPr>
          <a:xfrm>
            <a:off x="6858000" y="123444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12" name="Text 10"/>
          <p:cNvSpPr/>
          <p:nvPr/>
        </p:nvSpPr>
        <p:spPr>
          <a:xfrm>
            <a:off x="6876288" y="123444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Reduce emergency orders | Optimise stock timing</a:t>
            </a:r>
            <a:endParaRPr lang="en-US" sz="800" dirty="0"/>
          </a:p>
        </p:txBody>
      </p:sp>
      <p:sp>
        <p:nvSpPr>
          <p:cNvPr id="13" name="Shape 11"/>
          <p:cNvSpPr/>
          <p:nvPr/>
        </p:nvSpPr>
        <p:spPr>
          <a:xfrm>
            <a:off x="274320" y="1920240"/>
            <a:ext cx="8595360" cy="868680"/>
          </a:xfrm>
          <a:prstGeom prst="rect">
            <a:avLst/>
          </a:prstGeom>
          <a:solidFill>
            <a:srgbClr val="FFFFFF">
              <a:alpha val="94000"/>
            </a:srgbClr>
          </a:solidFill>
          <a:ln w="12700">
            <a:solidFill>
              <a:srgbClr val="1AB5C0"/>
            </a:solidFill>
            <a:prstDash val="solid"/>
          </a:ln>
        </p:spPr>
        <p:txBody>
          <a:bodyPr/>
          <a:lstStyle/>
          <a:p>
            <a:endParaRPr lang="en-US"/>
          </a:p>
        </p:txBody>
      </p:sp>
      <p:sp>
        <p:nvSpPr>
          <p:cNvPr id="14" name="Shape 12"/>
          <p:cNvSpPr/>
          <p:nvPr/>
        </p:nvSpPr>
        <p:spPr>
          <a:xfrm>
            <a:off x="274320" y="1920240"/>
            <a:ext cx="502920" cy="868680"/>
          </a:xfrm>
          <a:prstGeom prst="rect">
            <a:avLst/>
          </a:prstGeom>
          <a:solidFill>
            <a:srgbClr val="1AB5C0"/>
          </a:solidFill>
          <a:ln w="12700">
            <a:solidFill>
              <a:srgbClr val="1AB5C0"/>
            </a:solidFill>
            <a:prstDash val="solid"/>
          </a:ln>
        </p:spPr>
        <p:txBody>
          <a:bodyPr/>
          <a:lstStyle/>
          <a:p>
            <a:endParaRPr lang="en-US"/>
          </a:p>
        </p:txBody>
      </p:sp>
      <p:sp>
        <p:nvSpPr>
          <p:cNvPr id="15" name="Text 13"/>
          <p:cNvSpPr/>
          <p:nvPr/>
        </p:nvSpPr>
        <p:spPr>
          <a:xfrm>
            <a:off x="274320" y="2011680"/>
            <a:ext cx="502920" cy="320040"/>
          </a:xfrm>
          <a:prstGeom prst="rect">
            <a:avLst/>
          </a:prstGeom>
          <a:noFill/>
          <a:ln/>
        </p:spPr>
        <p:txBody>
          <a:bodyPr wrap="square" lIns="0" tIns="0" rIns="0" bIns="0" rtlCol="0" anchor="ctr"/>
          <a:lstStyle/>
          <a:p>
            <a:pPr marL="0" indent="0" algn="ctr">
              <a:buNone/>
            </a:pPr>
            <a:r>
              <a:rPr lang="en-US" sz="1000" b="1" dirty="0">
                <a:solidFill>
                  <a:srgbClr val="0D2B5C"/>
                </a:solidFill>
              </a:rPr>
              <a:t>R6</a:t>
            </a:r>
            <a:endParaRPr lang="en-US" sz="1000" dirty="0"/>
          </a:p>
        </p:txBody>
      </p:sp>
      <p:sp>
        <p:nvSpPr>
          <p:cNvPr id="16" name="Text 14"/>
          <p:cNvSpPr/>
          <p:nvPr/>
        </p:nvSpPr>
        <p:spPr>
          <a:xfrm>
            <a:off x="274320" y="239572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BO3</a:t>
            </a:r>
            <a:endParaRPr lang="en-US" sz="800" dirty="0"/>
          </a:p>
        </p:txBody>
      </p:sp>
      <p:sp>
        <p:nvSpPr>
          <p:cNvPr id="17" name="Text 15"/>
          <p:cNvSpPr/>
          <p:nvPr/>
        </p:nvSpPr>
        <p:spPr>
          <a:xfrm>
            <a:off x="868680" y="1928707"/>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Target High Wastage Probability Regions (Mumbai, Delhi, Coimbatore)</a:t>
            </a:r>
            <a:endParaRPr lang="en-US" sz="1150" dirty="0"/>
          </a:p>
        </p:txBody>
      </p:sp>
      <p:sp>
        <p:nvSpPr>
          <p:cNvPr id="18" name="Text 16"/>
          <p:cNvSpPr/>
          <p:nvPr/>
        </p:nvSpPr>
        <p:spPr>
          <a:xfrm>
            <a:off x="868680" y="2240280"/>
            <a:ext cx="5943600" cy="49377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Mumbai alone recorded 533 wastage units and 80 stockout days simultaneously proving misallocation, not shortage, is the core problem. </a:t>
            </a:r>
          </a:p>
          <a:p>
            <a:pPr marL="171450" indent="-171450">
              <a:buFont typeface="Arial" panose="020B0604020202020204" pitchFamily="34" charset="0"/>
              <a:buChar char="•"/>
            </a:pPr>
            <a:r>
              <a:rPr lang="en-US" sz="900" b="1" dirty="0"/>
              <a:t>Deploy the ML stockout classifier (AUC = 0.99) at facility level to generate daily risk alerts, using wastage as the primary early warning signal.</a:t>
            </a:r>
            <a:endParaRPr lang="en-US" sz="900" b="1" dirty="0">
              <a:solidFill>
                <a:schemeClr val="tx1">
                  <a:lumMod val="65000"/>
                  <a:lumOff val="35000"/>
                </a:schemeClr>
              </a:solidFill>
            </a:endParaRPr>
          </a:p>
        </p:txBody>
      </p:sp>
      <p:sp>
        <p:nvSpPr>
          <p:cNvPr id="19" name="Shape 17"/>
          <p:cNvSpPr/>
          <p:nvPr/>
        </p:nvSpPr>
        <p:spPr>
          <a:xfrm>
            <a:off x="6858000" y="224028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20" name="Text 18"/>
          <p:cNvSpPr/>
          <p:nvPr/>
        </p:nvSpPr>
        <p:spPr>
          <a:xfrm>
            <a:off x="6876288" y="224028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Reduce 14.4% avg wastage rate regionally</a:t>
            </a:r>
            <a:endParaRPr lang="en-US" sz="800" dirty="0"/>
          </a:p>
        </p:txBody>
      </p:sp>
      <p:sp>
        <p:nvSpPr>
          <p:cNvPr id="21" name="Shape 19"/>
          <p:cNvSpPr/>
          <p:nvPr/>
        </p:nvSpPr>
        <p:spPr>
          <a:xfrm>
            <a:off x="274320" y="2926080"/>
            <a:ext cx="8595360" cy="868680"/>
          </a:xfrm>
          <a:prstGeom prst="rect">
            <a:avLst/>
          </a:prstGeom>
          <a:solidFill>
            <a:srgbClr val="FFFFFF">
              <a:alpha val="94000"/>
            </a:srgbClr>
          </a:solidFill>
          <a:ln w="12700">
            <a:solidFill>
              <a:srgbClr val="1AB5C0"/>
            </a:solidFill>
            <a:prstDash val="solid"/>
          </a:ln>
        </p:spPr>
        <p:txBody>
          <a:bodyPr/>
          <a:lstStyle/>
          <a:p>
            <a:endParaRPr lang="en-US"/>
          </a:p>
        </p:txBody>
      </p:sp>
      <p:sp>
        <p:nvSpPr>
          <p:cNvPr id="22" name="Shape 20"/>
          <p:cNvSpPr/>
          <p:nvPr/>
        </p:nvSpPr>
        <p:spPr>
          <a:xfrm>
            <a:off x="274320" y="2926080"/>
            <a:ext cx="502920" cy="868680"/>
          </a:xfrm>
          <a:prstGeom prst="rect">
            <a:avLst/>
          </a:prstGeom>
          <a:solidFill>
            <a:srgbClr val="1AB5C0"/>
          </a:solidFill>
          <a:ln w="12700">
            <a:solidFill>
              <a:srgbClr val="1AB5C0"/>
            </a:solidFill>
            <a:prstDash val="solid"/>
          </a:ln>
        </p:spPr>
        <p:txBody>
          <a:bodyPr/>
          <a:lstStyle/>
          <a:p>
            <a:endParaRPr lang="en-US"/>
          </a:p>
        </p:txBody>
      </p:sp>
      <p:sp>
        <p:nvSpPr>
          <p:cNvPr id="23" name="Text 21"/>
          <p:cNvSpPr/>
          <p:nvPr/>
        </p:nvSpPr>
        <p:spPr>
          <a:xfrm>
            <a:off x="274320" y="3017520"/>
            <a:ext cx="502920" cy="320040"/>
          </a:xfrm>
          <a:prstGeom prst="rect">
            <a:avLst/>
          </a:prstGeom>
          <a:noFill/>
          <a:ln/>
        </p:spPr>
        <p:txBody>
          <a:bodyPr wrap="square" lIns="0" tIns="0" rIns="0" bIns="0" rtlCol="0" anchor="ctr"/>
          <a:lstStyle/>
          <a:p>
            <a:pPr marL="0" indent="0" algn="ctr">
              <a:buNone/>
            </a:pPr>
            <a:r>
              <a:rPr lang="en-US" sz="1000" b="1" dirty="0">
                <a:solidFill>
                  <a:srgbClr val="0D2B5C"/>
                </a:solidFill>
              </a:rPr>
              <a:t>R7</a:t>
            </a:r>
            <a:endParaRPr lang="en-US" sz="1000" dirty="0"/>
          </a:p>
        </p:txBody>
      </p:sp>
      <p:sp>
        <p:nvSpPr>
          <p:cNvPr id="24" name="Text 22"/>
          <p:cNvSpPr/>
          <p:nvPr/>
        </p:nvSpPr>
        <p:spPr>
          <a:xfrm>
            <a:off x="274320" y="340156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BO4</a:t>
            </a:r>
            <a:endParaRPr lang="en-US" sz="800" dirty="0"/>
          </a:p>
        </p:txBody>
      </p:sp>
      <p:sp>
        <p:nvSpPr>
          <p:cNvPr id="25" name="Text 23"/>
          <p:cNvSpPr/>
          <p:nvPr/>
        </p:nvSpPr>
        <p:spPr>
          <a:xfrm>
            <a:off x="868680" y="2971800"/>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Minimise Return Orders : Focus on 2-Unit Returns</a:t>
            </a:r>
            <a:endParaRPr lang="en-US" sz="1150" dirty="0"/>
          </a:p>
        </p:txBody>
      </p:sp>
      <p:sp>
        <p:nvSpPr>
          <p:cNvPr id="26" name="Text 24"/>
          <p:cNvSpPr/>
          <p:nvPr/>
        </p:nvSpPr>
        <p:spPr>
          <a:xfrm>
            <a:off x="868680" y="3246120"/>
            <a:ext cx="5943600" cy="49377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All 1,681 return orders generate losses, 2-unit returns cause the steepest loss at ₹147.59 per order, likely driven by high-value specialty injectables. </a:t>
            </a:r>
          </a:p>
          <a:p>
            <a:pPr marL="171450" indent="-171450">
              <a:buFont typeface="Arial" panose="020B0604020202020204" pitchFamily="34" charset="0"/>
              <a:buChar char="•"/>
            </a:pPr>
            <a:r>
              <a:rPr lang="en-US" sz="900" b="1" dirty="0"/>
              <a:t>Investigating and reducing high-cost drug return patterns can directly recover profit currently being lost across returned orders.</a:t>
            </a:r>
            <a:endParaRPr lang="en-US" sz="900" b="1" dirty="0">
              <a:solidFill>
                <a:schemeClr val="tx1">
                  <a:lumMod val="65000"/>
                  <a:lumOff val="35000"/>
                </a:schemeClr>
              </a:solidFill>
            </a:endParaRPr>
          </a:p>
        </p:txBody>
      </p:sp>
      <p:sp>
        <p:nvSpPr>
          <p:cNvPr id="27" name="Shape 25"/>
          <p:cNvSpPr/>
          <p:nvPr/>
        </p:nvSpPr>
        <p:spPr>
          <a:xfrm>
            <a:off x="6858000" y="324612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28" name="Text 26"/>
          <p:cNvSpPr/>
          <p:nvPr/>
        </p:nvSpPr>
        <p:spPr>
          <a:xfrm>
            <a:off x="6876288" y="324612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Direct profit recovery from return reduction</a:t>
            </a:r>
            <a:endParaRPr lang="en-US" sz="800" dirty="0"/>
          </a:p>
        </p:txBody>
      </p:sp>
      <p:sp>
        <p:nvSpPr>
          <p:cNvPr id="29" name="Shape 27"/>
          <p:cNvSpPr/>
          <p:nvPr/>
        </p:nvSpPr>
        <p:spPr>
          <a:xfrm>
            <a:off x="274320" y="3931920"/>
            <a:ext cx="8595360" cy="868680"/>
          </a:xfrm>
          <a:prstGeom prst="rect">
            <a:avLst/>
          </a:prstGeom>
          <a:solidFill>
            <a:srgbClr val="FFFFFF">
              <a:alpha val="94000"/>
            </a:srgbClr>
          </a:solidFill>
          <a:ln w="12700">
            <a:solidFill>
              <a:srgbClr val="1AB5C0"/>
            </a:solidFill>
            <a:prstDash val="solid"/>
          </a:ln>
        </p:spPr>
        <p:txBody>
          <a:bodyPr/>
          <a:lstStyle/>
          <a:p>
            <a:endParaRPr lang="en-US"/>
          </a:p>
        </p:txBody>
      </p:sp>
      <p:sp>
        <p:nvSpPr>
          <p:cNvPr id="30" name="Shape 28"/>
          <p:cNvSpPr/>
          <p:nvPr/>
        </p:nvSpPr>
        <p:spPr>
          <a:xfrm>
            <a:off x="274320" y="3931920"/>
            <a:ext cx="502920" cy="868680"/>
          </a:xfrm>
          <a:prstGeom prst="rect">
            <a:avLst/>
          </a:prstGeom>
          <a:solidFill>
            <a:srgbClr val="1AB5C0"/>
          </a:solidFill>
          <a:ln w="12700">
            <a:solidFill>
              <a:srgbClr val="1AB5C0"/>
            </a:solidFill>
            <a:prstDash val="solid"/>
          </a:ln>
        </p:spPr>
        <p:txBody>
          <a:bodyPr/>
          <a:lstStyle/>
          <a:p>
            <a:endParaRPr lang="en-US"/>
          </a:p>
        </p:txBody>
      </p:sp>
      <p:sp>
        <p:nvSpPr>
          <p:cNvPr id="31" name="Text 29"/>
          <p:cNvSpPr/>
          <p:nvPr/>
        </p:nvSpPr>
        <p:spPr>
          <a:xfrm>
            <a:off x="274320" y="4023360"/>
            <a:ext cx="502920" cy="320040"/>
          </a:xfrm>
          <a:prstGeom prst="rect">
            <a:avLst/>
          </a:prstGeom>
          <a:noFill/>
          <a:ln/>
        </p:spPr>
        <p:txBody>
          <a:bodyPr wrap="square" lIns="0" tIns="0" rIns="0" bIns="0" rtlCol="0" anchor="ctr"/>
          <a:lstStyle/>
          <a:p>
            <a:pPr marL="0" indent="0" algn="ctr">
              <a:buNone/>
            </a:pPr>
            <a:r>
              <a:rPr lang="en-US" sz="1000" b="1" dirty="0">
                <a:solidFill>
                  <a:srgbClr val="0D2B5C"/>
                </a:solidFill>
              </a:rPr>
              <a:t>R8</a:t>
            </a:r>
            <a:endParaRPr lang="en-US" sz="1000" dirty="0"/>
          </a:p>
        </p:txBody>
      </p:sp>
      <p:sp>
        <p:nvSpPr>
          <p:cNvPr id="32" name="Text 30"/>
          <p:cNvSpPr/>
          <p:nvPr/>
        </p:nvSpPr>
        <p:spPr>
          <a:xfrm>
            <a:off x="274320" y="4407408"/>
            <a:ext cx="502920" cy="256032"/>
          </a:xfrm>
          <a:prstGeom prst="rect">
            <a:avLst/>
          </a:prstGeom>
          <a:noFill/>
          <a:ln/>
        </p:spPr>
        <p:txBody>
          <a:bodyPr wrap="square" lIns="0" tIns="0" rIns="0" bIns="0" rtlCol="0" anchor="ctr"/>
          <a:lstStyle/>
          <a:p>
            <a:pPr marL="0" indent="0" algn="ctr">
              <a:buNone/>
            </a:pPr>
            <a:r>
              <a:rPr lang="en-US" sz="800" b="1" dirty="0">
                <a:solidFill>
                  <a:srgbClr val="E8A838"/>
                </a:solidFill>
              </a:rPr>
              <a:t>BO4</a:t>
            </a:r>
            <a:endParaRPr lang="en-US" sz="800" dirty="0"/>
          </a:p>
        </p:txBody>
      </p:sp>
      <p:sp>
        <p:nvSpPr>
          <p:cNvPr id="33" name="Text 31"/>
          <p:cNvSpPr/>
          <p:nvPr/>
        </p:nvSpPr>
        <p:spPr>
          <a:xfrm>
            <a:off x="868680" y="3933613"/>
            <a:ext cx="7909560" cy="274320"/>
          </a:xfrm>
          <a:prstGeom prst="rect">
            <a:avLst/>
          </a:prstGeom>
          <a:noFill/>
          <a:ln/>
        </p:spPr>
        <p:txBody>
          <a:bodyPr wrap="square" lIns="0" tIns="0" rIns="0" bIns="0" rtlCol="0" anchor="ctr"/>
          <a:lstStyle/>
          <a:p>
            <a:pPr marL="0" indent="0">
              <a:buNone/>
            </a:pPr>
            <a:r>
              <a:rPr lang="en-US" sz="1150" b="1" dirty="0">
                <a:solidFill>
                  <a:srgbClr val="E8A838"/>
                </a:solidFill>
              </a:rPr>
              <a:t>Standardise Procurement Costs : Address Unit Cost Variability</a:t>
            </a:r>
            <a:endParaRPr lang="en-US" sz="1150" dirty="0"/>
          </a:p>
        </p:txBody>
      </p:sp>
      <p:sp>
        <p:nvSpPr>
          <p:cNvPr id="34" name="Text 32"/>
          <p:cNvSpPr/>
          <p:nvPr/>
        </p:nvSpPr>
        <p:spPr>
          <a:xfrm>
            <a:off x="868680" y="4251960"/>
            <a:ext cx="5943600" cy="493776"/>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900" b="1" dirty="0"/>
              <a:t>Unit costs range from ₹5.16 to ₹199.88 with average ₹101.10, high variance indicates inconsistent vendor pricing across drug categories. </a:t>
            </a:r>
          </a:p>
          <a:p>
            <a:pPr marL="171450" indent="-171450">
              <a:buFont typeface="Arial" panose="020B0604020202020204" pitchFamily="34" charset="0"/>
              <a:buChar char="•"/>
            </a:pPr>
            <a:r>
              <a:rPr lang="en-US" sz="900" b="1" dirty="0"/>
              <a:t>Median stock cover is only 26 days, extending this to 35+ days provides a meaningful buffer against the 8-day average supplier lead time and seasonal demand spikes.</a:t>
            </a:r>
            <a:endParaRPr lang="en-US" sz="900" b="1" dirty="0">
              <a:solidFill>
                <a:schemeClr val="tx1">
                  <a:lumMod val="65000"/>
                  <a:lumOff val="35000"/>
                </a:schemeClr>
              </a:solidFill>
            </a:endParaRPr>
          </a:p>
        </p:txBody>
      </p:sp>
      <p:sp>
        <p:nvSpPr>
          <p:cNvPr id="35" name="Shape 33"/>
          <p:cNvSpPr/>
          <p:nvPr/>
        </p:nvSpPr>
        <p:spPr>
          <a:xfrm>
            <a:off x="6858000" y="4251960"/>
            <a:ext cx="1920240" cy="457200"/>
          </a:xfrm>
          <a:prstGeom prst="rect">
            <a:avLst/>
          </a:prstGeom>
          <a:solidFill>
            <a:srgbClr val="1E8449">
              <a:alpha val="80000"/>
            </a:srgbClr>
          </a:solidFill>
          <a:ln w="12700">
            <a:solidFill>
              <a:srgbClr val="1E8449"/>
            </a:solidFill>
            <a:prstDash val="solid"/>
          </a:ln>
        </p:spPr>
        <p:txBody>
          <a:bodyPr/>
          <a:lstStyle/>
          <a:p>
            <a:endParaRPr lang="en-US"/>
          </a:p>
        </p:txBody>
      </p:sp>
      <p:sp>
        <p:nvSpPr>
          <p:cNvPr id="36" name="Text 34"/>
          <p:cNvSpPr/>
          <p:nvPr/>
        </p:nvSpPr>
        <p:spPr>
          <a:xfrm>
            <a:off x="6876288" y="4251960"/>
            <a:ext cx="1901952" cy="457200"/>
          </a:xfrm>
          <a:prstGeom prst="rect">
            <a:avLst/>
          </a:prstGeom>
          <a:noFill/>
          <a:ln/>
        </p:spPr>
        <p:txBody>
          <a:bodyPr wrap="square" lIns="38100" tIns="38100" rIns="38100" bIns="38100" rtlCol="0" anchor="ctr"/>
          <a:lstStyle/>
          <a:p>
            <a:pPr marL="0" indent="0">
              <a:buNone/>
            </a:pPr>
            <a:r>
              <a:rPr lang="en-US" sz="800" dirty="0">
                <a:solidFill>
                  <a:srgbClr val="FFFFFF"/>
                </a:solidFill>
              </a:rPr>
              <a:t>Impact: Reduce unit cost variance | Improve budget certainty</a:t>
            </a:r>
            <a:endParaRPr lang="en-US" sz="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0D2B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E7C86"/>
          </a:solidFill>
          <a:ln w="12700">
            <a:solidFill>
              <a:srgbClr val="0E7C86"/>
            </a:solidFill>
            <a:prstDash val="solid"/>
          </a:ln>
        </p:spPr>
        <p:txBody>
          <a:bodyPr/>
          <a:lstStyle/>
          <a:p>
            <a:endParaRPr lang="en-US"/>
          </a:p>
        </p:txBody>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rPr>
              <a:t>Summary &amp; Conclusion</a:t>
            </a:r>
            <a:endParaRPr lang="en-US" sz="2400" dirty="0"/>
          </a:p>
        </p:txBody>
      </p:sp>
      <p:sp>
        <p:nvSpPr>
          <p:cNvPr id="6" name="Text 4"/>
          <p:cNvSpPr/>
          <p:nvPr/>
        </p:nvSpPr>
        <p:spPr>
          <a:xfrm>
            <a:off x="228600" y="914400"/>
            <a:ext cx="2057400" cy="365760"/>
          </a:xfrm>
          <a:prstGeom prst="rect">
            <a:avLst/>
          </a:prstGeom>
          <a:noFill/>
          <a:ln/>
        </p:spPr>
        <p:txBody>
          <a:bodyPr wrap="square" lIns="0" tIns="0" rIns="0" bIns="0" rtlCol="0" anchor="ctr"/>
          <a:lstStyle/>
          <a:p>
            <a:pPr marL="0" indent="0" algn="ctr">
              <a:buNone/>
            </a:pPr>
            <a:r>
              <a:rPr lang="en-US" sz="1200" b="1" dirty="0">
                <a:solidFill>
                  <a:srgbClr val="0D2B5C"/>
                </a:solidFill>
              </a:rPr>
              <a:t>BO</a:t>
            </a:r>
            <a:endParaRPr lang="en-US" sz="1200" dirty="0"/>
          </a:p>
        </p:txBody>
      </p:sp>
      <p:sp>
        <p:nvSpPr>
          <p:cNvPr id="11" name="Text 9"/>
          <p:cNvSpPr/>
          <p:nvPr/>
        </p:nvSpPr>
        <p:spPr>
          <a:xfrm>
            <a:off x="2404872" y="914400"/>
            <a:ext cx="2057400" cy="365760"/>
          </a:xfrm>
          <a:prstGeom prst="rect">
            <a:avLst/>
          </a:prstGeom>
          <a:noFill/>
          <a:ln/>
        </p:spPr>
        <p:txBody>
          <a:bodyPr wrap="square" lIns="0" tIns="0" rIns="0" bIns="0" rtlCol="0" anchor="ctr"/>
          <a:lstStyle/>
          <a:p>
            <a:pPr marL="0" indent="0" algn="ctr">
              <a:buNone/>
            </a:pPr>
            <a:r>
              <a:rPr lang="en-US" sz="1200" b="1" dirty="0">
                <a:solidFill>
                  <a:srgbClr val="0D2B5C"/>
                </a:solidFill>
              </a:rPr>
              <a:t>BO2</a:t>
            </a:r>
            <a:endParaRPr lang="en-US" sz="1200" dirty="0"/>
          </a:p>
        </p:txBody>
      </p:sp>
      <p:sp>
        <p:nvSpPr>
          <p:cNvPr id="16" name="Text 14"/>
          <p:cNvSpPr/>
          <p:nvPr/>
        </p:nvSpPr>
        <p:spPr>
          <a:xfrm>
            <a:off x="4581144" y="914400"/>
            <a:ext cx="2057400" cy="365760"/>
          </a:xfrm>
          <a:prstGeom prst="rect">
            <a:avLst/>
          </a:prstGeom>
          <a:noFill/>
          <a:ln/>
        </p:spPr>
        <p:txBody>
          <a:bodyPr wrap="square" lIns="0" tIns="0" rIns="0" bIns="0" rtlCol="0" anchor="ctr"/>
          <a:lstStyle/>
          <a:p>
            <a:pPr marL="0" indent="0" algn="ctr">
              <a:buNone/>
            </a:pPr>
            <a:r>
              <a:rPr lang="en-US" sz="1200" b="1" dirty="0">
                <a:solidFill>
                  <a:srgbClr val="0D2B5C"/>
                </a:solidFill>
              </a:rPr>
              <a:t>BO3</a:t>
            </a:r>
            <a:endParaRPr lang="en-US" sz="1200" dirty="0"/>
          </a:p>
        </p:txBody>
      </p:sp>
      <p:sp>
        <p:nvSpPr>
          <p:cNvPr id="21" name="Text 19"/>
          <p:cNvSpPr/>
          <p:nvPr/>
        </p:nvSpPr>
        <p:spPr>
          <a:xfrm>
            <a:off x="6757416" y="914400"/>
            <a:ext cx="2057400" cy="365760"/>
          </a:xfrm>
          <a:prstGeom prst="rect">
            <a:avLst/>
          </a:prstGeom>
          <a:noFill/>
          <a:ln/>
        </p:spPr>
        <p:txBody>
          <a:bodyPr wrap="square" lIns="0" tIns="0" rIns="0" bIns="0" rtlCol="0" anchor="ctr"/>
          <a:lstStyle/>
          <a:p>
            <a:pPr marL="0" indent="0" algn="ctr">
              <a:buNone/>
            </a:pPr>
            <a:r>
              <a:rPr lang="en-US" sz="1200" b="1" dirty="0">
                <a:solidFill>
                  <a:srgbClr val="0D2B5C"/>
                </a:solidFill>
              </a:rPr>
              <a:t>BO4</a:t>
            </a:r>
            <a:endParaRPr lang="en-US" sz="1200" dirty="0"/>
          </a:p>
        </p:txBody>
      </p:sp>
      <p:sp>
        <p:nvSpPr>
          <p:cNvPr id="24" name="Shape 22"/>
          <p:cNvSpPr/>
          <p:nvPr/>
        </p:nvSpPr>
        <p:spPr>
          <a:xfrm>
            <a:off x="256032" y="1180631"/>
            <a:ext cx="8686800" cy="3499741"/>
          </a:xfrm>
          <a:prstGeom prst="rect">
            <a:avLst/>
          </a:prstGeom>
          <a:solidFill>
            <a:srgbClr val="0E7C86">
              <a:alpha val="85000"/>
            </a:srgbClr>
          </a:solidFill>
          <a:ln w="12700">
            <a:solidFill>
              <a:srgbClr val="E8A838"/>
            </a:solidFill>
            <a:prstDash val="solid"/>
          </a:ln>
        </p:spPr>
        <p:txBody>
          <a:bodyPr/>
          <a:lstStyle/>
          <a:p>
            <a:endParaRPr lang="en-US" dirty="0"/>
          </a:p>
        </p:txBody>
      </p:sp>
      <p:sp>
        <p:nvSpPr>
          <p:cNvPr id="25" name="Text 23"/>
          <p:cNvSpPr/>
          <p:nvPr/>
        </p:nvSpPr>
        <p:spPr>
          <a:xfrm>
            <a:off x="429770" y="1143000"/>
            <a:ext cx="8503920" cy="274320"/>
          </a:xfrm>
          <a:prstGeom prst="rect">
            <a:avLst/>
          </a:prstGeom>
          <a:noFill/>
          <a:ln/>
        </p:spPr>
        <p:txBody>
          <a:bodyPr wrap="square" lIns="0" tIns="0" rIns="0" bIns="0" rtlCol="0" anchor="ctr"/>
          <a:lstStyle/>
          <a:p>
            <a:pPr marL="0" indent="0">
              <a:buNone/>
            </a:pPr>
            <a:endParaRPr lang="en-US" sz="1100" b="1" dirty="0">
              <a:solidFill>
                <a:srgbClr val="E8A838"/>
              </a:solidFill>
            </a:endParaRPr>
          </a:p>
          <a:p>
            <a:pPr marL="0" indent="0">
              <a:buNone/>
            </a:pPr>
            <a:r>
              <a:rPr lang="en-US" sz="1100" b="1" dirty="0">
                <a:solidFill>
                  <a:srgbClr val="E8A838"/>
                </a:solidFill>
              </a:rPr>
              <a:t>Overall Message</a:t>
            </a:r>
            <a:endParaRPr lang="en-US" sz="1100" dirty="0"/>
          </a:p>
        </p:txBody>
      </p:sp>
      <p:sp>
        <p:nvSpPr>
          <p:cNvPr id="28" name="Text 26"/>
          <p:cNvSpPr/>
          <p:nvPr/>
        </p:nvSpPr>
        <p:spPr>
          <a:xfrm>
            <a:off x="347472" y="4370832"/>
            <a:ext cx="8430768" cy="658368"/>
          </a:xfrm>
          <a:prstGeom prst="rect">
            <a:avLst/>
          </a:prstGeom>
          <a:noFill/>
          <a:ln/>
        </p:spPr>
        <p:txBody>
          <a:bodyPr wrap="square" rtlCol="0" anchor="ctr"/>
          <a:lstStyle/>
          <a:p>
            <a:endParaRPr lang="en-US" sz="1000" b="1" dirty="0">
              <a:solidFill>
                <a:schemeClr val="bg1"/>
              </a:solidFill>
            </a:endParaRPr>
          </a:p>
        </p:txBody>
      </p:sp>
      <p:sp>
        <p:nvSpPr>
          <p:cNvPr id="27" name="TextBox 26">
            <a:extLst>
              <a:ext uri="{FF2B5EF4-FFF2-40B4-BE49-F238E27FC236}">
                <a16:creationId xmlns:a16="http://schemas.microsoft.com/office/drawing/2014/main" id="{38E1D3E3-B28A-10BA-C1E8-31EB1A99C8E3}"/>
              </a:ext>
            </a:extLst>
          </p:cNvPr>
          <p:cNvSpPr txBox="1"/>
          <p:nvPr/>
        </p:nvSpPr>
        <p:spPr>
          <a:xfrm>
            <a:off x="429770" y="1625600"/>
            <a:ext cx="8253643" cy="2462213"/>
          </a:xfrm>
          <a:prstGeom prst="rect">
            <a:avLst/>
          </a:prstGeom>
          <a:noFill/>
        </p:spPr>
        <p:txBody>
          <a:bodyPr wrap="square" rtlCol="0">
            <a:spAutoFit/>
          </a:bodyPr>
          <a:lstStyle/>
          <a:p>
            <a:pPr marL="171450" indent="-171450">
              <a:buFont typeface="Arial" panose="020B0604020202020204" pitchFamily="34" charset="0"/>
              <a:buChar char="•"/>
            </a:pPr>
            <a:r>
              <a:rPr lang="en-US" sz="1400" b="1" dirty="0">
                <a:solidFill>
                  <a:srgbClr val="FFFFFF"/>
                </a:solidFill>
              </a:rPr>
              <a:t>This healthcare provider is not facing a shortage crisis - it is facing a misallocation crisis. </a:t>
            </a:r>
          </a:p>
          <a:p>
            <a:endParaRPr lang="en-US" sz="1400" b="1" dirty="0">
              <a:solidFill>
                <a:srgbClr val="FFFFFF"/>
              </a:solidFill>
            </a:endParaRPr>
          </a:p>
          <a:p>
            <a:pPr marL="171450" indent="-171450">
              <a:buFont typeface="Arial" panose="020B0604020202020204" pitchFamily="34" charset="0"/>
              <a:buChar char="•"/>
            </a:pPr>
            <a:r>
              <a:rPr lang="en-US" sz="1400" b="1" dirty="0">
                <a:solidFill>
                  <a:srgbClr val="FFFFFF"/>
                </a:solidFill>
              </a:rPr>
              <a:t>Too much of the wrong medicines are stocked, while the right critical medicines run short. </a:t>
            </a:r>
          </a:p>
          <a:p>
            <a:endParaRPr lang="en-US" sz="1400" b="1" dirty="0">
              <a:solidFill>
                <a:srgbClr val="FFFFFF"/>
              </a:solidFill>
            </a:endParaRPr>
          </a:p>
          <a:p>
            <a:pPr marL="171450" indent="-171450">
              <a:buFont typeface="Arial" panose="020B0604020202020204" pitchFamily="34" charset="0"/>
              <a:buChar char="•"/>
            </a:pPr>
            <a:r>
              <a:rPr lang="en-US" sz="1400" b="1" dirty="0">
                <a:solidFill>
                  <a:srgbClr val="FFFFFF"/>
                </a:solidFill>
              </a:rPr>
              <a:t>Poor demand forecasting, inconsistent supplier reliability, and unmanaged return losses are eroding financial performance.</a:t>
            </a:r>
          </a:p>
          <a:p>
            <a:endParaRPr lang="en-US" sz="1400" b="1" dirty="0">
              <a:solidFill>
                <a:srgbClr val="FFFFFF"/>
              </a:solidFill>
            </a:endParaRPr>
          </a:p>
          <a:p>
            <a:pPr marL="171450" indent="-171450">
              <a:buFont typeface="Arial" panose="020B0604020202020204" pitchFamily="34" charset="0"/>
              <a:buChar char="•"/>
            </a:pPr>
            <a:r>
              <a:rPr lang="en-US" sz="1400" b="1" dirty="0">
                <a:solidFill>
                  <a:srgbClr val="FFFFFF"/>
                </a:solidFill>
              </a:rPr>
              <a:t>The data makes clear that supply chain efficiency gains are achievable without new capital investment through better data-driven inventory triggers, targeted supplier management, and seasonal procurement planning.</a:t>
            </a:r>
            <a:endParaRPr lang="en-US" sz="1400" b="1" dirty="0"/>
          </a:p>
          <a:p>
            <a:endParaRPr lang="en-US"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2B5C"/>
        </a:solidFill>
        <a:effectLst/>
      </p:bgPr>
    </p:bg>
    <p:spTree>
      <p:nvGrpSpPr>
        <p:cNvPr id="1" name="">
          <a:extLst>
            <a:ext uri="{FF2B5EF4-FFF2-40B4-BE49-F238E27FC236}">
              <a16:creationId xmlns:a16="http://schemas.microsoft.com/office/drawing/2014/main" id="{1FE9364C-64CE-2031-A158-563D865990A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68F4C14-D1DA-3F18-69DF-F6ED3B4ED5D5}"/>
              </a:ext>
            </a:extLst>
          </p:cNvPr>
          <p:cNvSpPr/>
          <p:nvPr/>
        </p:nvSpPr>
        <p:spPr>
          <a:xfrm>
            <a:off x="0" y="1899683"/>
            <a:ext cx="9144000" cy="1275908"/>
          </a:xfrm>
          <a:prstGeom prst="rect">
            <a:avLst/>
          </a:prstGeom>
          <a:solidFill>
            <a:srgbClr val="0E7C86"/>
          </a:solidFill>
          <a:ln w="12700">
            <a:solidFill>
              <a:srgbClr val="0E7C86"/>
            </a:solidFill>
            <a:prstDash val="solid"/>
          </a:ln>
        </p:spPr>
        <p:txBody>
          <a:bodyPr/>
          <a:lstStyle/>
          <a:p>
            <a:pPr algn="ctr"/>
            <a:endParaRPr lang="en-US" b="1" dirty="0">
              <a:solidFill>
                <a:schemeClr val="bg1"/>
              </a:solidFill>
            </a:endParaRPr>
          </a:p>
        </p:txBody>
      </p:sp>
      <p:sp>
        <p:nvSpPr>
          <p:cNvPr id="3" name="Text 1">
            <a:extLst>
              <a:ext uri="{FF2B5EF4-FFF2-40B4-BE49-F238E27FC236}">
                <a16:creationId xmlns:a16="http://schemas.microsoft.com/office/drawing/2014/main" id="{E6BB5560-1865-7424-5899-51892CB8E05F}"/>
              </a:ext>
            </a:extLst>
          </p:cNvPr>
          <p:cNvSpPr/>
          <p:nvPr/>
        </p:nvSpPr>
        <p:spPr>
          <a:xfrm>
            <a:off x="479174" y="1998921"/>
            <a:ext cx="8412480" cy="777240"/>
          </a:xfrm>
          <a:prstGeom prst="rect">
            <a:avLst/>
          </a:prstGeom>
          <a:noFill/>
          <a:ln/>
        </p:spPr>
        <p:txBody>
          <a:bodyPr wrap="square" lIns="0" tIns="0" rIns="0" bIns="0" rtlCol="0" anchor="ctr"/>
          <a:lstStyle/>
          <a:p>
            <a:pPr marL="0" indent="0">
              <a:buNone/>
            </a:pPr>
            <a:endParaRPr lang="en-US" sz="2400" dirty="0"/>
          </a:p>
        </p:txBody>
      </p:sp>
      <p:sp>
        <p:nvSpPr>
          <p:cNvPr id="28" name="Text 26">
            <a:extLst>
              <a:ext uri="{FF2B5EF4-FFF2-40B4-BE49-F238E27FC236}">
                <a16:creationId xmlns:a16="http://schemas.microsoft.com/office/drawing/2014/main" id="{01DA9809-02E4-1C0A-4457-ABE43FB76F12}"/>
              </a:ext>
            </a:extLst>
          </p:cNvPr>
          <p:cNvSpPr/>
          <p:nvPr/>
        </p:nvSpPr>
        <p:spPr>
          <a:xfrm>
            <a:off x="347472" y="4370832"/>
            <a:ext cx="8430768" cy="658368"/>
          </a:xfrm>
          <a:prstGeom prst="rect">
            <a:avLst/>
          </a:prstGeom>
          <a:noFill/>
          <a:ln/>
        </p:spPr>
        <p:txBody>
          <a:bodyPr wrap="square" rtlCol="0" anchor="ctr"/>
          <a:lstStyle/>
          <a:p>
            <a:endParaRPr lang="en-US" sz="1000" b="1" dirty="0">
              <a:solidFill>
                <a:schemeClr val="bg1"/>
              </a:solidFill>
            </a:endParaRPr>
          </a:p>
        </p:txBody>
      </p:sp>
      <p:sp>
        <p:nvSpPr>
          <p:cNvPr id="27" name="TextBox 26">
            <a:extLst>
              <a:ext uri="{FF2B5EF4-FFF2-40B4-BE49-F238E27FC236}">
                <a16:creationId xmlns:a16="http://schemas.microsoft.com/office/drawing/2014/main" id="{86488D4E-C3A5-C9A8-CDA8-7FD21ADB9880}"/>
              </a:ext>
            </a:extLst>
          </p:cNvPr>
          <p:cNvSpPr txBox="1"/>
          <p:nvPr/>
        </p:nvSpPr>
        <p:spPr>
          <a:xfrm>
            <a:off x="3225209" y="2204484"/>
            <a:ext cx="2828261" cy="584775"/>
          </a:xfrm>
          <a:prstGeom prst="rect">
            <a:avLst/>
          </a:prstGeom>
          <a:noFill/>
        </p:spPr>
        <p:txBody>
          <a:bodyPr wrap="square" rtlCol="0">
            <a:spAutoFit/>
          </a:bodyPr>
          <a:lstStyle/>
          <a:p>
            <a:pPr algn="ctr"/>
            <a:r>
              <a:rPr lang="en-US" sz="3200" b="1" dirty="0">
                <a:solidFill>
                  <a:schemeClr val="bg1"/>
                </a:solidFill>
              </a:rPr>
              <a:t>THANK YOU</a:t>
            </a:r>
          </a:p>
        </p:txBody>
      </p:sp>
    </p:spTree>
    <p:extLst>
      <p:ext uri="{BB962C8B-B14F-4D97-AF65-F5344CB8AC3E}">
        <p14:creationId xmlns:p14="http://schemas.microsoft.com/office/powerpoint/2010/main" val="305120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2010</TotalTime>
  <Words>4256</Words>
  <Application>Microsoft Office PowerPoint</Application>
  <PresentationFormat>On-screen Show (16:9)</PresentationFormat>
  <Paragraphs>615</Paragraphs>
  <Slides>21</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MedTech Supply Chain Analytics</dc:title>
  <dc:subject>PptxGenJS Presentation</dc:subject>
  <dc:creator>PptxGenJS</dc:creator>
  <cp:lastModifiedBy>Abhirup Dass</cp:lastModifiedBy>
  <cp:revision>44</cp:revision>
  <dcterms:created xsi:type="dcterms:W3CDTF">2026-05-01T08:31:00Z</dcterms:created>
  <dcterms:modified xsi:type="dcterms:W3CDTF">2026-05-26T04:26:16Z</dcterms:modified>
</cp:coreProperties>
</file>